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06" r:id="rId1"/>
  </p:sldMasterIdLst>
  <p:notesMasterIdLst>
    <p:notesMasterId r:id="rId46"/>
  </p:notesMasterIdLst>
  <p:handoutMasterIdLst>
    <p:handoutMasterId r:id="rId47"/>
  </p:handoutMasterIdLst>
  <p:sldIdLst>
    <p:sldId id="604" r:id="rId2"/>
    <p:sldId id="257" r:id="rId3"/>
    <p:sldId id="585" r:id="rId4"/>
    <p:sldId id="476" r:id="rId5"/>
    <p:sldId id="586" r:id="rId6"/>
    <p:sldId id="587" r:id="rId7"/>
    <p:sldId id="393" r:id="rId8"/>
    <p:sldId id="612" r:id="rId9"/>
    <p:sldId id="588" r:id="rId10"/>
    <p:sldId id="608" r:id="rId11"/>
    <p:sldId id="589" r:id="rId12"/>
    <p:sldId id="590" r:id="rId13"/>
    <p:sldId id="613" r:id="rId14"/>
    <p:sldId id="395" r:id="rId15"/>
    <p:sldId id="591" r:id="rId16"/>
    <p:sldId id="491" r:id="rId17"/>
    <p:sldId id="492" r:id="rId18"/>
    <p:sldId id="592" r:id="rId19"/>
    <p:sldId id="609" r:id="rId20"/>
    <p:sldId id="493" r:id="rId21"/>
    <p:sldId id="394" r:id="rId22"/>
    <p:sldId id="593" r:id="rId23"/>
    <p:sldId id="594" r:id="rId24"/>
    <p:sldId id="397" r:id="rId25"/>
    <p:sldId id="595" r:id="rId26"/>
    <p:sldId id="494" r:id="rId27"/>
    <p:sldId id="596" r:id="rId28"/>
    <p:sldId id="499" r:id="rId29"/>
    <p:sldId id="475" r:id="rId30"/>
    <p:sldId id="406" r:id="rId31"/>
    <p:sldId id="610" r:id="rId32"/>
    <p:sldId id="407" r:id="rId33"/>
    <p:sldId id="616" r:id="rId34"/>
    <p:sldId id="598" r:id="rId35"/>
    <p:sldId id="615" r:id="rId36"/>
    <p:sldId id="503" r:id="rId37"/>
    <p:sldId id="617" r:id="rId38"/>
    <p:sldId id="500" r:id="rId39"/>
    <p:sldId id="502" r:id="rId40"/>
    <p:sldId id="614" r:id="rId41"/>
    <p:sldId id="619" r:id="rId42"/>
    <p:sldId id="505" r:id="rId43"/>
    <p:sldId id="580" r:id="rId44"/>
    <p:sldId id="472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0000"/>
    <a:srgbClr val="FF3300"/>
    <a:srgbClr val="222222"/>
    <a:srgbClr val="FFFFFF"/>
    <a:srgbClr val="18B2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22214" autoAdjust="0"/>
    <p:restoredTop sz="94531" autoAdjust="0"/>
  </p:normalViewPr>
  <p:slideViewPr>
    <p:cSldViewPr>
      <p:cViewPr varScale="1">
        <p:scale>
          <a:sx n="74" d="100"/>
          <a:sy n="74" d="100"/>
        </p:scale>
        <p:origin x="166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44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A2F22162-9D84-45A0-B22B-3C54C9E81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120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0FAB6B62-1C04-469F-9903-73F4EEB0CA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242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76C110E-D037-454B-9BA4-57814553AEE6}" type="slidenum">
              <a:rPr lang="en-US" sz="1200" smtClean="0">
                <a:solidFill>
                  <a:schemeClr val="tx1"/>
                </a:solidFill>
              </a:rPr>
              <a:pPr eaLnBrk="1" hangingPunct="1"/>
              <a:t>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dirty="0" smtClean="0"/>
          </a:p>
        </p:txBody>
      </p:sp>
    </p:spTree>
    <p:extLst>
      <p:ext uri="{BB962C8B-B14F-4D97-AF65-F5344CB8AC3E}">
        <p14:creationId xmlns:p14="http://schemas.microsoft.com/office/powerpoint/2010/main" val="3123522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F0B7AFE-8000-485D-AA63-CD04EA6721AE}" type="slidenum">
              <a:rPr lang="en-US" sz="1200" smtClean="0">
                <a:solidFill>
                  <a:schemeClr val="tx1"/>
                </a:solidFill>
              </a:rPr>
              <a:pPr eaLnBrk="1" hangingPunct="1"/>
              <a:t>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469880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07B8220-CA0A-4DCE-A56A-169570F4A3E9}" type="slidenum">
              <a:rPr lang="en-US" sz="1200" smtClean="0">
                <a:solidFill>
                  <a:schemeClr val="tx1"/>
                </a:solidFill>
              </a:rPr>
              <a:pPr eaLnBrk="1" hangingPunct="1"/>
              <a:t>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075308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9B30E0C-9BA7-45AF-AF43-B965E345525D}" type="slidenum">
              <a:rPr lang="en-US" sz="1200" smtClean="0">
                <a:solidFill>
                  <a:schemeClr val="tx1"/>
                </a:solidFill>
              </a:rPr>
              <a:pPr eaLnBrk="1" hangingPunct="1"/>
              <a:t>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12637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7A2F037-A174-42AF-BF3A-5CC5E26ABA46}" type="slidenum">
              <a:rPr lang="en-US" sz="1200" smtClean="0">
                <a:solidFill>
                  <a:schemeClr val="tx1"/>
                </a:solidFill>
              </a:rPr>
              <a:pPr eaLnBrk="1" hangingPunct="1"/>
              <a:t>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966885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E26BB44-600E-45C0-8818-9BB477E9C85C}" type="slidenum">
              <a:rPr lang="en-US" sz="1200" smtClean="0">
                <a:solidFill>
                  <a:schemeClr val="tx1"/>
                </a:solidFill>
              </a:rPr>
              <a:pPr eaLnBrk="1" hangingPunct="1"/>
              <a:t>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68709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C32DB70-9680-46B6-90A8-B8950068B13C}" type="slidenum">
              <a:rPr lang="en-US" sz="1200" smtClean="0">
                <a:solidFill>
                  <a:schemeClr val="tx1"/>
                </a:solidFill>
              </a:rPr>
              <a:pPr eaLnBrk="1" hangingPunct="1"/>
              <a:t>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035792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AB6B62-1C04-469F-9903-73F4EEB0CAE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634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C01DD11-FBD3-4306-A2B2-CFAC0E59162A}" type="slidenum">
              <a:rPr lang="en-US" sz="1200" smtClean="0">
                <a:solidFill>
                  <a:schemeClr val="tx1"/>
                </a:solidFill>
              </a:rPr>
              <a:pPr eaLnBrk="1" hangingPunct="1"/>
              <a:t>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977856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AB6B62-1C04-469F-9903-73F4EEB0CAE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144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D986CD6-2864-454A-86CE-0DE172957986}" type="slidenum">
              <a:rPr lang="en-US" sz="1200" smtClean="0">
                <a:solidFill>
                  <a:schemeClr val="tx1"/>
                </a:solidFill>
              </a:rPr>
              <a:pPr eaLnBrk="1" hangingPunct="1"/>
              <a:t>11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831488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675EAFF-6ED8-44BC-9508-3DC490B1D946}" type="slidenum">
              <a:rPr lang="en-US" sz="1200" smtClean="0">
                <a:solidFill>
                  <a:schemeClr val="tx1"/>
                </a:solidFill>
              </a:rPr>
              <a:pPr eaLnBrk="1" hangingPunct="1"/>
              <a:t>12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088595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AB6B62-1C04-469F-9903-73F4EEB0CAE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689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BD4C7D2-8369-459D-BF34-B07796AB0465}" type="slidenum">
              <a:rPr lang="en-US" sz="1200" smtClean="0">
                <a:solidFill>
                  <a:schemeClr val="tx1"/>
                </a:solidFill>
              </a:rPr>
              <a:pPr eaLnBrk="1" hangingPunct="1"/>
              <a:t>14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5771606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944C206-621F-4A77-B51C-7850E1BA5741}" type="slidenum">
              <a:rPr lang="en-US" sz="1200" smtClean="0">
                <a:solidFill>
                  <a:schemeClr val="tx1"/>
                </a:solidFill>
              </a:rPr>
              <a:pPr eaLnBrk="1" hangingPunct="1"/>
              <a:t>15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9485352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9FBDF2F-D45E-407B-B0A4-26BD5A96939B}" type="slidenum">
              <a:rPr lang="en-US" sz="1200" smtClean="0">
                <a:solidFill>
                  <a:schemeClr val="tx1"/>
                </a:solidFill>
              </a:rPr>
              <a:pPr eaLnBrk="1" hangingPunct="1"/>
              <a:t>16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4855928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4E743BC-525A-427D-B9F1-1EF5AC3CA020}" type="slidenum">
              <a:rPr lang="en-US" sz="1200" smtClean="0">
                <a:solidFill>
                  <a:schemeClr val="tx1"/>
                </a:solidFill>
              </a:rPr>
              <a:pPr eaLnBrk="1" hangingPunct="1"/>
              <a:t>17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96965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8BDA74C-87D3-4CAB-B222-0A1D46ACF281}" type="slidenum">
              <a:rPr lang="en-US" sz="1200" smtClean="0">
                <a:solidFill>
                  <a:schemeClr val="tx1"/>
                </a:solidFill>
              </a:rPr>
              <a:pPr eaLnBrk="1" hangingPunct="1"/>
              <a:t>18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5214961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AB6B62-1C04-469F-9903-73F4EEB0CAE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0129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DC45A17-DA36-42EC-B8AC-087BE36CCDB5}" type="slidenum">
              <a:rPr lang="en-US" sz="1200" smtClean="0">
                <a:solidFill>
                  <a:schemeClr val="tx1"/>
                </a:solidFill>
              </a:rPr>
              <a:pPr eaLnBrk="1" hangingPunct="1"/>
              <a:t>20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8923542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559898E-0CA7-4A2C-B338-DA49D881578E}" type="slidenum">
              <a:rPr lang="en-US" sz="1200" smtClean="0">
                <a:solidFill>
                  <a:schemeClr val="tx1"/>
                </a:solidFill>
              </a:rPr>
              <a:pPr eaLnBrk="1" hangingPunct="1"/>
              <a:t>21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065559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BCA5D70-9F38-408F-8362-8E1B05B20241}" type="slidenum">
              <a:rPr lang="en-US" sz="1200" smtClean="0">
                <a:solidFill>
                  <a:schemeClr val="tx1"/>
                </a:solidFill>
              </a:rPr>
              <a:pPr eaLnBrk="1" hangingPunct="1"/>
              <a:t>22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484844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9F2D592-620D-4B2F-8524-6F34C8334792}" type="slidenum">
              <a:rPr lang="en-US" sz="1200" smtClean="0">
                <a:solidFill>
                  <a:schemeClr val="tx1"/>
                </a:solidFill>
              </a:rPr>
              <a:pPr eaLnBrk="1" hangingPunct="1"/>
              <a:t>23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034523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8947CEA-BDC1-4DDA-980A-FD465FC190C2}" type="slidenum">
              <a:rPr lang="en-US" sz="1200" smtClean="0">
                <a:solidFill>
                  <a:schemeClr val="tx1"/>
                </a:solidFill>
              </a:rPr>
              <a:pPr eaLnBrk="1" hangingPunct="1"/>
              <a:t>24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305639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D855869-1FC6-4336-9AB5-E84ED6062E05}" type="slidenum">
              <a:rPr lang="en-US" sz="1200" smtClean="0">
                <a:solidFill>
                  <a:schemeClr val="tx1"/>
                </a:solidFill>
              </a:rPr>
              <a:pPr eaLnBrk="1" hangingPunct="1"/>
              <a:t>25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402843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5417D63-90D8-42CD-A1E9-9EBA88ED0ABD}" type="slidenum">
              <a:rPr lang="en-US" sz="1200" smtClean="0">
                <a:solidFill>
                  <a:schemeClr val="tx1"/>
                </a:solidFill>
              </a:rPr>
              <a:pPr eaLnBrk="1" hangingPunct="1"/>
              <a:t>26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830427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86FEE9C-4D6C-48E6-BDA6-205531A54030}" type="slidenum">
              <a:rPr lang="en-US" sz="1200" smtClean="0">
                <a:solidFill>
                  <a:schemeClr val="tx1"/>
                </a:solidFill>
              </a:rPr>
              <a:pPr eaLnBrk="1" hangingPunct="1"/>
              <a:t>27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816424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38F7625-CFB3-4ACE-91E3-F5C815393972}" type="slidenum">
              <a:rPr lang="en-US" sz="1200" smtClean="0">
                <a:solidFill>
                  <a:schemeClr val="tx1"/>
                </a:solidFill>
              </a:rPr>
              <a:pPr eaLnBrk="1" hangingPunct="1"/>
              <a:t>28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867379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F8F1FD2-D30E-4AD6-BF1E-7CAD04D4BB89}" type="slidenum">
              <a:rPr lang="en-US" sz="1200" smtClean="0">
                <a:solidFill>
                  <a:schemeClr val="tx1"/>
                </a:solidFill>
              </a:rPr>
              <a:pPr eaLnBrk="1" hangingPunct="1"/>
              <a:t>29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853152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75DD0DC-5258-45D9-AAC2-B32B411DE0E8}" type="slidenum">
              <a:rPr lang="en-US" sz="1200" smtClean="0">
                <a:solidFill>
                  <a:schemeClr val="tx1"/>
                </a:solidFill>
              </a:rPr>
              <a:pPr eaLnBrk="1" hangingPunct="1"/>
              <a:t>30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728821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AB6B62-1C04-469F-9903-73F4EEB0CAE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4491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C25B90F-E2F8-4483-97A7-C38086A2F2B7}" type="slidenum">
              <a:rPr lang="en-US" sz="1200" smtClean="0">
                <a:solidFill>
                  <a:schemeClr val="tx1"/>
                </a:solidFill>
              </a:rPr>
              <a:pPr eaLnBrk="1" hangingPunct="1"/>
              <a:t>32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910347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497B32-2340-4738-91CA-5F3983B255FA}" type="slidenum">
              <a:rPr lang="en-US" sz="1200" smtClean="0">
                <a:solidFill>
                  <a:schemeClr val="tx1"/>
                </a:solidFill>
              </a:rPr>
              <a:pPr eaLnBrk="1" hangingPunct="1"/>
              <a:t>33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970213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497B32-2340-4738-91CA-5F3983B255FA}" type="slidenum">
              <a:rPr lang="en-US" sz="1200" smtClean="0">
                <a:solidFill>
                  <a:schemeClr val="tx1"/>
                </a:solidFill>
              </a:rPr>
              <a:pPr eaLnBrk="1" hangingPunct="1"/>
              <a:t>34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510022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AB6B62-1C04-469F-9903-73F4EEB0CAE7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0995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C76C19A-E6BF-420E-8C51-8C0CFC760CE2}" type="slidenum">
              <a:rPr lang="en-US" sz="1200" smtClean="0">
                <a:solidFill>
                  <a:schemeClr val="tx1"/>
                </a:solidFill>
              </a:rPr>
              <a:pPr eaLnBrk="1" hangingPunct="1"/>
              <a:t>36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737472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C76C19A-E6BF-420E-8C51-8C0CFC760CE2}" type="slidenum">
              <a:rPr lang="en-US" sz="1200" smtClean="0">
                <a:solidFill>
                  <a:schemeClr val="tx1"/>
                </a:solidFill>
              </a:rPr>
              <a:pPr eaLnBrk="1" hangingPunct="1"/>
              <a:t>37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834669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8E251D2-757D-4310-848F-3D56FB548780}" type="slidenum">
              <a:rPr lang="en-US" sz="1200" smtClean="0">
                <a:solidFill>
                  <a:schemeClr val="tx1"/>
                </a:solidFill>
              </a:rPr>
              <a:pPr eaLnBrk="1" hangingPunct="1"/>
              <a:t>38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106941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7094D78-681E-4CD0-8BEF-DBE58B87B738}" type="slidenum">
              <a:rPr lang="en-US" sz="1200" smtClean="0">
                <a:solidFill>
                  <a:schemeClr val="tx1"/>
                </a:solidFill>
              </a:rPr>
              <a:pPr eaLnBrk="1" hangingPunct="1"/>
              <a:t>39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365216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AB6B62-1C04-469F-9903-73F4EEB0CAE7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3498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AB6B62-1C04-469F-9903-73F4EEB0CAE7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3085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CD10A4E-88FD-4D9A-A43A-E2C213EFCA58}" type="slidenum">
              <a:rPr lang="en-US" sz="1200" smtClean="0">
                <a:solidFill>
                  <a:schemeClr val="tx1"/>
                </a:solidFill>
              </a:rPr>
              <a:pPr eaLnBrk="1" hangingPunct="1"/>
              <a:t>42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679823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F57DF40-1ADA-49BF-AC52-D5CD311D5FA8}" type="slidenum">
              <a:rPr lang="en-US" sz="1200" smtClean="0">
                <a:solidFill>
                  <a:schemeClr val="tx1"/>
                </a:solidFill>
              </a:rPr>
              <a:pPr eaLnBrk="1" hangingPunct="1"/>
              <a:t>43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881454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044B500-C0D6-4B5C-B0FF-E6DAB3700099}" type="slidenum">
              <a:rPr lang="en-US" sz="1200" smtClean="0">
                <a:solidFill>
                  <a:schemeClr val="tx1"/>
                </a:solidFill>
              </a:rPr>
              <a:pPr eaLnBrk="1" hangingPunct="1"/>
              <a:t>44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75866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"/>
            <a:ext cx="4945047" cy="57912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0" y="3581400"/>
            <a:ext cx="4800600" cy="1981200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Chapter 1: </a:t>
            </a:r>
          </a:p>
          <a:p>
            <a:r>
              <a:rPr lang="en-US" dirty="0" smtClean="0"/>
              <a:t>Title Goes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6324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B43FC-5581-42E6-883C-6CFB569338B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E63C0D-CA53-4A5C-AE69-CA1C03C378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99A30-A6CF-454A-8EE6-50C3CB35C6A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07909-BB7F-4DC4-A997-06DCED77C4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C90CD-8285-4444-99A3-346CE5C8D56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46F51-36A5-4449-BD72-BB8FB84CAF1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77398-21E1-463F-946B-B9946C9ADCE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B0E87-2CED-4DDA-873B-8DADA5F9504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FF5F13-D194-439C-B7F4-87103C9C5A3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2012, Fifth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735016-FA25-463F-B65A-476FB979DC9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DECOLORED2.jpg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EC735016-FA25-463F-B65A-476FB979DC9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662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dirty="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 smtClean="0"/>
              <a:t>Microsoft Visual C# 2015, Sixth Edition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3276600" y="6356350"/>
            <a:ext cx="48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558ED5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Chapter 1:</a:t>
            </a:r>
          </a:p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A First Program Using C#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Objectives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Learn about programming</a:t>
            </a:r>
          </a:p>
          <a:p>
            <a:pPr eaLnBrk="1" hangingPunct="1"/>
            <a:r>
              <a:rPr lang="en-US" dirty="0" smtClean="0"/>
              <a:t>Learn about procedural and object-oriented programming</a:t>
            </a:r>
          </a:p>
          <a:p>
            <a:pPr eaLnBrk="1" hangingPunct="1"/>
            <a:r>
              <a:rPr lang="en-US" dirty="0" smtClean="0"/>
              <a:t>Learn about the features of object-oriented programming languages</a:t>
            </a:r>
          </a:p>
          <a:p>
            <a:pPr eaLnBrk="1" hangingPunct="1"/>
            <a:r>
              <a:rPr lang="en-US" dirty="0" smtClean="0"/>
              <a:t>Learn about the C# programming language</a:t>
            </a:r>
          </a:p>
          <a:p>
            <a:pPr eaLnBrk="1" hangingPunct="1"/>
            <a:r>
              <a:rPr lang="en-US" dirty="0" smtClean="0"/>
              <a:t>Write a C# program that produces output</a:t>
            </a:r>
          </a:p>
          <a:p>
            <a:pPr eaLnBrk="1" hangingPunct="1"/>
            <a:r>
              <a:rPr lang="en-US" dirty="0" smtClean="0"/>
              <a:t>Learn how to select identifiers to use within your programs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Objectives </a:t>
            </a:r>
            <a:r>
              <a:rPr lang="en-US" sz="2000" spc="-200" dirty="0"/>
              <a:t>(cont’d.)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Improve programs by adding comments and using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System</a:t>
            </a:r>
            <a:r>
              <a:rPr lang="en-US" dirty="0" smtClean="0"/>
              <a:t> namespace</a:t>
            </a:r>
          </a:p>
          <a:p>
            <a:pPr eaLnBrk="1" hangingPunct="1"/>
            <a:r>
              <a:rPr lang="en-US" dirty="0" smtClean="0"/>
              <a:t>Write and compile a C# program using the command prompt and using Visual Studio</a:t>
            </a:r>
          </a:p>
          <a:p>
            <a:pPr eaLnBrk="1" hangingPunct="1"/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Programming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Computer </a:t>
            </a:r>
            <a:r>
              <a:rPr lang="en-US" b="1" dirty="0" smtClean="0"/>
              <a:t>program </a:t>
            </a:r>
            <a:r>
              <a:rPr lang="en-US" dirty="0" smtClean="0"/>
              <a:t>(also called </a:t>
            </a:r>
            <a:r>
              <a:rPr lang="en-US" b="1" dirty="0" smtClean="0"/>
              <a:t>software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 set of instructions that tells a computer what to do</a:t>
            </a:r>
          </a:p>
          <a:p>
            <a:r>
              <a:rPr lang="en-US" dirty="0" smtClean="0"/>
              <a:t>Software comes in two broad categories</a:t>
            </a:r>
          </a:p>
          <a:p>
            <a:pPr lvl="1"/>
            <a:r>
              <a:rPr lang="en-US" b="1" dirty="0" smtClean="0"/>
              <a:t>System software </a:t>
            </a:r>
            <a:r>
              <a:rPr lang="en-US" dirty="0"/>
              <a:t>– programs that operate the computer</a:t>
            </a:r>
          </a:p>
          <a:p>
            <a:pPr lvl="1"/>
            <a:r>
              <a:rPr lang="en-US" b="1" dirty="0" smtClean="0"/>
              <a:t>Application software </a:t>
            </a:r>
            <a:r>
              <a:rPr lang="en-US" dirty="0"/>
              <a:t>– allows users to complete </a:t>
            </a:r>
            <a:r>
              <a:rPr lang="en-US" dirty="0" smtClean="0"/>
              <a:t>tasks</a:t>
            </a:r>
          </a:p>
          <a:p>
            <a:r>
              <a:rPr lang="en-US" b="1" dirty="0" smtClean="0"/>
              <a:t>Hardware</a:t>
            </a:r>
            <a:r>
              <a:rPr lang="en-US" dirty="0" smtClean="0"/>
              <a:t> – The physical devices that make up a computer system</a:t>
            </a:r>
            <a:endParaRPr lang="en-US" dirty="0"/>
          </a:p>
          <a:p>
            <a:r>
              <a:rPr lang="en-US" b="1" dirty="0" smtClean="0"/>
              <a:t>Machine language</a:t>
            </a:r>
          </a:p>
          <a:p>
            <a:pPr lvl="1"/>
            <a:r>
              <a:rPr lang="en-US" dirty="0" smtClean="0"/>
              <a:t>Expressed as a series of 1s and 0s</a:t>
            </a:r>
          </a:p>
          <a:p>
            <a:pPr lvl="2"/>
            <a:r>
              <a:rPr lang="en-US" dirty="0" smtClean="0"/>
              <a:t>1s represent switches that are on, and 0s represent switches that are off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Programming </a:t>
            </a:r>
            <a:r>
              <a:rPr lang="en-US" sz="2000" spc="-200" dirty="0"/>
              <a:t>(cont’d.)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High-level programming language</a:t>
            </a:r>
          </a:p>
          <a:p>
            <a:pPr lvl="1"/>
            <a:r>
              <a:rPr lang="en-US" dirty="0" smtClean="0"/>
              <a:t>Uses reasonable </a:t>
            </a:r>
            <a:r>
              <a:rPr lang="en-US" b="1" dirty="0" smtClean="0"/>
              <a:t>keywords</a:t>
            </a:r>
            <a:r>
              <a:rPr lang="en-US" dirty="0" smtClean="0"/>
              <a:t> such as “read,” “write,” or “add” instead of the sequence of on/off switches that perform these tasks</a:t>
            </a:r>
          </a:p>
          <a:p>
            <a:pPr lvl="1"/>
            <a:r>
              <a:rPr lang="en-US" dirty="0" smtClean="0"/>
              <a:t>Allows you to assign reasonable names to areas of computer memory</a:t>
            </a:r>
          </a:p>
          <a:p>
            <a:pPr lvl="1"/>
            <a:r>
              <a:rPr lang="en-US" dirty="0" smtClean="0"/>
              <a:t>Has its own </a:t>
            </a:r>
            <a:r>
              <a:rPr lang="en-US" b="1" dirty="0" smtClean="0"/>
              <a:t>syntax</a:t>
            </a:r>
            <a:r>
              <a:rPr lang="en-US" dirty="0" smtClean="0"/>
              <a:t> (rules of the language)</a:t>
            </a:r>
          </a:p>
          <a:p>
            <a:r>
              <a:rPr lang="en-US" b="1" dirty="0" smtClean="0"/>
              <a:t>Compiler</a:t>
            </a:r>
          </a:p>
          <a:p>
            <a:pPr lvl="1"/>
            <a:r>
              <a:rPr lang="en-US" dirty="0" smtClean="0"/>
              <a:t>Translates high-level language statements into machine language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Programming </a:t>
            </a:r>
            <a:r>
              <a:rPr lang="en-US" sz="2000" spc="-200" dirty="0"/>
              <a:t>(cont’d.)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Programming </a:t>
            </a:r>
            <a:r>
              <a:rPr lang="en-US" b="1" dirty="0" smtClean="0"/>
              <a:t>logic</a:t>
            </a:r>
          </a:p>
          <a:p>
            <a:pPr lvl="1"/>
            <a:r>
              <a:rPr lang="en-US" dirty="0" smtClean="0"/>
              <a:t>Involves executing the various statements and procedures in the correct order to produce the desired results</a:t>
            </a:r>
          </a:p>
          <a:p>
            <a:r>
              <a:rPr lang="en-US" b="1" dirty="0" smtClean="0"/>
              <a:t>Debugging</a:t>
            </a:r>
          </a:p>
          <a:p>
            <a:pPr lvl="1"/>
            <a:r>
              <a:rPr lang="en-US" dirty="0" smtClean="0"/>
              <a:t>The process of removing all syntax and logical errors from the program</a:t>
            </a:r>
          </a:p>
          <a:p>
            <a:pPr lvl="1"/>
            <a:r>
              <a:rPr lang="en-US" b="1" dirty="0" smtClean="0"/>
              <a:t>Syntax errors</a:t>
            </a:r>
            <a:r>
              <a:rPr lang="en-US" dirty="0" smtClean="0"/>
              <a:t> are discovered through compilation</a:t>
            </a:r>
          </a:p>
          <a:p>
            <a:pPr lvl="1"/>
            <a:r>
              <a:rPr lang="en-US" dirty="0" smtClean="0"/>
              <a:t>Logical errors are discovered through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Procedural and Object-Oriented Programming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953000"/>
          </a:xfrm>
        </p:spPr>
        <p:txBody>
          <a:bodyPr>
            <a:normAutofit/>
          </a:bodyPr>
          <a:lstStyle/>
          <a:p>
            <a:r>
              <a:rPr lang="en-US" b="1" dirty="0" smtClean="0"/>
              <a:t>Procedural program</a:t>
            </a:r>
          </a:p>
          <a:p>
            <a:pPr lvl="1"/>
            <a:r>
              <a:rPr lang="en-US" dirty="0" smtClean="0"/>
              <a:t>Creates and names computer memory locations that can hold values (</a:t>
            </a:r>
            <a:r>
              <a:rPr lang="en-US" b="1" dirty="0" smtClean="0"/>
              <a:t>variables</a:t>
            </a:r>
            <a:r>
              <a:rPr lang="en-US" dirty="0" smtClean="0"/>
              <a:t>) that are referenced by using a one-word name (</a:t>
            </a:r>
            <a:r>
              <a:rPr lang="en-US" b="1" dirty="0" smtClean="0"/>
              <a:t>identifier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Writes a series of steps or operations to manipulate those values</a:t>
            </a:r>
          </a:p>
          <a:p>
            <a:r>
              <a:rPr lang="en-US" dirty="0"/>
              <a:t>Procedures or </a:t>
            </a:r>
            <a:r>
              <a:rPr lang="en-US" b="1" dirty="0"/>
              <a:t>methods</a:t>
            </a:r>
          </a:p>
          <a:p>
            <a:pPr lvl="1"/>
            <a:r>
              <a:rPr lang="en-US" dirty="0"/>
              <a:t>Logical units that group individual operations used in a computer program</a:t>
            </a:r>
          </a:p>
          <a:p>
            <a:pPr lvl="1"/>
            <a:r>
              <a:rPr lang="en-US" b="1" dirty="0"/>
              <a:t>Called</a:t>
            </a:r>
            <a:r>
              <a:rPr lang="en-US" dirty="0"/>
              <a:t> or </a:t>
            </a:r>
            <a:r>
              <a:rPr lang="en-US" b="1" dirty="0"/>
              <a:t>invoked</a:t>
            </a:r>
            <a:r>
              <a:rPr lang="en-US" dirty="0"/>
              <a:t> by other procedures or methods</a:t>
            </a:r>
          </a:p>
          <a:p>
            <a:pPr lvl="1"/>
            <a:r>
              <a:rPr lang="en-US" dirty="0"/>
              <a:t>The starting method is 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US" dirty="0"/>
              <a:t> method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/>
              <a:t>Procedural and Object-Oriented Programming </a:t>
            </a:r>
            <a:r>
              <a:rPr lang="en-US" sz="2000" spc="-200" dirty="0"/>
              <a:t>(cont’d.)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Camel </a:t>
            </a:r>
            <a:r>
              <a:rPr lang="en-US" b="1" dirty="0"/>
              <a:t>casing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Typically used for variables</a:t>
            </a:r>
          </a:p>
          <a:p>
            <a:r>
              <a:rPr lang="en-US" b="1" dirty="0"/>
              <a:t>Pascal casing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Typically used for methods</a:t>
            </a:r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/>
          <a:lstStyle/>
          <a:p>
            <a:r>
              <a:rPr lang="en-US" sz="4000" spc="-200" dirty="0"/>
              <a:t>Procedural and Object-Oriented Programming </a:t>
            </a:r>
            <a:r>
              <a:rPr lang="en-US" sz="2000" spc="-200" dirty="0"/>
              <a:t>(cont’d.)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Object-oriented programming (OOP)</a:t>
            </a:r>
          </a:p>
          <a:p>
            <a:pPr lvl="1"/>
            <a:r>
              <a:rPr lang="en-US" dirty="0" smtClean="0"/>
              <a:t>An extension of procedural programming</a:t>
            </a:r>
          </a:p>
          <a:p>
            <a:r>
              <a:rPr lang="en-US" b="1" dirty="0" smtClean="0"/>
              <a:t>Objects</a:t>
            </a:r>
          </a:p>
          <a:p>
            <a:pPr lvl="1"/>
            <a:r>
              <a:rPr lang="en-US" dirty="0" smtClean="0"/>
              <a:t>Similar to concrete objects in the real world</a:t>
            </a:r>
          </a:p>
          <a:p>
            <a:pPr lvl="1"/>
            <a:r>
              <a:rPr lang="en-US" dirty="0" smtClean="0"/>
              <a:t>Contain their own </a:t>
            </a:r>
            <a:r>
              <a:rPr lang="en-US" b="1" dirty="0" smtClean="0"/>
              <a:t>attributes</a:t>
            </a:r>
            <a:r>
              <a:rPr lang="en-US" dirty="0" smtClean="0"/>
              <a:t> and </a:t>
            </a:r>
            <a:r>
              <a:rPr lang="en-US" b="1" dirty="0" smtClean="0"/>
              <a:t>behaviors</a:t>
            </a:r>
          </a:p>
          <a:p>
            <a:pPr lvl="1"/>
            <a:r>
              <a:rPr lang="en-US" dirty="0" smtClean="0"/>
              <a:t>The </a:t>
            </a:r>
            <a:r>
              <a:rPr lang="en-US" b="1" dirty="0" smtClean="0"/>
              <a:t>attributes of an object</a:t>
            </a:r>
            <a:r>
              <a:rPr lang="en-US" dirty="0" smtClean="0"/>
              <a:t> represent its characteristics</a:t>
            </a:r>
          </a:p>
          <a:p>
            <a:pPr lvl="1"/>
            <a:r>
              <a:rPr lang="en-US" dirty="0" smtClean="0"/>
              <a:t>The </a:t>
            </a:r>
            <a:r>
              <a:rPr lang="en-US" b="1" dirty="0" smtClean="0"/>
              <a:t>behaviors of an object</a:t>
            </a:r>
            <a:r>
              <a:rPr lang="en-US" dirty="0" smtClean="0"/>
              <a:t>, or methods, are the things it “does”</a:t>
            </a:r>
          </a:p>
          <a:p>
            <a:pPr lvl="1"/>
            <a:r>
              <a:rPr lang="en-US" dirty="0" smtClean="0"/>
              <a:t>The </a:t>
            </a:r>
            <a:r>
              <a:rPr lang="en-US" b="1" dirty="0" smtClean="0"/>
              <a:t>state of an object </a:t>
            </a:r>
            <a:r>
              <a:rPr lang="en-US" dirty="0" smtClean="0"/>
              <a:t>is the collective value of all its attributes at any point in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610600" cy="1143000"/>
          </a:xfrm>
        </p:spPr>
        <p:txBody>
          <a:bodyPr/>
          <a:lstStyle/>
          <a:p>
            <a:r>
              <a:rPr lang="en-US" sz="4000" spc="-200" dirty="0"/>
              <a:t>Procedural and Object-Oriented Programming </a:t>
            </a:r>
            <a:r>
              <a:rPr lang="en-US" sz="2000" spc="-200" dirty="0"/>
              <a:t>(cont’d.)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b="1" dirty="0" smtClean="0"/>
              <a:t>object-oriented approach  </a:t>
            </a:r>
            <a:r>
              <a:rPr lang="en-US" dirty="0" smtClean="0"/>
              <a:t>to programming means defining the objects needed to accomplish a task and developing classes that describe those objects</a:t>
            </a:r>
          </a:p>
          <a:p>
            <a:r>
              <a:rPr lang="en-US" dirty="0" smtClean="0"/>
              <a:t>Originally used for two types of applications</a:t>
            </a:r>
          </a:p>
          <a:p>
            <a:pPr lvl="1"/>
            <a:r>
              <a:rPr lang="en-US" b="1" dirty="0" smtClean="0"/>
              <a:t>Computer simulations</a:t>
            </a:r>
            <a:endParaRPr lang="en-US" dirty="0" smtClean="0"/>
          </a:p>
          <a:p>
            <a:pPr lvl="1"/>
            <a:r>
              <a:rPr lang="en-US" b="1" dirty="0" smtClean="0"/>
              <a:t>Graphical user interfaces (GUIs)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Features of Object-Oriented Programming Languages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Class</a:t>
            </a:r>
          </a:p>
          <a:p>
            <a:pPr lvl="1"/>
            <a:r>
              <a:rPr lang="en-US" dirty="0" smtClean="0"/>
              <a:t>A category of objects or a type of object</a:t>
            </a:r>
          </a:p>
          <a:p>
            <a:pPr lvl="1"/>
            <a:r>
              <a:rPr lang="en-US" dirty="0" smtClean="0"/>
              <a:t>Describes the attributes and behaviors of every object that is an instance, or object, of that class</a:t>
            </a:r>
          </a:p>
          <a:p>
            <a:r>
              <a:rPr lang="en-US" b="1" dirty="0" smtClean="0"/>
              <a:t>Object</a:t>
            </a:r>
          </a:p>
          <a:p>
            <a:pPr lvl="1"/>
            <a:r>
              <a:rPr lang="en-US" dirty="0" smtClean="0"/>
              <a:t>An </a:t>
            </a:r>
            <a:r>
              <a:rPr lang="en-US" b="1" dirty="0" smtClean="0"/>
              <a:t>instance of a class</a:t>
            </a:r>
          </a:p>
          <a:p>
            <a:pPr lvl="1"/>
            <a:r>
              <a:rPr lang="en-US" dirty="0" smtClean="0"/>
              <a:t>Contains its own set of attribute values (also called the </a:t>
            </a:r>
            <a:r>
              <a:rPr lang="en-US" b="1" dirty="0" smtClean="0"/>
              <a:t>properties</a:t>
            </a:r>
            <a:r>
              <a:rPr lang="en-US" dirty="0" smtClean="0"/>
              <a:t> of the object)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Features of Object-Oriented Programming Languages </a:t>
            </a:r>
            <a:r>
              <a:rPr lang="en-US" sz="2000" spc="-200" dirty="0"/>
              <a:t>(cont’d.)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Encapsulation</a:t>
            </a:r>
          </a:p>
          <a:p>
            <a:pPr lvl="1"/>
            <a:r>
              <a:rPr lang="en-US" dirty="0" smtClean="0"/>
              <a:t>A technique of packaging an object’s attributes and behaviors into a cohesive unit; an undivided entity</a:t>
            </a:r>
          </a:p>
          <a:p>
            <a:pPr lvl="1"/>
            <a:r>
              <a:rPr lang="en-US" dirty="0" smtClean="0"/>
              <a:t>Using a </a:t>
            </a:r>
            <a:r>
              <a:rPr lang="en-US" b="1" dirty="0" smtClean="0"/>
              <a:t>black box</a:t>
            </a:r>
            <a:r>
              <a:rPr lang="en-US" dirty="0" smtClean="0"/>
              <a:t> to control what behaviors are exposed to calling methods</a:t>
            </a:r>
            <a:endParaRPr lang="en-US" b="1" dirty="0" smtClean="0"/>
          </a:p>
          <a:p>
            <a:r>
              <a:rPr lang="en-US" b="1" dirty="0" smtClean="0"/>
              <a:t>Interface</a:t>
            </a:r>
          </a:p>
          <a:p>
            <a:pPr lvl="1"/>
            <a:r>
              <a:rPr lang="en-US" dirty="0" smtClean="0"/>
              <a:t>The interaction between a method and an object’s exposed behaviors</a:t>
            </a:r>
          </a:p>
          <a:p>
            <a:pPr lvl="1"/>
            <a:r>
              <a:rPr lang="en-US" dirty="0" smtClean="0"/>
              <a:t>Uses message-passing to request and receive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Features of Object-Oriented Programming Languages </a:t>
            </a:r>
            <a:r>
              <a:rPr lang="en-US" sz="2000" spc="-200" dirty="0"/>
              <a:t>(cont’d.)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Inheritance</a:t>
            </a:r>
          </a:p>
          <a:p>
            <a:pPr lvl="1"/>
            <a:r>
              <a:rPr lang="en-US" dirty="0" smtClean="0"/>
              <a:t>Provides the ability to extend a class to create a more specific class</a:t>
            </a:r>
          </a:p>
          <a:p>
            <a:r>
              <a:rPr lang="en-US" b="1" dirty="0" smtClean="0"/>
              <a:t>Polymorphism</a:t>
            </a:r>
          </a:p>
          <a:p>
            <a:pPr lvl="1"/>
            <a:r>
              <a:rPr lang="en-US" dirty="0" smtClean="0"/>
              <a:t>Describes the ability to create methods that act appropriately depending on the context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The C# Programming Language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Developed as an object-oriented and component-oriented language</a:t>
            </a:r>
          </a:p>
          <a:p>
            <a:r>
              <a:rPr lang="en-US" dirty="0" smtClean="0"/>
              <a:t>Part of Microsoft Visual Studio</a:t>
            </a:r>
          </a:p>
          <a:p>
            <a:r>
              <a:rPr lang="en-US" dirty="0" smtClean="0"/>
              <a:t>Allows every piece of data to be treated as an object and to consistently employ the principles of object-oriented programming</a:t>
            </a:r>
          </a:p>
          <a:p>
            <a:r>
              <a:rPr lang="en-US" dirty="0" smtClean="0"/>
              <a:t>Contains a GUI interface that makes it similar to Visual Basic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295400"/>
          </a:xfrm>
        </p:spPr>
        <p:txBody>
          <a:bodyPr/>
          <a:lstStyle/>
          <a:p>
            <a:pPr eaLnBrk="1" hangingPunct="1"/>
            <a:r>
              <a:rPr lang="en-US" sz="4000" spc="-200" dirty="0"/>
              <a:t>The C# Programming Language </a:t>
            </a:r>
            <a:r>
              <a:rPr lang="en-US" sz="2000" spc="-200" dirty="0"/>
              <a:t>(cont’d.)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343400"/>
          </a:xfrm>
          <a:noFill/>
        </p:spPr>
        <p:txBody>
          <a:bodyPr/>
          <a:lstStyle/>
          <a:p>
            <a:pPr eaLnBrk="1" hangingPunct="1"/>
            <a:r>
              <a:rPr lang="en-US" dirty="0" smtClean="0"/>
              <a:t>Modeled after the C++ programming language</a:t>
            </a:r>
          </a:p>
          <a:p>
            <a:pPr lvl="1" eaLnBrk="1" hangingPunct="1"/>
            <a:r>
              <a:rPr lang="en-US" dirty="0" smtClean="0"/>
              <a:t>However, eliminates some of the most difficult features to understand in C++</a:t>
            </a:r>
          </a:p>
          <a:p>
            <a:pPr lvl="1" eaLnBrk="1" hangingPunct="1"/>
            <a:r>
              <a:rPr lang="en-US" dirty="0" smtClean="0"/>
              <a:t>C# is easier to learn</a:t>
            </a:r>
          </a:p>
          <a:p>
            <a:pPr eaLnBrk="1" hangingPunct="1"/>
            <a:r>
              <a:rPr lang="en-US" dirty="0" smtClean="0"/>
              <a:t>Very similar to Java</a:t>
            </a:r>
          </a:p>
          <a:p>
            <a:pPr lvl="1"/>
            <a:r>
              <a:rPr lang="en-US" dirty="0"/>
              <a:t>In C#, simple data types are </a:t>
            </a:r>
            <a:r>
              <a:rPr lang="en-US" dirty="0" smtClean="0"/>
              <a:t>objects</a:t>
            </a:r>
          </a:p>
          <a:p>
            <a:pPr lvl="1"/>
            <a:r>
              <a:rPr lang="en-US" dirty="0" smtClean="0"/>
              <a:t>C# is more truly object oriented</a:t>
            </a:r>
          </a:p>
          <a:p>
            <a:r>
              <a:rPr lang="en-US" dirty="0" smtClean="0"/>
              <a:t>Similar to Visual Basic</a:t>
            </a:r>
            <a:endParaRPr lang="en-US" dirty="0"/>
          </a:p>
          <a:p>
            <a:pPr lvl="1"/>
            <a:r>
              <a:rPr lang="en-US" dirty="0" smtClean="0"/>
              <a:t>C# is more concise than VB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2438400"/>
            <a:ext cx="5472547" cy="188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Writing a C# Program that Produces Output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6384925" y="1843088"/>
            <a:ext cx="1419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33CC"/>
                </a:solidFill>
              </a:rPr>
              <a:t>literal string</a:t>
            </a:r>
          </a:p>
        </p:txBody>
      </p:sp>
      <p:sp>
        <p:nvSpPr>
          <p:cNvPr id="20488" name="Text Box 11"/>
          <p:cNvSpPr txBox="1">
            <a:spLocks noChangeArrowheads="1"/>
          </p:cNvSpPr>
          <p:nvPr/>
        </p:nvSpPr>
        <p:spPr bwMode="auto">
          <a:xfrm>
            <a:off x="6477000" y="4572000"/>
            <a:ext cx="1146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33CC"/>
                </a:solidFill>
              </a:rPr>
              <a:t>argument</a:t>
            </a:r>
          </a:p>
        </p:txBody>
      </p:sp>
      <p:sp>
        <p:nvSpPr>
          <p:cNvPr id="20489" name="Text Box 13"/>
          <p:cNvSpPr txBox="1">
            <a:spLocks noChangeArrowheads="1"/>
          </p:cNvSpPr>
          <p:nvPr/>
        </p:nvSpPr>
        <p:spPr bwMode="auto">
          <a:xfrm>
            <a:off x="4572000" y="4708525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33CC"/>
                </a:solidFill>
              </a:rPr>
              <a:t>method</a:t>
            </a:r>
          </a:p>
        </p:txBody>
      </p:sp>
      <p:sp>
        <p:nvSpPr>
          <p:cNvPr id="20490" name="Text Box 15"/>
          <p:cNvSpPr txBox="1">
            <a:spLocks noChangeArrowheads="1"/>
          </p:cNvSpPr>
          <p:nvPr/>
        </p:nvSpPr>
        <p:spPr bwMode="auto">
          <a:xfrm>
            <a:off x="3779838" y="4708525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491" name="Text Box 17"/>
          <p:cNvSpPr txBox="1">
            <a:spLocks noChangeArrowheads="1"/>
          </p:cNvSpPr>
          <p:nvPr/>
        </p:nvSpPr>
        <p:spPr bwMode="auto">
          <a:xfrm>
            <a:off x="1676400" y="1676400"/>
            <a:ext cx="677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33CC"/>
                </a:solidFill>
              </a:rPr>
              <a:t>class</a:t>
            </a:r>
          </a:p>
        </p:txBody>
      </p:sp>
      <p:sp>
        <p:nvSpPr>
          <p:cNvPr id="20492" name="Text Box 19"/>
          <p:cNvSpPr txBox="1">
            <a:spLocks noChangeArrowheads="1"/>
          </p:cNvSpPr>
          <p:nvPr/>
        </p:nvSpPr>
        <p:spPr bwMode="auto">
          <a:xfrm>
            <a:off x="1674813" y="4708525"/>
            <a:ext cx="1298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33CC"/>
                </a:solidFill>
              </a:rPr>
              <a:t>namespace</a:t>
            </a:r>
          </a:p>
        </p:txBody>
      </p:sp>
      <p:sp>
        <p:nvSpPr>
          <p:cNvPr id="20493" name="Line 20"/>
          <p:cNvSpPr>
            <a:spLocks noChangeShapeType="1"/>
          </p:cNvSpPr>
          <p:nvPr/>
        </p:nvSpPr>
        <p:spPr bwMode="auto">
          <a:xfrm>
            <a:off x="2057400" y="1981200"/>
            <a:ext cx="609600" cy="68580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494" name="Line 22"/>
          <p:cNvSpPr>
            <a:spLocks noChangeShapeType="1"/>
          </p:cNvSpPr>
          <p:nvPr/>
        </p:nvSpPr>
        <p:spPr bwMode="auto">
          <a:xfrm flipH="1" flipV="1">
            <a:off x="5791200" y="3581400"/>
            <a:ext cx="1143000" cy="99060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495" name="Line 23"/>
          <p:cNvSpPr>
            <a:spLocks noChangeShapeType="1"/>
          </p:cNvSpPr>
          <p:nvPr/>
        </p:nvSpPr>
        <p:spPr bwMode="auto">
          <a:xfrm flipV="1">
            <a:off x="2286000" y="3505200"/>
            <a:ext cx="304800" cy="129540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496" name="Line 25"/>
          <p:cNvSpPr>
            <a:spLocks noChangeShapeType="1"/>
          </p:cNvSpPr>
          <p:nvPr/>
        </p:nvSpPr>
        <p:spPr bwMode="auto">
          <a:xfrm flipH="1" flipV="1">
            <a:off x="4114800" y="3505200"/>
            <a:ext cx="914400" cy="129540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497" name="Line 20"/>
          <p:cNvSpPr>
            <a:spLocks noChangeShapeType="1"/>
          </p:cNvSpPr>
          <p:nvPr/>
        </p:nvSpPr>
        <p:spPr bwMode="auto">
          <a:xfrm flipH="1">
            <a:off x="6019800" y="2133600"/>
            <a:ext cx="1066800" cy="114300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Writing a C# Program that Produces Output </a:t>
            </a:r>
            <a:r>
              <a:rPr lang="en-US" sz="2000" spc="-200" dirty="0"/>
              <a:t>(cont’d.)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Namespace</a:t>
            </a:r>
          </a:p>
          <a:p>
            <a:pPr lvl="1"/>
            <a:r>
              <a:rPr lang="en-US" dirty="0" smtClean="0"/>
              <a:t>Provides a way to group similar classes</a:t>
            </a:r>
          </a:p>
          <a:p>
            <a:pPr lvl="1"/>
            <a:r>
              <a:rPr lang="en-US" dirty="0" smtClean="0"/>
              <a:t>Can be used to avoid naming conflicts in large projects</a:t>
            </a:r>
          </a:p>
          <a:p>
            <a:r>
              <a:rPr lang="en-US" dirty="0" smtClean="0"/>
              <a:t>C# method parts</a:t>
            </a:r>
          </a:p>
          <a:p>
            <a:pPr lvl="1"/>
            <a:r>
              <a:rPr lang="en-US" b="1" dirty="0" smtClean="0"/>
              <a:t>Method header</a:t>
            </a:r>
          </a:p>
          <a:p>
            <a:pPr lvl="2"/>
            <a:r>
              <a:rPr lang="en-US" dirty="0" smtClean="0"/>
              <a:t>Includes the method name and information about what will pass into and be returned from a method</a:t>
            </a:r>
          </a:p>
          <a:p>
            <a:pPr lvl="1"/>
            <a:r>
              <a:rPr lang="en-US" b="1" dirty="0" smtClean="0"/>
              <a:t>Method body</a:t>
            </a:r>
          </a:p>
          <a:p>
            <a:pPr lvl="2"/>
            <a:r>
              <a:rPr lang="en-US" dirty="0" smtClean="0"/>
              <a:t>Contained within a pair of curly braces and includes all the instructions executed by the method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Writing a C# Program that Produces Output </a:t>
            </a:r>
            <a:r>
              <a:rPr lang="en-US" sz="2000" spc="-200" dirty="0"/>
              <a:t>(cont’d.)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Whitespace</a:t>
            </a:r>
          </a:p>
          <a:p>
            <a:pPr lvl="1"/>
            <a:r>
              <a:rPr lang="en-US" dirty="0" smtClean="0"/>
              <a:t>Any combination of spaces, tabs, and carriage returns (blank lines)</a:t>
            </a:r>
          </a:p>
          <a:p>
            <a:pPr lvl="1"/>
            <a:r>
              <a:rPr lang="en-US" dirty="0" smtClean="0"/>
              <a:t>Organizes your code and makes it easier to read</a:t>
            </a:r>
          </a:p>
          <a:p>
            <a:r>
              <a:rPr lang="en-US" dirty="0" smtClean="0"/>
              <a:t>Access modifier</a:t>
            </a:r>
          </a:p>
          <a:p>
            <a:pPr lvl="1"/>
            <a:r>
              <a:rPr lang="en-US" dirty="0" smtClean="0"/>
              <a:t>Defines the circumstances under which the method can be accessed</a:t>
            </a:r>
          </a:p>
          <a:p>
            <a:pPr lvl="1"/>
            <a:r>
              <a:rPr lang="en-US" dirty="0" smtClean="0"/>
              <a:t>Public, private, protected, internal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Writing a C# Program that Produces Output </a:t>
            </a:r>
            <a:r>
              <a:rPr lang="en-US" sz="2000" spc="-200" dirty="0"/>
              <a:t>(cont’d.)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Keywords</a:t>
            </a:r>
          </a:p>
          <a:p>
            <a:pPr lvl="1"/>
            <a:r>
              <a:rPr lang="en-US" dirty="0" smtClean="0"/>
              <a:t>Predefined and reserved identifiers that have special meaning to the compiler</a:t>
            </a:r>
          </a:p>
          <a:p>
            <a:r>
              <a:rPr lang="en-US" dirty="0" smtClean="0"/>
              <a:t>The name of the method is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Main()</a:t>
            </a:r>
          </a:p>
          <a:p>
            <a:pPr lvl="1"/>
            <a:r>
              <a:rPr lang="en-US" dirty="0" smtClean="0"/>
              <a:t>Every application must have 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US" dirty="0" smtClean="0"/>
              <a:t> method</a:t>
            </a:r>
          </a:p>
          <a:p>
            <a:pPr lvl="1"/>
            <a:r>
              <a:rPr lang="en-US" dirty="0" smtClean="0"/>
              <a:t>Classes with 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US" dirty="0" smtClean="0"/>
              <a:t> method are called </a:t>
            </a:r>
            <a:r>
              <a:rPr lang="en-US" b="1" dirty="0" smtClean="0"/>
              <a:t>application classes</a:t>
            </a:r>
            <a:r>
              <a:rPr lang="en-US" dirty="0" smtClean="0"/>
              <a:t>; others are </a:t>
            </a:r>
            <a:r>
              <a:rPr lang="en-US" b="1" dirty="0" smtClean="0"/>
              <a:t>non-application classes</a:t>
            </a:r>
          </a:p>
          <a:p>
            <a:r>
              <a:rPr lang="en-US" dirty="0" smtClean="0"/>
              <a:t>The method returns nothing as indicated by the keyword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Selecting Identifiers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Requirements</a:t>
            </a:r>
          </a:p>
          <a:p>
            <a:pPr lvl="1"/>
            <a:r>
              <a:rPr lang="en-US" dirty="0" smtClean="0"/>
              <a:t>Must begin with an underscore, an at sign (@), or a letter</a:t>
            </a:r>
          </a:p>
          <a:p>
            <a:pPr lvl="2"/>
            <a:r>
              <a:rPr lang="en-US" dirty="0" smtClean="0"/>
              <a:t>Letters include foreign-alphabet letters</a:t>
            </a:r>
          </a:p>
          <a:p>
            <a:pPr lvl="1"/>
            <a:r>
              <a:rPr lang="en-US" dirty="0" smtClean="0"/>
              <a:t>Can contain only letters, digits, underscores, and the at (@) sign</a:t>
            </a:r>
          </a:p>
          <a:p>
            <a:pPr lvl="2"/>
            <a:r>
              <a:rPr lang="en-US" dirty="0" smtClean="0"/>
              <a:t>Not special characters such as #, $, or &amp;</a:t>
            </a:r>
          </a:p>
          <a:p>
            <a:pPr lvl="1"/>
            <a:r>
              <a:rPr lang="en-US" dirty="0" smtClean="0"/>
              <a:t>Cannot be a C# reserved keyword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981200"/>
            <a:ext cx="3886200" cy="3852770"/>
          </a:xfrm>
          <a:prstGeom prst="rect">
            <a:avLst/>
          </a:prstGeom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spc="-200" dirty="0"/>
              <a:t>Selecting </a:t>
            </a:r>
            <a:r>
              <a:rPr lang="en-US" sz="4000" spc="-200" dirty="0" smtClean="0"/>
              <a:t>Identifiers </a:t>
            </a:r>
            <a:r>
              <a:rPr lang="en-US" sz="2000" spc="-200" dirty="0" smtClean="0"/>
              <a:t>(cont’d</a:t>
            </a:r>
            <a:r>
              <a:rPr lang="en-US" sz="2000" spc="-200" dirty="0" smtClean="0"/>
              <a:t>.)</a:t>
            </a:r>
            <a:endParaRPr lang="en-US" sz="4000" spc="-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295525"/>
            <a:ext cx="4724400" cy="3571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295400"/>
          </a:xfrm>
          <a:noFill/>
        </p:spPr>
        <p:txBody>
          <a:bodyPr/>
          <a:lstStyle/>
          <a:p>
            <a:pPr eaLnBrk="1" hangingPunct="1"/>
            <a:r>
              <a:rPr lang="en-US" sz="4000" spc="-200" dirty="0"/>
              <a:t>Selecting Identifiers </a:t>
            </a:r>
            <a:r>
              <a:rPr lang="en-US" sz="2000" spc="-200" dirty="0"/>
              <a:t>(cont’d.)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28" y="1905000"/>
            <a:ext cx="8334245" cy="2971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295400"/>
          </a:xfrm>
          <a:noFill/>
        </p:spPr>
        <p:txBody>
          <a:bodyPr/>
          <a:lstStyle/>
          <a:p>
            <a:pPr eaLnBrk="1" hangingPunct="1"/>
            <a:r>
              <a:rPr lang="en-US" sz="4000" spc="-200" dirty="0"/>
              <a:t>Selecting Identifiers </a:t>
            </a:r>
            <a:r>
              <a:rPr lang="en-US" sz="2000" spc="-200" dirty="0"/>
              <a:t>(cont’d.)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437" y="1428750"/>
            <a:ext cx="5953125" cy="4972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Improving Programs by Adding Comments and Using the </a:t>
            </a:r>
            <a:r>
              <a:rPr lang="en-US" sz="4000" spc="-200" dirty="0" smtClean="0">
                <a:latin typeface="OCR A Extended" panose="02010509020102010303" pitchFamily="50" charset="0"/>
              </a:rPr>
              <a:t>System</a:t>
            </a:r>
            <a:r>
              <a:rPr lang="en-US" sz="4000" spc="-200" dirty="0" smtClean="0"/>
              <a:t> Namespace</a:t>
            </a:r>
            <a:endParaRPr lang="en-US" sz="4000" spc="-200" dirty="0"/>
          </a:p>
        </p:txBody>
      </p:sp>
      <p:sp>
        <p:nvSpPr>
          <p:cNvPr id="29699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Adding Program comments</a:t>
            </a:r>
          </a:p>
          <a:p>
            <a:pPr lvl="1"/>
            <a:r>
              <a:rPr lang="en-US" dirty="0" smtClean="0"/>
              <a:t>Nonexecuting statements that document a program</a:t>
            </a:r>
          </a:p>
          <a:p>
            <a:r>
              <a:rPr lang="en-US" b="1" dirty="0" smtClean="0"/>
              <a:t>Comment out</a:t>
            </a:r>
          </a:p>
          <a:p>
            <a:pPr lvl="1"/>
            <a:r>
              <a:rPr lang="en-US" dirty="0" smtClean="0"/>
              <a:t>Turn a statement into a comment</a:t>
            </a:r>
          </a:p>
          <a:p>
            <a:r>
              <a:rPr lang="en-US" dirty="0" smtClean="0"/>
              <a:t>Types of comments in C#</a:t>
            </a:r>
          </a:p>
          <a:p>
            <a:pPr lvl="1"/>
            <a:r>
              <a:rPr lang="en-US" b="1" dirty="0" smtClean="0"/>
              <a:t>Line comments </a:t>
            </a:r>
            <a:r>
              <a:rPr lang="en-US" dirty="0" smtClean="0"/>
              <a:t>– start with //</a:t>
            </a:r>
          </a:p>
          <a:p>
            <a:pPr lvl="1"/>
            <a:r>
              <a:rPr lang="en-US" b="1" dirty="0" smtClean="0"/>
              <a:t>Block comments </a:t>
            </a:r>
            <a:r>
              <a:rPr lang="en-US" dirty="0" smtClean="0"/>
              <a:t>– start with /* and end with */</a:t>
            </a:r>
          </a:p>
          <a:p>
            <a:pPr lvl="1"/>
            <a:r>
              <a:rPr lang="en-US" b="1" dirty="0" smtClean="0"/>
              <a:t>XML-documentation format comments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/>
          <a:lstStyle/>
          <a:p>
            <a:r>
              <a:rPr lang="en-US" sz="4000" spc="-200" dirty="0"/>
              <a:t>Improving Programs by Adding Comments and Using the </a:t>
            </a:r>
            <a:r>
              <a:rPr lang="en-US" sz="4000" spc="-200" dirty="0">
                <a:latin typeface="OCR A Extended" panose="02010509020102010303" pitchFamily="50" charset="0"/>
              </a:rPr>
              <a:t>System</a:t>
            </a:r>
            <a:r>
              <a:rPr lang="en-US" sz="4000" spc="-200" dirty="0"/>
              <a:t> </a:t>
            </a:r>
            <a:r>
              <a:rPr lang="en-US" sz="4000" spc="-200" dirty="0" smtClean="0"/>
              <a:t>Namespace </a:t>
            </a:r>
            <a:r>
              <a:rPr lang="en-US" sz="2000" spc="-200" dirty="0" smtClean="0"/>
              <a:t>(</a:t>
            </a:r>
            <a:r>
              <a:rPr lang="en-US" sz="2000" spc="-200" dirty="0"/>
              <a:t>cont’d.)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93" y="1905000"/>
            <a:ext cx="8447407" cy="35861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the </a:t>
            </a:r>
            <a:r>
              <a:rPr lang="en-US" sz="4000" spc="-200" dirty="0">
                <a:latin typeface="OCR A Extended" panose="02010509020102010303" pitchFamily="50" charset="0"/>
              </a:rPr>
              <a:t>System</a:t>
            </a:r>
            <a:r>
              <a:rPr lang="en-US" sz="4000" spc="-200" dirty="0"/>
              <a:t> Namespace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942" y="1573196"/>
            <a:ext cx="5695548" cy="47831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763000" cy="1143000"/>
          </a:xfrm>
        </p:spPr>
        <p:txBody>
          <a:bodyPr/>
          <a:lstStyle/>
          <a:p>
            <a:r>
              <a:rPr lang="en-US" sz="4000" spc="-200" dirty="0"/>
              <a:t>Using the </a:t>
            </a:r>
            <a:r>
              <a:rPr lang="en-US" sz="4000" spc="-200" dirty="0">
                <a:latin typeface="OCR A Extended" panose="02010509020102010303" pitchFamily="50" charset="0"/>
              </a:rPr>
              <a:t>System</a:t>
            </a:r>
            <a:r>
              <a:rPr lang="en-US" sz="4000" spc="-200" dirty="0"/>
              <a:t> Namespace </a:t>
            </a:r>
            <a:r>
              <a:rPr lang="en-US" sz="2000" spc="-200" dirty="0"/>
              <a:t>(cont’d.)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974" y="4038600"/>
            <a:ext cx="6920758" cy="23177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15" y="1391444"/>
            <a:ext cx="6570786" cy="25242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You Do It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i="1" dirty="0" smtClean="0"/>
              <a:t>Entering a Program into an Editor</a:t>
            </a:r>
          </a:p>
          <a:p>
            <a:r>
              <a:rPr lang="en-US" dirty="0" smtClean="0"/>
              <a:t>Use any text editor to write the following code and save it as </a:t>
            </a:r>
            <a:r>
              <a:rPr lang="en-US" dirty="0" err="1" smtClean="0"/>
              <a:t>Hello.cs</a:t>
            </a:r>
            <a:endParaRPr lang="en-US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048000"/>
            <a:ext cx="4695622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Compiling and Executing a C# Program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Steps for viewing a program’s output</a:t>
            </a:r>
          </a:p>
          <a:p>
            <a:pPr lvl="1" eaLnBrk="1" hangingPunct="1"/>
            <a:r>
              <a:rPr lang="en-US" dirty="0" smtClean="0"/>
              <a:t>Compile </a:t>
            </a:r>
            <a:r>
              <a:rPr lang="en-US" b="1" dirty="0" smtClean="0"/>
              <a:t>source code</a:t>
            </a:r>
            <a:r>
              <a:rPr lang="en-US" dirty="0" smtClean="0"/>
              <a:t> into </a:t>
            </a:r>
            <a:r>
              <a:rPr lang="en-US" b="1" dirty="0" smtClean="0"/>
              <a:t>intermediate language (IL)</a:t>
            </a:r>
          </a:p>
          <a:p>
            <a:pPr lvl="1" eaLnBrk="1" hangingPunct="1"/>
            <a:r>
              <a:rPr lang="en-US" dirty="0" smtClean="0"/>
              <a:t>The C# </a:t>
            </a:r>
            <a:r>
              <a:rPr lang="en-US" b="1" dirty="0" smtClean="0"/>
              <a:t>just in time (JIT) </a:t>
            </a:r>
            <a:r>
              <a:rPr lang="en-US" dirty="0" smtClean="0"/>
              <a:t>compiler translates the intermediate code into executable statements</a:t>
            </a:r>
          </a:p>
          <a:p>
            <a:pPr eaLnBrk="1" hangingPunct="1"/>
            <a:r>
              <a:rPr lang="en-US" dirty="0" smtClean="0"/>
              <a:t>You can use either of two ways to compile</a:t>
            </a:r>
          </a:p>
          <a:p>
            <a:pPr lvl="1" eaLnBrk="1" hangingPunct="1"/>
            <a:r>
              <a:rPr lang="en-US" dirty="0" smtClean="0"/>
              <a:t>The </a:t>
            </a:r>
            <a:r>
              <a:rPr lang="en-US" b="1" dirty="0" smtClean="0"/>
              <a:t>command line</a:t>
            </a:r>
            <a:endParaRPr lang="en-US" dirty="0" smtClean="0"/>
          </a:p>
          <a:p>
            <a:pPr lvl="1" eaLnBrk="1" hangingPunct="1"/>
            <a:r>
              <a:rPr lang="en-US" dirty="0" smtClean="0"/>
              <a:t>The </a:t>
            </a:r>
            <a:r>
              <a:rPr lang="en-US" b="1" dirty="0" smtClean="0"/>
              <a:t>Integrated Development Environment (IDE)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Compiling Code from the Command Prompt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of an operating system error message</a:t>
            </a:r>
          </a:p>
          <a:p>
            <a:pPr lvl="1"/>
            <a:r>
              <a:rPr lang="en-US" dirty="0" smtClean="0"/>
              <a:t>Command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csc</a:t>
            </a:r>
            <a:r>
              <a:rPr lang="en-US" dirty="0" smtClean="0">
                <a:cs typeface="Courier New" pitchFamily="49" charset="0"/>
              </a:rPr>
              <a:t> </a:t>
            </a:r>
            <a:r>
              <a:rPr lang="en-US" dirty="0"/>
              <a:t>s</a:t>
            </a:r>
            <a:r>
              <a:rPr lang="en-US" dirty="0" smtClean="0"/>
              <a:t>tands for “C Sharp compiler”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46" y="2819400"/>
            <a:ext cx="8218329" cy="2381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1143000"/>
          </a:xfrm>
        </p:spPr>
        <p:txBody>
          <a:bodyPr/>
          <a:lstStyle/>
          <a:p>
            <a:r>
              <a:rPr lang="en-US" sz="4000" spc="-200" dirty="0"/>
              <a:t>Compiling Code from the Command Prompt </a:t>
            </a:r>
            <a:r>
              <a:rPr lang="en-US" sz="2000" spc="-200" dirty="0"/>
              <a:t>(cont’d.)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of a command </a:t>
            </a:r>
            <a:r>
              <a:rPr lang="en-US" dirty="0"/>
              <a:t>l</a:t>
            </a:r>
            <a:r>
              <a:rPr lang="en-US" dirty="0" smtClean="0"/>
              <a:t>ine generated error message</a:t>
            </a:r>
          </a:p>
          <a:p>
            <a:pPr lvl="1"/>
            <a:r>
              <a:rPr lang="en-US" dirty="0" smtClean="0"/>
              <a:t>Program error messages start with the program name followed by the line number and position within the line of the error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76600"/>
            <a:ext cx="7932695" cy="260716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Compiling Code Using the Visual Studio IDE</a:t>
            </a:r>
            <a:endParaRPr lang="en-US" sz="4000" spc="-200" dirty="0"/>
          </a:p>
        </p:txBody>
      </p:sp>
      <p:sp>
        <p:nvSpPr>
          <p:cNvPr id="36867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Advantages of using the Visual Studio IDE</a:t>
            </a:r>
          </a:p>
          <a:p>
            <a:pPr lvl="1"/>
            <a:r>
              <a:rPr lang="en-US" dirty="0" smtClean="0"/>
              <a:t>Some of the code you need is already created for you— auto-complete</a:t>
            </a:r>
          </a:p>
          <a:p>
            <a:pPr lvl="1"/>
            <a:r>
              <a:rPr lang="en-US" dirty="0" smtClean="0"/>
              <a:t>The code is displayed in color</a:t>
            </a:r>
          </a:p>
          <a:p>
            <a:pPr lvl="1"/>
            <a:r>
              <a:rPr lang="en-US" dirty="0" smtClean="0"/>
              <a:t>Some syntax errors are caught as you type</a:t>
            </a:r>
          </a:p>
          <a:p>
            <a:pPr lvl="1"/>
            <a:r>
              <a:rPr lang="en-US" dirty="0" smtClean="0"/>
              <a:t>You can double-click an error message and the cursor will move to the line of code that contains the error</a:t>
            </a:r>
          </a:p>
          <a:p>
            <a:pPr lvl="1"/>
            <a:r>
              <a:rPr lang="en-US" dirty="0" smtClean="0"/>
              <a:t>Other debugging tools are available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Compiling Code Using the </a:t>
            </a:r>
            <a:r>
              <a:rPr lang="en-US" sz="4000" spc="-200" dirty="0" smtClean="0"/>
              <a:t>Visual </a:t>
            </a:r>
            <a:r>
              <a:rPr lang="en-US" sz="4000" spc="-200" dirty="0"/>
              <a:t>Studio IDE </a:t>
            </a:r>
            <a:r>
              <a:rPr lang="en-US" sz="2000" spc="-200" dirty="0"/>
              <a:t>(cont’d.)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343025"/>
            <a:ext cx="819150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73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Compiling Code Using the </a:t>
            </a:r>
            <a:r>
              <a:rPr lang="en-US" sz="4000" spc="-200" dirty="0" smtClean="0"/>
              <a:t>Visual </a:t>
            </a:r>
            <a:r>
              <a:rPr lang="en-US" sz="4000" spc="-200" dirty="0"/>
              <a:t>Studio IDE </a:t>
            </a:r>
            <a:r>
              <a:rPr lang="en-US" sz="2000" spc="-200" dirty="0"/>
              <a:t>(cont’d.)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555036"/>
            <a:ext cx="6743700" cy="48638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8991600" cy="1401762"/>
          </a:xfrm>
        </p:spPr>
        <p:txBody>
          <a:bodyPr/>
          <a:lstStyle/>
          <a:p>
            <a:r>
              <a:rPr lang="en-US" sz="4000" spc="-200" dirty="0"/>
              <a:t>Noticing the Differences Between the Programs in the Text Editor and the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97363"/>
          </a:xfrm>
        </p:spPr>
        <p:txBody>
          <a:bodyPr/>
          <a:lstStyle/>
          <a:p>
            <a:r>
              <a:rPr lang="en-US" dirty="0" smtClean="0"/>
              <a:t>Five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using</a:t>
            </a:r>
            <a:r>
              <a:rPr lang="en-US" dirty="0" smtClean="0"/>
              <a:t> statements at the top of the file</a:t>
            </a:r>
          </a:p>
          <a:p>
            <a:r>
              <a:rPr lang="en-US" dirty="0" smtClean="0"/>
              <a:t>A </a:t>
            </a:r>
            <a:r>
              <a:rPr lang="en-US" dirty="0" smtClean="0">
                <a:cs typeface="Courier New" pitchFamily="49" charset="0"/>
              </a:rPr>
              <a:t>namespace</a:t>
            </a:r>
            <a:r>
              <a:rPr lang="en-US" dirty="0" smtClean="0"/>
              <a:t> declaration and its opening and closing curly braces</a:t>
            </a:r>
          </a:p>
          <a:p>
            <a:r>
              <a:rPr lang="en-US" dirty="0" smtClean="0"/>
              <a:t>A </a:t>
            </a:r>
            <a:r>
              <a:rPr lang="en-US" dirty="0" smtClean="0">
                <a:cs typeface="Courier New" pitchFamily="49" charset="0"/>
              </a:rPr>
              <a:t>class</a:t>
            </a:r>
            <a:r>
              <a:rPr lang="en-US" dirty="0" smtClean="0"/>
              <a:t> named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Program</a:t>
            </a:r>
          </a:p>
          <a:p>
            <a:r>
              <a:rPr lang="en-US" dirty="0" smtClean="0">
                <a:cs typeface="Courier New" pitchFamily="49" charset="0"/>
              </a:rPr>
              <a:t>The words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string[]</a:t>
            </a:r>
            <a:r>
              <a:rPr lang="en-US" dirty="0" smtClean="0"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 smtClean="0">
                <a:cs typeface="Courier New" pitchFamily="49" charset="0"/>
              </a:rPr>
              <a:t> between the parentheses of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US" dirty="0" smtClean="0">
                <a:cs typeface="Courier New" pitchFamily="49" charset="0"/>
              </a:rPr>
              <a:t> method header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  <p:extLst>
      <p:ext uri="{BB962C8B-B14F-4D97-AF65-F5344CB8AC3E}">
        <p14:creationId xmlns:p14="http://schemas.microsoft.com/office/powerpoint/2010/main" val="3702693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763000" cy="1143000"/>
          </a:xfrm>
        </p:spPr>
        <p:txBody>
          <a:bodyPr/>
          <a:lstStyle/>
          <a:p>
            <a:r>
              <a:rPr lang="en-US" sz="4000" spc="-200" dirty="0"/>
              <a:t>Deciding Which Environment to Use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Advantage of using the command line</a:t>
            </a:r>
          </a:p>
          <a:p>
            <a:pPr lvl="1"/>
            <a:r>
              <a:rPr lang="en-US" dirty="0" smtClean="0"/>
              <a:t>Saves disk space</a:t>
            </a:r>
          </a:p>
          <a:p>
            <a:r>
              <a:rPr lang="en-US" dirty="0" smtClean="0"/>
              <a:t>Advantages of using the Visual Studio IDE</a:t>
            </a:r>
          </a:p>
          <a:p>
            <a:pPr lvl="1"/>
            <a:r>
              <a:rPr lang="en-US" dirty="0" smtClean="0"/>
              <a:t>Automatic sentence completion</a:t>
            </a:r>
          </a:p>
          <a:p>
            <a:pPr lvl="1"/>
            <a:r>
              <a:rPr lang="en-US" dirty="0" smtClean="0"/>
              <a:t>Words are displayed using different colors based on their category</a:t>
            </a:r>
          </a:p>
          <a:p>
            <a:pPr lvl="1"/>
            <a:r>
              <a:rPr lang="en-US" dirty="0" smtClean="0"/>
              <a:t>The code automatically generated by the IDE is very helpful when writing a GUI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763000" cy="1143000"/>
          </a:xfrm>
        </p:spPr>
        <p:txBody>
          <a:bodyPr/>
          <a:lstStyle/>
          <a:p>
            <a:r>
              <a:rPr lang="en-US" sz="4000" spc="-200" dirty="0"/>
              <a:t>Deciding Which Environment to </a:t>
            </a:r>
            <a:r>
              <a:rPr lang="en-US" sz="4000" spc="-200" dirty="0" smtClean="0"/>
              <a:t>Use </a:t>
            </a:r>
            <a:r>
              <a:rPr lang="en-US" sz="2000" spc="-200" dirty="0" smtClean="0"/>
              <a:t>(cont’d</a:t>
            </a:r>
            <a:r>
              <a:rPr lang="en-US" sz="2000" spc="-200" dirty="0" smtClean="0"/>
              <a:t>.)</a:t>
            </a:r>
            <a:endParaRPr lang="en-US" sz="4000" spc="-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08" y="1434306"/>
            <a:ext cx="80295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0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r>
              <a:rPr lang="en-US" sz="4000" spc="-200" dirty="0"/>
              <a:t>You Do It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82000" cy="4297363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Compiling and Executing a Program from the Command Line</a:t>
            </a:r>
          </a:p>
          <a:p>
            <a:r>
              <a:rPr lang="en-US" dirty="0" smtClean="0"/>
              <a:t>Go </a:t>
            </a:r>
            <a:r>
              <a:rPr lang="en-US" dirty="0"/>
              <a:t>to the command Prompt on your system</a:t>
            </a:r>
          </a:p>
          <a:p>
            <a:r>
              <a:rPr lang="en-US" dirty="0"/>
              <a:t>Change to the C# directory</a:t>
            </a:r>
          </a:p>
          <a:p>
            <a:r>
              <a:rPr lang="en-US" dirty="0"/>
              <a:t>Type the </a:t>
            </a:r>
            <a:r>
              <a:rPr lang="en-US" dirty="0" err="1">
                <a:latin typeface="OCR A Extended" panose="02010509020102010303" pitchFamily="50" charset="0"/>
              </a:rPr>
              <a:t>csc</a:t>
            </a:r>
            <a:r>
              <a:rPr lang="en-US" dirty="0">
                <a:latin typeface="OCR A Extended" panose="02010509020102010303" pitchFamily="50" charset="0"/>
              </a:rPr>
              <a:t> </a:t>
            </a:r>
            <a:r>
              <a:rPr lang="en-US" dirty="0" err="1">
                <a:latin typeface="OCR A Extended" panose="02010509020102010303" pitchFamily="50" charset="0"/>
              </a:rPr>
              <a:t>Hello.cs</a:t>
            </a:r>
            <a:r>
              <a:rPr lang="en-US" dirty="0">
                <a:latin typeface="OCR A Extended" panose="02010509020102010303" pitchFamily="50" charset="0"/>
              </a:rPr>
              <a:t> </a:t>
            </a:r>
            <a:r>
              <a:rPr lang="en-US" dirty="0"/>
              <a:t>command to compile</a:t>
            </a:r>
          </a:p>
          <a:p>
            <a:r>
              <a:rPr lang="en-US" dirty="0"/>
              <a:t>Type the </a:t>
            </a:r>
            <a:r>
              <a:rPr lang="en-US" dirty="0">
                <a:latin typeface="OCR A Extended" panose="02010509020102010303" pitchFamily="50" charset="0"/>
              </a:rPr>
              <a:t>Dir</a:t>
            </a:r>
            <a:r>
              <a:rPr lang="en-US" dirty="0"/>
              <a:t> command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to </a:t>
            </a:r>
            <a:r>
              <a:rPr lang="en-US" dirty="0"/>
              <a:t>view the directory</a:t>
            </a:r>
          </a:p>
          <a:p>
            <a:r>
              <a:rPr lang="en-US" dirty="0"/>
              <a:t>Type </a:t>
            </a:r>
            <a:r>
              <a:rPr lang="en-US" dirty="0">
                <a:latin typeface="OCR A Extended" panose="02010509020102010303" pitchFamily="50" charset="0"/>
              </a:rPr>
              <a:t>Hello</a:t>
            </a:r>
            <a:r>
              <a:rPr lang="en-US" dirty="0"/>
              <a:t> and press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Enter </a:t>
            </a:r>
            <a:r>
              <a:rPr lang="en-US" dirty="0"/>
              <a:t>to run the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program</a:t>
            </a:r>
            <a:endParaRPr lang="en-US" dirty="0"/>
          </a:p>
          <a:p>
            <a:pPr lvl="1">
              <a:buFontTx/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406" y="3962400"/>
            <a:ext cx="4675394" cy="24439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You Do It </a:t>
            </a:r>
            <a:r>
              <a:rPr lang="en-US" sz="2000" spc="-200" dirty="0"/>
              <a:t>(cont’d.)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05800" cy="4678363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Compiling and Executing a Program Using the Visual Studio IDE</a:t>
            </a:r>
          </a:p>
          <a:p>
            <a:r>
              <a:rPr lang="en-US" dirty="0" smtClean="0"/>
              <a:t>Steps</a:t>
            </a:r>
          </a:p>
          <a:p>
            <a:pPr lvl="1"/>
            <a:r>
              <a:rPr lang="en-US" dirty="0" smtClean="0"/>
              <a:t>Create a new project (console application)</a:t>
            </a:r>
          </a:p>
          <a:p>
            <a:pPr lvl="1"/>
            <a:r>
              <a:rPr lang="en-US" dirty="0" smtClean="0"/>
              <a:t>Enter the project name</a:t>
            </a:r>
          </a:p>
          <a:p>
            <a:pPr lvl="1"/>
            <a:r>
              <a:rPr lang="en-US" dirty="0" smtClean="0"/>
              <a:t>Write your program using the editor</a:t>
            </a:r>
          </a:p>
          <a:p>
            <a:pPr lvl="1"/>
            <a:r>
              <a:rPr lang="en-US" dirty="0" smtClean="0"/>
              <a:t>To compile the program, click </a:t>
            </a:r>
            <a:r>
              <a:rPr lang="en-US" b="1" dirty="0" smtClean="0"/>
              <a:t>Build</a:t>
            </a:r>
            <a:r>
              <a:rPr lang="en-US" dirty="0" smtClean="0"/>
              <a:t> on the menu bar, and then click </a:t>
            </a:r>
            <a:r>
              <a:rPr lang="en-US" b="1" dirty="0" smtClean="0"/>
              <a:t>Build Solution</a:t>
            </a:r>
          </a:p>
          <a:p>
            <a:pPr lvl="2"/>
            <a:r>
              <a:rPr lang="en-US" dirty="0" smtClean="0"/>
              <a:t>As an alternative, you can press </a:t>
            </a:r>
            <a:r>
              <a:rPr lang="en-US" b="1" dirty="0" smtClean="0"/>
              <a:t>F6</a:t>
            </a:r>
          </a:p>
          <a:p>
            <a:pPr lvl="1"/>
            <a:r>
              <a:rPr lang="en-US" dirty="0" smtClean="0"/>
              <a:t>Click </a:t>
            </a:r>
            <a:r>
              <a:rPr lang="en-US" b="1" dirty="0" smtClean="0"/>
              <a:t>Debug</a:t>
            </a:r>
            <a:r>
              <a:rPr lang="en-US" dirty="0" smtClean="0"/>
              <a:t> on the menu bar and then click </a:t>
            </a:r>
            <a:r>
              <a:rPr lang="en-US" b="1" dirty="0" smtClean="0"/>
              <a:t>Start Without Debugging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You Do It </a:t>
            </a:r>
            <a:r>
              <a:rPr lang="en-US" sz="2000" spc="-200" dirty="0"/>
              <a:t>(cont’d.)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25" y="1648619"/>
            <a:ext cx="66103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752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You Do It </a:t>
            </a:r>
            <a:r>
              <a:rPr lang="en-US" sz="2000" spc="-200" dirty="0"/>
              <a:t>(cont’d.)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4000"/>
            <a:ext cx="6324600" cy="39676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5491663"/>
            <a:ext cx="5105400" cy="131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981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i="1" dirty="0" smtClean="0"/>
              <a:t>Adding Comments to a Program</a:t>
            </a:r>
          </a:p>
          <a:p>
            <a:r>
              <a:rPr lang="en-US" dirty="0" smtClean="0"/>
              <a:t>Line comment example</a:t>
            </a:r>
          </a:p>
          <a:p>
            <a:pPr lvl="1">
              <a:buFontTx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// Filename Hello.cs</a:t>
            </a:r>
          </a:p>
          <a:p>
            <a:pPr lvl="1">
              <a:buFontTx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// Written by &lt;your name&gt;</a:t>
            </a:r>
          </a:p>
          <a:p>
            <a:pPr lvl="1">
              <a:buFontTx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// Written on &lt;today’s date&gt;</a:t>
            </a:r>
          </a:p>
          <a:p>
            <a:r>
              <a:rPr lang="en-US" dirty="0" smtClean="0"/>
              <a:t>Block comment example</a:t>
            </a:r>
          </a:p>
          <a:p>
            <a:pPr lvl="1">
              <a:buFontTx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/* This program demonstrates the use of</a:t>
            </a:r>
          </a:p>
          <a:p>
            <a:pPr lvl="1">
              <a:buFontTx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the WriteLine() method to display the</a:t>
            </a:r>
          </a:p>
          <a:p>
            <a:pPr lvl="1">
              <a:buFontTx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message Hello, world! */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228600" y="228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spc="-200" dirty="0">
                <a:solidFill>
                  <a:srgbClr val="558ED5"/>
                </a:solidFill>
                <a:latin typeface="+mj-lt"/>
                <a:ea typeface="+mj-ea"/>
                <a:cs typeface="+mj-cs"/>
              </a:rPr>
              <a:t>You Do It </a:t>
            </a:r>
            <a:r>
              <a:rPr lang="en-US" spc="-200" dirty="0" smtClean="0">
                <a:solidFill>
                  <a:srgbClr val="558ED5"/>
                </a:solidFill>
                <a:latin typeface="+mj-lt"/>
                <a:ea typeface="+mj-ea"/>
                <a:cs typeface="+mj-cs"/>
              </a:rPr>
              <a:t>(cont’d.)</a:t>
            </a:r>
            <a:endParaRPr lang="en-US" spc="-200" dirty="0">
              <a:solidFill>
                <a:srgbClr val="558ED5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Summary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computer program is a set of instructions that tell a computer what to do</a:t>
            </a:r>
          </a:p>
          <a:p>
            <a:r>
              <a:rPr lang="en-US" dirty="0" smtClean="0"/>
              <a:t>Understand the differences between procedural programming and object-oriented programming</a:t>
            </a:r>
          </a:p>
          <a:p>
            <a:r>
              <a:rPr lang="en-US" dirty="0" smtClean="0"/>
              <a:t>Objects are instances of classes and are made up of attributes and methods</a:t>
            </a:r>
          </a:p>
          <a:p>
            <a:r>
              <a:rPr lang="en-US" dirty="0" smtClean="0"/>
              <a:t>The C# programming language is an object-oriented and component-oriented language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System.Console.WriteLine()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smtClean="0"/>
              <a:t>method produces a line of console output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Summary </a:t>
            </a:r>
            <a:r>
              <a:rPr lang="en-US" sz="2000" spc="-200" dirty="0"/>
              <a:t>(cont’d.)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define a C# class or variable by using any name or identifier</a:t>
            </a:r>
          </a:p>
          <a:p>
            <a:r>
              <a:rPr lang="en-US" dirty="0" smtClean="0"/>
              <a:t>Comments are nonexecuting statements that you add to document a program</a:t>
            </a:r>
          </a:p>
          <a:p>
            <a:pPr lvl="1"/>
            <a:r>
              <a:rPr lang="en-US" dirty="0" smtClean="0"/>
              <a:t>Or to disable statements when you test a program</a:t>
            </a:r>
          </a:p>
          <a:p>
            <a:r>
              <a:rPr lang="en-US" dirty="0" smtClean="0"/>
              <a:t>Use namespaces to improve programs</a:t>
            </a:r>
          </a:p>
          <a:p>
            <a:r>
              <a:rPr lang="en-US" dirty="0" smtClean="0"/>
              <a:t>To create a C# program, you can use the Microsoft Visual Studio environment</a:t>
            </a:r>
          </a:p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55770D-371C-4DBB-A879-76C9BDEE0C31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C#, Sixth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Farrell_P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9781285096339_PPT_Template</Template>
  <TotalTime>0</TotalTime>
  <Words>2009</Words>
  <Application>Microsoft Office PowerPoint</Application>
  <PresentationFormat>On-screen Show (4:3)</PresentationFormat>
  <Paragraphs>359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Courier New</vt:lpstr>
      <vt:lpstr>OCR A Extended</vt:lpstr>
      <vt:lpstr>Times New Roman</vt:lpstr>
      <vt:lpstr>1_Farrell_PLD</vt:lpstr>
      <vt:lpstr>PowerPoint Presentation</vt:lpstr>
      <vt:lpstr>Objectives</vt:lpstr>
      <vt:lpstr>Objectives (cont’d.)</vt:lpstr>
      <vt:lpstr>Programming</vt:lpstr>
      <vt:lpstr>Programming (cont’d.)</vt:lpstr>
      <vt:lpstr>Programming (cont’d.)</vt:lpstr>
      <vt:lpstr>Procedural and Object-Oriented Programming</vt:lpstr>
      <vt:lpstr>Procedural and Object-Oriented Programming (cont’d.)</vt:lpstr>
      <vt:lpstr>Procedural and Object-Oriented Programming (cont’d.)</vt:lpstr>
      <vt:lpstr>Procedural and Object-Oriented Programming (cont’d.)</vt:lpstr>
      <vt:lpstr>Features of Object-Oriented Programming Languages</vt:lpstr>
      <vt:lpstr>Features of Object-Oriented Programming Languages (cont’d.)</vt:lpstr>
      <vt:lpstr>Features of Object-Oriented Programming Languages (cont’d.)</vt:lpstr>
      <vt:lpstr>The C# Programming Language</vt:lpstr>
      <vt:lpstr>The C# Programming Language (cont’d.)</vt:lpstr>
      <vt:lpstr>Writing a C# Program that Produces Output</vt:lpstr>
      <vt:lpstr>Writing a C# Program that Produces Output (cont’d.)</vt:lpstr>
      <vt:lpstr>Writing a C# Program that Produces Output (cont’d.)</vt:lpstr>
      <vt:lpstr>Writing a C# Program that Produces Output (cont’d.)</vt:lpstr>
      <vt:lpstr>Selecting Identifiers</vt:lpstr>
      <vt:lpstr>Selecting Identifiers (cont’d.)</vt:lpstr>
      <vt:lpstr>Selecting Identifiers (cont’d.)</vt:lpstr>
      <vt:lpstr>Selecting Identifiers (cont’d.)</vt:lpstr>
      <vt:lpstr>Improving Programs by Adding Comments and Using the System Namespace</vt:lpstr>
      <vt:lpstr>Improving Programs by Adding Comments and Using the System Namespace (cont’d.)</vt:lpstr>
      <vt:lpstr>Using the System Namespace</vt:lpstr>
      <vt:lpstr>Using the System Namespace (cont’d.)</vt:lpstr>
      <vt:lpstr>You Do It</vt:lpstr>
      <vt:lpstr>Compiling and Executing a C# Program</vt:lpstr>
      <vt:lpstr>Compiling Code from the Command Prompt</vt:lpstr>
      <vt:lpstr>Compiling Code from the Command Prompt (cont’d.)</vt:lpstr>
      <vt:lpstr>Compiling Code Using the Visual Studio IDE</vt:lpstr>
      <vt:lpstr>Compiling Code Using the Visual Studio IDE (cont’d.)</vt:lpstr>
      <vt:lpstr>Compiling Code Using the Visual Studio IDE (cont’d.)</vt:lpstr>
      <vt:lpstr>Noticing the Differences Between the Programs in the Text Editor and the IDE</vt:lpstr>
      <vt:lpstr>Deciding Which Environment to Use</vt:lpstr>
      <vt:lpstr>Deciding Which Environment to Use (cont’d.)</vt:lpstr>
      <vt:lpstr>You Do It</vt:lpstr>
      <vt:lpstr>You Do It (cont’d.)</vt:lpstr>
      <vt:lpstr>You Do It (cont’d.)</vt:lpstr>
      <vt:lpstr>You Do It (cont’d.)</vt:lpstr>
      <vt:lpstr>PowerPoint Presentation</vt:lpstr>
      <vt:lpstr>Summary</vt:lpstr>
      <vt:lpstr>Summary (cont’d.)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2012-09-06T19:36:00Z</dcterms:created>
  <dcterms:modified xsi:type="dcterms:W3CDTF">2015-06-07T21:31:52Z</dcterms:modified>
</cp:coreProperties>
</file>