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06" r:id="rId1"/>
  </p:sldMasterIdLst>
  <p:notesMasterIdLst>
    <p:notesMasterId r:id="rId46"/>
  </p:notesMasterIdLst>
  <p:handoutMasterIdLst>
    <p:handoutMasterId r:id="rId47"/>
  </p:handoutMasterIdLst>
  <p:sldIdLst>
    <p:sldId id="635" r:id="rId2"/>
    <p:sldId id="257" r:id="rId3"/>
    <p:sldId id="585" r:id="rId4"/>
    <p:sldId id="476" r:id="rId5"/>
    <p:sldId id="605" r:id="rId6"/>
    <p:sldId id="604" r:id="rId7"/>
    <p:sldId id="636" r:id="rId8"/>
    <p:sldId id="637" r:id="rId9"/>
    <p:sldId id="586" r:id="rId10"/>
    <p:sldId id="607" r:id="rId11"/>
    <p:sldId id="606" r:id="rId12"/>
    <p:sldId id="630" r:id="rId13"/>
    <p:sldId id="638" r:id="rId14"/>
    <p:sldId id="639" r:id="rId15"/>
    <p:sldId id="587" r:id="rId16"/>
    <p:sldId id="393" r:id="rId17"/>
    <p:sldId id="610" r:id="rId18"/>
    <p:sldId id="588" r:id="rId19"/>
    <p:sldId id="612" r:id="rId20"/>
    <p:sldId id="589" r:id="rId21"/>
    <p:sldId id="613" r:id="rId22"/>
    <p:sldId id="590" r:id="rId23"/>
    <p:sldId id="631" r:id="rId24"/>
    <p:sldId id="395" r:id="rId25"/>
    <p:sldId id="614" r:id="rId26"/>
    <p:sldId id="634" r:id="rId27"/>
    <p:sldId id="591" r:id="rId28"/>
    <p:sldId id="615" r:id="rId29"/>
    <p:sldId id="492" r:id="rId30"/>
    <p:sldId id="617" r:id="rId31"/>
    <p:sldId id="640" r:id="rId32"/>
    <p:sldId id="618" r:id="rId33"/>
    <p:sldId id="619" r:id="rId34"/>
    <p:sldId id="620" r:id="rId35"/>
    <p:sldId id="626" r:id="rId36"/>
    <p:sldId id="592" r:id="rId37"/>
    <p:sldId id="627" r:id="rId38"/>
    <p:sldId id="628" r:id="rId39"/>
    <p:sldId id="493" r:id="rId40"/>
    <p:sldId id="622" r:id="rId41"/>
    <p:sldId id="394" r:id="rId42"/>
    <p:sldId id="499" r:id="rId43"/>
    <p:sldId id="580" r:id="rId44"/>
    <p:sldId id="472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0415" autoAdjust="0"/>
    <p:restoredTop sz="94531" autoAdjust="0"/>
  </p:normalViewPr>
  <p:slideViewPr>
    <p:cSldViewPr>
      <p:cViewPr varScale="1">
        <p:scale>
          <a:sx n="74" d="100"/>
          <a:sy n="74" d="100"/>
        </p:scale>
        <p:origin x="166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2EF7181D-11A1-4DFB-BCD4-EBA1EB0B00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4592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49A4A90-05A1-497D-8499-8E4CBE2B435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727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73330-2EFD-400B-A3EF-04D875DCBF7B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C" dirty="0" smtClean="0"/>
          </a:p>
        </p:txBody>
      </p:sp>
    </p:spTree>
    <p:extLst>
      <p:ext uri="{BB962C8B-B14F-4D97-AF65-F5344CB8AC3E}">
        <p14:creationId xmlns:p14="http://schemas.microsoft.com/office/powerpoint/2010/main" val="159017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761A65D-E589-4A9D-8CE1-928ADA9404A5}" type="slidenum">
              <a:rPr lang="en-US" sz="1200" smtClean="0">
                <a:solidFill>
                  <a:schemeClr val="tx1"/>
                </a:solidFill>
              </a:rPr>
              <a:pPr eaLnBrk="1" hangingPunct="1"/>
              <a:t>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621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EE845836-055A-4B62-B854-01C4FEC8C1ED}" type="slidenum">
              <a:rPr lang="en-US" sz="1200" smtClean="0">
                <a:solidFill>
                  <a:schemeClr val="tx1"/>
                </a:solidFill>
              </a:rPr>
              <a:pPr eaLnBrk="1" hangingPunct="1"/>
              <a:t>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704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7B38CCE5-F5D8-4DD8-8E6B-A80C3C8C8258}" type="slidenum">
              <a:rPr lang="en-US" sz="1200" smtClean="0">
                <a:solidFill>
                  <a:schemeClr val="tx1"/>
                </a:solidFill>
              </a:rPr>
              <a:pPr eaLnBrk="1" hangingPunct="1"/>
              <a:t>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782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9110601A-0171-49BE-B634-93F7FFA022B5}" type="slidenum">
              <a:rPr lang="en-US" sz="1200" smtClean="0">
                <a:solidFill>
                  <a:schemeClr val="tx1"/>
                </a:solidFill>
              </a:rPr>
              <a:pPr eaLnBrk="1" hangingPunct="1"/>
              <a:t>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431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8EEA6150-EFE9-4A48-BE81-8CD5AB3AD4AE}" type="slidenum">
              <a:rPr lang="en-US" sz="1200" smtClean="0">
                <a:solidFill>
                  <a:schemeClr val="tx1"/>
                </a:solidFill>
              </a:rPr>
              <a:pPr eaLnBrk="1" hangingPunct="1"/>
              <a:t>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046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9110601A-0171-49BE-B634-93F7FFA022B5}" type="slidenum">
              <a:rPr lang="en-US" sz="1200" smtClean="0">
                <a:solidFill>
                  <a:schemeClr val="tx1"/>
                </a:solidFill>
              </a:rPr>
              <a:pPr eaLnBrk="1" hangingPunct="1"/>
              <a:t>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78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9110601A-0171-49BE-B634-93F7FFA022B5}" type="slidenum">
              <a:rPr lang="en-US" sz="1200" smtClean="0">
                <a:solidFill>
                  <a:schemeClr val="tx1"/>
                </a:solidFill>
              </a:rPr>
              <a:pPr eaLnBrk="1" hangingPunct="1"/>
              <a:t>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890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571C738C-563E-4112-A4A7-7DA7CE11061C}" type="slidenum">
              <a:rPr lang="en-US" sz="1200" smtClean="0">
                <a:solidFill>
                  <a:schemeClr val="tx1"/>
                </a:solidFill>
              </a:rPr>
              <a:pPr eaLnBrk="1" hangingPunct="1"/>
              <a:t>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7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CB3C0271-D2A1-4D2E-8C5D-8BEE7829473B}" type="slidenum">
              <a:rPr lang="en-US" sz="1200" smtClean="0">
                <a:solidFill>
                  <a:schemeClr val="tx1"/>
                </a:solidFill>
              </a:rPr>
              <a:pPr eaLnBrk="1" hangingPunct="1"/>
              <a:t>10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829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A89B993-5924-4DC4-ADE2-F35C82CAF6ED}" type="slidenum">
              <a:rPr lang="en-US" sz="1200" smtClean="0">
                <a:solidFill>
                  <a:schemeClr val="tx1"/>
                </a:solidFill>
              </a:rPr>
              <a:pPr eaLnBrk="1" hangingPunct="1"/>
              <a:t>11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5598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76B4A6BD-5CF5-4E79-A854-0F5F8DC3A17F}" type="slidenum">
              <a:rPr lang="en-US" sz="1200" smtClean="0">
                <a:solidFill>
                  <a:schemeClr val="tx1"/>
                </a:solidFill>
              </a:rPr>
              <a:pPr eaLnBrk="1" hangingPunct="1"/>
              <a:t>12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00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76B4A6BD-5CF5-4E79-A854-0F5F8DC3A17F}" type="slidenum">
              <a:rPr lang="en-US" sz="1200" smtClean="0">
                <a:solidFill>
                  <a:schemeClr val="tx1"/>
                </a:solidFill>
              </a:rPr>
              <a:pPr eaLnBrk="1" hangingPunct="1"/>
              <a:t>13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4109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76B4A6BD-5CF5-4E79-A854-0F5F8DC3A17F}" type="slidenum">
              <a:rPr lang="en-US" sz="1200" smtClean="0">
                <a:solidFill>
                  <a:schemeClr val="tx1"/>
                </a:solidFill>
              </a:rPr>
              <a:pPr eaLnBrk="1" hangingPunct="1"/>
              <a:t>14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770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B2B88CF0-2AFB-4588-8509-3CB7A99777D4}" type="slidenum">
              <a:rPr lang="en-US" sz="1200" smtClean="0">
                <a:solidFill>
                  <a:schemeClr val="tx1"/>
                </a:solidFill>
              </a:rPr>
              <a:pPr eaLnBrk="1" hangingPunct="1"/>
              <a:t>15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721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44F2E8F3-48A1-4050-A5DD-89EFF409E2BD}" type="slidenum">
              <a:rPr lang="en-US" sz="1200" smtClean="0">
                <a:solidFill>
                  <a:schemeClr val="tx1"/>
                </a:solidFill>
              </a:rPr>
              <a:pPr eaLnBrk="1" hangingPunct="1"/>
              <a:t>16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9138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EA38AB5F-08F2-4146-8643-065D8996FF72}" type="slidenum">
              <a:rPr lang="en-US" sz="1200" smtClean="0">
                <a:solidFill>
                  <a:schemeClr val="tx1"/>
                </a:solidFill>
              </a:rPr>
              <a:pPr eaLnBrk="1" hangingPunct="1"/>
              <a:t>17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563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4C4AB931-1BCF-48A3-B42A-F335B29E9932}" type="slidenum">
              <a:rPr lang="en-US" sz="1200" smtClean="0">
                <a:solidFill>
                  <a:schemeClr val="tx1"/>
                </a:solidFill>
              </a:rPr>
              <a:pPr eaLnBrk="1" hangingPunct="1"/>
              <a:t>18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2446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575155A9-453F-4998-B792-84DE595A34F3}" type="slidenum">
              <a:rPr lang="en-US" sz="1200" smtClean="0">
                <a:solidFill>
                  <a:schemeClr val="tx1"/>
                </a:solidFill>
              </a:rPr>
              <a:pPr eaLnBrk="1" hangingPunct="1"/>
              <a:t>19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9719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0B145FF5-9C12-4DAD-9FC3-8F02C8908250}" type="slidenum">
              <a:rPr lang="en-US" sz="1200" smtClean="0">
                <a:solidFill>
                  <a:schemeClr val="tx1"/>
                </a:solidFill>
              </a:rPr>
              <a:pPr eaLnBrk="1" hangingPunct="1"/>
              <a:t>20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7375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582D156A-7699-42E2-883D-65D3AB1EE798}" type="slidenum">
              <a:rPr lang="en-US" sz="1200" smtClean="0">
                <a:solidFill>
                  <a:schemeClr val="tx1"/>
                </a:solidFill>
              </a:rPr>
              <a:pPr eaLnBrk="1" hangingPunct="1"/>
              <a:t>21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9898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48E3A133-9B25-4376-B5E7-8C1D90348718}" type="slidenum">
              <a:rPr lang="en-US" sz="1200" smtClean="0">
                <a:solidFill>
                  <a:schemeClr val="tx1"/>
                </a:solidFill>
              </a:rPr>
              <a:pPr eaLnBrk="1" hangingPunct="1"/>
              <a:t>22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2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9A4A90-05A1-497D-8499-8E4CBE2B4354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56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4C52C1B-1DB2-4685-AE46-C87987B92C20}" type="slidenum">
              <a:rPr lang="en-US" sz="1200" smtClean="0">
                <a:solidFill>
                  <a:schemeClr val="tx1"/>
                </a:solidFill>
              </a:rPr>
              <a:pPr eaLnBrk="1" hangingPunct="1"/>
              <a:t>24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1975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9441C9E5-204C-44EF-8BB3-A2DE4A28CA01}" type="slidenum">
              <a:rPr lang="en-US" sz="1200" smtClean="0">
                <a:solidFill>
                  <a:schemeClr val="tx1"/>
                </a:solidFill>
              </a:rPr>
              <a:pPr eaLnBrk="1" hangingPunct="1"/>
              <a:t>25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0349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9A4A90-05A1-497D-8499-8E4CBE2B4354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6874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3D1DA73-4A31-4EC4-A79D-9CB2A87E8794}" type="slidenum">
              <a:rPr lang="en-US" sz="1200" smtClean="0">
                <a:solidFill>
                  <a:schemeClr val="tx1"/>
                </a:solidFill>
              </a:rPr>
              <a:pPr eaLnBrk="1" hangingPunct="1"/>
              <a:t>27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036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11A4257-F353-4CF5-89C0-A9AE56383845}" type="slidenum">
              <a:rPr lang="en-US" sz="1200" smtClean="0">
                <a:solidFill>
                  <a:schemeClr val="tx1"/>
                </a:solidFill>
              </a:rPr>
              <a:pPr eaLnBrk="1" hangingPunct="1"/>
              <a:t>28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2244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9F8B42F6-CBD5-41D2-B90B-1028B9AC63C4}" type="slidenum">
              <a:rPr lang="en-US" sz="1200" smtClean="0">
                <a:solidFill>
                  <a:schemeClr val="tx1"/>
                </a:solidFill>
              </a:rPr>
              <a:pPr eaLnBrk="1" hangingPunct="1"/>
              <a:t>29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5036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781A72D0-9A4E-47DB-908A-BD15BBAAC903}" type="slidenum">
              <a:rPr lang="en-US" sz="1200" smtClean="0">
                <a:solidFill>
                  <a:schemeClr val="tx1"/>
                </a:solidFill>
              </a:rPr>
              <a:pPr eaLnBrk="1" hangingPunct="1"/>
              <a:t>30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2213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781A72D0-9A4E-47DB-908A-BD15BBAAC903}" type="slidenum">
              <a:rPr lang="en-US" sz="1200" smtClean="0">
                <a:solidFill>
                  <a:schemeClr val="tx1"/>
                </a:solidFill>
              </a:rPr>
              <a:pPr eaLnBrk="1" hangingPunct="1"/>
              <a:t>31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0963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BE4DD9EC-07E5-4AEB-94DA-1E48CB4F0EDC}" type="slidenum">
              <a:rPr lang="en-US" sz="1200" smtClean="0">
                <a:solidFill>
                  <a:schemeClr val="tx1"/>
                </a:solidFill>
              </a:rPr>
              <a:pPr eaLnBrk="1" hangingPunct="1"/>
              <a:t>32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6309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38B59C87-E2D3-4DAA-B503-22CB4289FA7E}" type="slidenum">
              <a:rPr lang="en-US" sz="1200" smtClean="0">
                <a:solidFill>
                  <a:schemeClr val="tx1"/>
                </a:solidFill>
              </a:rPr>
              <a:pPr eaLnBrk="1" hangingPunct="1"/>
              <a:t>33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478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7AED665-AB3C-4466-9847-9AA0A3ACB433}" type="slidenum">
              <a:rPr lang="en-US" sz="1200" smtClean="0">
                <a:solidFill>
                  <a:schemeClr val="tx1"/>
                </a:solidFill>
              </a:rPr>
              <a:pPr eaLnBrk="1" hangingPunct="1"/>
              <a:t>34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2985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9A4A90-05A1-497D-8499-8E4CBE2B4354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1730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B775A8E5-CB6A-46EC-B16F-0D82F54488A7}" type="slidenum">
              <a:rPr lang="en-US" sz="1200" smtClean="0">
                <a:solidFill>
                  <a:schemeClr val="tx1"/>
                </a:solidFill>
              </a:rPr>
              <a:pPr eaLnBrk="1" hangingPunct="1"/>
              <a:t>36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1827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9A4A90-05A1-497D-8499-8E4CBE2B4354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0781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9A4A90-05A1-497D-8499-8E4CBE2B4354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5867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6D2D0531-74AB-4CAF-9793-63578E66DE0E}" type="slidenum">
              <a:rPr lang="en-US" sz="1200" smtClean="0">
                <a:solidFill>
                  <a:schemeClr val="tx1"/>
                </a:solidFill>
              </a:rPr>
              <a:pPr eaLnBrk="1" hangingPunct="1"/>
              <a:t>39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2989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BD6ABEC2-99C1-4B93-941E-A9568494C926}" type="slidenum">
              <a:rPr lang="en-US" sz="1200" smtClean="0">
                <a:solidFill>
                  <a:schemeClr val="tx1"/>
                </a:solidFill>
              </a:rPr>
              <a:pPr eaLnBrk="1" hangingPunct="1"/>
              <a:t>40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5844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BED5803E-166E-4531-95E4-1AE1BD459E9D}" type="slidenum">
              <a:rPr lang="en-US" sz="1200" smtClean="0">
                <a:solidFill>
                  <a:schemeClr val="tx1"/>
                </a:solidFill>
              </a:rPr>
              <a:pPr eaLnBrk="1" hangingPunct="1"/>
              <a:t>41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32592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873EA25-05D2-4469-AC3D-5AD7C1A9348C}" type="slidenum">
              <a:rPr lang="en-US" sz="1200" smtClean="0">
                <a:solidFill>
                  <a:schemeClr val="tx1"/>
                </a:solidFill>
              </a:rPr>
              <a:pPr eaLnBrk="1" hangingPunct="1"/>
              <a:t>42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35287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3237162A-FFA4-4375-85C2-0C263B14FB1A}" type="slidenum">
              <a:rPr lang="en-US" sz="1200" smtClean="0">
                <a:solidFill>
                  <a:schemeClr val="tx1"/>
                </a:solidFill>
              </a:rPr>
              <a:pPr eaLnBrk="1" hangingPunct="1"/>
              <a:t>43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9355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0FDF5374-7AFE-4E97-ADBF-98818AD07F20}" type="slidenum">
              <a:rPr lang="en-US" sz="1200" smtClean="0">
                <a:solidFill>
                  <a:schemeClr val="tx1"/>
                </a:solidFill>
              </a:rPr>
              <a:pPr eaLnBrk="1" hangingPunct="1"/>
              <a:t>44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039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0" y="3581400"/>
            <a:ext cx="4800600" cy="1981200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Chapter 1: </a:t>
            </a:r>
          </a:p>
          <a:p>
            <a:r>
              <a:rPr lang="en-US" dirty="0" smtClean="0"/>
              <a:t>Title Goes Here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457200"/>
            <a:ext cx="5038725" cy="59009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4FDBD-CBB0-40FE-B24E-8D474E1091B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6324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3581400" y="6356350"/>
            <a:ext cx="42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23C8D8-735F-4C17-814F-221784FAFDC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245FA-F0DF-447E-9690-20916A907A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0238A7-DB95-44CB-B69F-FAE57CB5F66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4E88-5AFF-40EC-B2E8-07E6E97710C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0DD02-82DB-4D71-B122-61F2489FE9B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CF209-AF9A-4428-866D-E91FF74CFA4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CB5ED-FBB9-425E-8C40-C40DDC06D9F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67359-2CC9-4DF8-997B-9EFEFA9E30F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DECOLORED2.jp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AC0344B8-D862-451D-8FE0-8F1ECBFFE14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662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dirty="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3581400" y="6356350"/>
            <a:ext cx="42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558ED5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4191000" y="3581400"/>
            <a:ext cx="4800600" cy="129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Chapter 2:</a:t>
            </a:r>
          </a:p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Using Data</a:t>
            </a:r>
          </a:p>
        </p:txBody>
      </p:sp>
    </p:spTree>
    <p:extLst>
      <p:ext uri="{BB962C8B-B14F-4D97-AF65-F5344CB8AC3E}">
        <p14:creationId xmlns:p14="http://schemas.microsoft.com/office/powerpoint/2010/main" val="196211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Objectives</a:t>
            </a:r>
          </a:p>
        </p:txBody>
      </p:sp>
      <p:sp>
        <p:nvSpPr>
          <p:cNvPr id="41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Learn about declaring variables</a:t>
            </a:r>
          </a:p>
          <a:p>
            <a:pPr eaLnBrk="1" hangingPunct="1"/>
            <a:r>
              <a:rPr lang="en-US" dirty="0" smtClean="0"/>
              <a:t>Display variable values</a:t>
            </a:r>
          </a:p>
          <a:p>
            <a:pPr eaLnBrk="1" hangingPunct="1"/>
            <a:r>
              <a:rPr lang="en-US" dirty="0" smtClean="0"/>
              <a:t>Learn about the integral data types</a:t>
            </a:r>
          </a:p>
          <a:p>
            <a:pPr eaLnBrk="1" hangingPunct="1"/>
            <a:r>
              <a:rPr lang="en-US" dirty="0" smtClean="0"/>
              <a:t>Learn about floating-point data types</a:t>
            </a:r>
          </a:p>
          <a:p>
            <a:pPr eaLnBrk="1" hangingPunct="1"/>
            <a:r>
              <a:rPr lang="en-US" dirty="0" smtClean="0"/>
              <a:t>Use arithmetic operators</a:t>
            </a:r>
          </a:p>
        </p:txBody>
      </p:sp>
      <p:sp>
        <p:nvSpPr>
          <p:cNvPr id="4100" name="Footer Placeholder 3"/>
          <p:cNvSpPr txBox="1">
            <a:spLocks noGrp="1"/>
          </p:cNvSpPr>
          <p:nvPr/>
        </p:nvSpPr>
        <p:spPr bwMode="auto">
          <a:xfrm>
            <a:off x="4572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04FDBD-CBB0-40FE-B24E-8D474E1091B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</a:t>
            </a:r>
            <a:r>
              <a:rPr lang="en-US" dirty="0"/>
              <a:t>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Objectives </a:t>
            </a:r>
            <a:r>
              <a:rPr lang="en-US" sz="1200" spc="-200" dirty="0"/>
              <a:t>(cont’d.)</a:t>
            </a:r>
          </a:p>
        </p:txBody>
      </p:sp>
      <p:sp>
        <p:nvSpPr>
          <p:cNvPr id="51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Learn about the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bool</a:t>
            </a:r>
            <a:r>
              <a:rPr lang="en-US" dirty="0" smtClean="0"/>
              <a:t> data type</a:t>
            </a:r>
          </a:p>
          <a:p>
            <a:pPr eaLnBrk="1" hangingPunct="1"/>
            <a:r>
              <a:rPr lang="en-US" dirty="0" smtClean="0"/>
              <a:t>Learn about numeric type conversion</a:t>
            </a:r>
          </a:p>
          <a:p>
            <a:pPr eaLnBrk="1" hangingPunct="1"/>
            <a:r>
              <a:rPr lang="en-US" dirty="0" smtClean="0"/>
              <a:t>Learn about the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char</a:t>
            </a:r>
            <a:r>
              <a:rPr lang="en-US" dirty="0" smtClean="0"/>
              <a:t> data type</a:t>
            </a:r>
          </a:p>
          <a:p>
            <a:pPr eaLnBrk="1" hangingPunct="1"/>
            <a:r>
              <a:rPr lang="en-US" dirty="0" smtClean="0"/>
              <a:t>Learn about the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string</a:t>
            </a:r>
            <a:r>
              <a:rPr lang="en-US" dirty="0" smtClean="0"/>
              <a:t> data type</a:t>
            </a:r>
          </a:p>
          <a:p>
            <a:pPr eaLnBrk="1" hangingPunct="1"/>
            <a:r>
              <a:rPr lang="en-US" dirty="0" smtClean="0"/>
              <a:t>Define named constants and enumerations</a:t>
            </a:r>
          </a:p>
          <a:p>
            <a:pPr eaLnBrk="1" hangingPunct="1"/>
            <a:r>
              <a:rPr lang="en-US" dirty="0" smtClean="0"/>
              <a:t>Accept console input</a:t>
            </a:r>
          </a:p>
        </p:txBody>
      </p:sp>
      <p:sp>
        <p:nvSpPr>
          <p:cNvPr id="5124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04FDBD-CBB0-40FE-B24E-8D474E1091B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Declaring Variables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Constant</a:t>
            </a:r>
          </a:p>
          <a:p>
            <a:pPr lvl="1" eaLnBrk="1" hangingPunct="1"/>
            <a:r>
              <a:rPr lang="en-US" dirty="0" smtClean="0"/>
              <a:t>Cannot be changed after a program is compiled</a:t>
            </a:r>
          </a:p>
          <a:p>
            <a:pPr eaLnBrk="1" hangingPunct="1"/>
            <a:r>
              <a:rPr lang="en-US" b="1" dirty="0" smtClean="0"/>
              <a:t>Literal constant</a:t>
            </a:r>
          </a:p>
          <a:p>
            <a:pPr lvl="1" eaLnBrk="1" hangingPunct="1"/>
            <a:r>
              <a:rPr lang="en-US" dirty="0" smtClean="0"/>
              <a:t>Its value is taken literally at each use</a:t>
            </a:r>
          </a:p>
          <a:p>
            <a:pPr eaLnBrk="1" hangingPunct="1"/>
            <a:r>
              <a:rPr lang="en-US" b="1" dirty="0" smtClean="0"/>
              <a:t>Variable</a:t>
            </a:r>
          </a:p>
          <a:p>
            <a:pPr lvl="1" eaLnBrk="1" hangingPunct="1"/>
            <a:r>
              <a:rPr lang="en-US" dirty="0" smtClean="0"/>
              <a:t>A named location in computer memory that can hold different values at different points in time</a:t>
            </a:r>
          </a:p>
          <a:p>
            <a:pPr eaLnBrk="1" hangingPunct="1"/>
            <a:r>
              <a:rPr lang="en-US" b="1" dirty="0" smtClean="0"/>
              <a:t>Data type</a:t>
            </a:r>
          </a:p>
          <a:p>
            <a:pPr lvl="1" eaLnBrk="1" hangingPunct="1"/>
            <a:r>
              <a:rPr lang="en-US" dirty="0" smtClean="0"/>
              <a:t>Describes the format and size of (amount of memory occupied by) a data item</a:t>
            </a:r>
          </a:p>
        </p:txBody>
      </p:sp>
      <p:sp>
        <p:nvSpPr>
          <p:cNvPr id="6150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04FDBD-CBB0-40FE-B24E-8D474E1091B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Declaring Variables </a:t>
            </a:r>
            <a:r>
              <a:rPr lang="en-US" sz="1200" spc="-200" dirty="0"/>
              <a:t>(cont’d.)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Intrinsic Types </a:t>
            </a:r>
            <a:r>
              <a:rPr lang="en-US" sz="1600" b="1" dirty="0" smtClean="0"/>
              <a:t>(list appears on next slide)</a:t>
            </a:r>
          </a:p>
          <a:p>
            <a:pPr lvl="1" eaLnBrk="1" hangingPunct="1"/>
            <a:r>
              <a:rPr lang="en-US" dirty="0" smtClean="0"/>
              <a:t>Built-in Date Types</a:t>
            </a:r>
          </a:p>
          <a:p>
            <a:pPr lvl="1" eaLnBrk="1" hangingPunct="1"/>
            <a:r>
              <a:rPr lang="en-US" b="1" dirty="0" smtClean="0"/>
              <a:t>Alias</a:t>
            </a:r>
            <a:r>
              <a:rPr lang="en-US" dirty="0" smtClean="0"/>
              <a:t> names for a class in the </a:t>
            </a:r>
            <a:r>
              <a:rPr lang="en-US" dirty="0" smtClean="0">
                <a:latin typeface="SimSun" panose="02010600030101010101" pitchFamily="2" charset="-122"/>
                <a:ea typeface="SimSun" panose="02010600030101010101" pitchFamily="2" charset="-122"/>
              </a:rPr>
              <a:t>System</a:t>
            </a:r>
            <a:r>
              <a:rPr lang="en-US" dirty="0" smtClean="0"/>
              <a:t> namespace</a:t>
            </a:r>
          </a:p>
          <a:p>
            <a:pPr lvl="1"/>
            <a:r>
              <a:rPr lang="en-US" dirty="0"/>
              <a:t>All of the built-in types except object and string are called </a:t>
            </a:r>
            <a:r>
              <a:rPr lang="en-US" b="1" dirty="0"/>
              <a:t>simple </a:t>
            </a:r>
            <a:r>
              <a:rPr lang="en-US" b="1" dirty="0" smtClean="0"/>
              <a:t>types</a:t>
            </a:r>
          </a:p>
          <a:p>
            <a:r>
              <a:rPr lang="en-US" b="1" dirty="0"/>
              <a:t>Unicode</a:t>
            </a:r>
            <a:r>
              <a:rPr lang="en-US" dirty="0"/>
              <a:t> is the system that provides a numeric value </a:t>
            </a:r>
            <a:r>
              <a:rPr lang="en-US" dirty="0" smtClean="0"/>
              <a:t>for every </a:t>
            </a:r>
            <a:r>
              <a:rPr lang="en-US" dirty="0"/>
              <a:t>character.</a:t>
            </a:r>
            <a:endParaRPr lang="en-US" dirty="0" smtClean="0"/>
          </a:p>
        </p:txBody>
      </p:sp>
      <p:sp>
        <p:nvSpPr>
          <p:cNvPr id="8198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 smtClean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04FDBD-CBB0-40FE-B24E-8D474E1091B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4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7E4E88-5AFF-40EC-B2E8-07E6E97710C0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0259"/>
            <a:ext cx="5919787" cy="63605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Declaring Variables </a:t>
            </a:r>
            <a:r>
              <a:rPr lang="en-US" sz="1200" spc="-200" dirty="0"/>
              <a:t>(cont’d.)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Variable declaration</a:t>
            </a:r>
          </a:p>
          <a:p>
            <a:pPr lvl="1" eaLnBrk="1" hangingPunct="1"/>
            <a:r>
              <a:rPr lang="en-US" dirty="0" smtClean="0"/>
              <a:t>A statement that names a variable and reserves storage</a:t>
            </a:r>
          </a:p>
          <a:p>
            <a:pPr lvl="1" eaLnBrk="1" hangingPunct="1"/>
            <a:r>
              <a:rPr lang="en-US" dirty="0" smtClean="0"/>
              <a:t>Example: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int myAge = 25;</a:t>
            </a:r>
          </a:p>
          <a:p>
            <a:pPr lvl="1" eaLnBrk="1" hangingPunct="1"/>
            <a:r>
              <a:rPr lang="en-US" dirty="0" smtClean="0"/>
              <a:t>You can declare multiple variables of the same type in  separate statements on different lines – or You can declare two variables of the same type in a single statement by using the type once and separating the variable declarations with a comma</a:t>
            </a:r>
          </a:p>
        </p:txBody>
      </p:sp>
      <p:sp>
        <p:nvSpPr>
          <p:cNvPr id="8198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 smtClean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04FDBD-CBB0-40FE-B24E-8D474E1091B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79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Declaring Variables </a:t>
            </a:r>
            <a:r>
              <a:rPr lang="en-US" sz="1200" spc="-200" dirty="0"/>
              <a:t>(cont’d.)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equal sign (=) is the </a:t>
            </a:r>
            <a:r>
              <a:rPr lang="en-US" sz="2400" b="1" dirty="0"/>
              <a:t>assignment </a:t>
            </a:r>
            <a:r>
              <a:rPr lang="en-US" sz="2400" b="1" dirty="0" smtClean="0"/>
              <a:t>operator</a:t>
            </a:r>
            <a:endParaRPr lang="en-US" dirty="0" smtClean="0"/>
          </a:p>
          <a:p>
            <a:pPr lvl="1"/>
            <a:r>
              <a:rPr lang="en-US" dirty="0"/>
              <a:t>A</a:t>
            </a:r>
            <a:r>
              <a:rPr lang="en-US" dirty="0" smtClean="0"/>
              <a:t>ny </a:t>
            </a:r>
            <a:r>
              <a:rPr lang="en-US" dirty="0"/>
              <a:t>value to the right of the </a:t>
            </a:r>
            <a:r>
              <a:rPr lang="en-US" dirty="0" smtClean="0"/>
              <a:t>assignment operator is </a:t>
            </a:r>
            <a:r>
              <a:rPr lang="en-US" dirty="0"/>
              <a:t>assigned to the identifier to the </a:t>
            </a:r>
            <a:r>
              <a:rPr lang="en-US" dirty="0" smtClean="0"/>
              <a:t>left</a:t>
            </a:r>
          </a:p>
          <a:p>
            <a:pPr lvl="1"/>
            <a:r>
              <a:rPr lang="en-US" dirty="0" smtClean="0"/>
              <a:t>An </a:t>
            </a:r>
            <a:r>
              <a:rPr lang="en-US" dirty="0"/>
              <a:t>assignment made when a variable </a:t>
            </a:r>
            <a:r>
              <a:rPr lang="en-US" dirty="0" smtClean="0"/>
              <a:t>is declared </a:t>
            </a:r>
            <a:r>
              <a:rPr lang="en-US" dirty="0"/>
              <a:t>is an </a:t>
            </a:r>
            <a:r>
              <a:rPr lang="en-US" sz="2400" b="1" dirty="0" smtClean="0"/>
              <a:t>initialization</a:t>
            </a:r>
            <a:endParaRPr lang="en-US" dirty="0" smtClean="0"/>
          </a:p>
          <a:p>
            <a:pPr lvl="1"/>
            <a:r>
              <a:rPr lang="en-US" dirty="0" smtClean="0"/>
              <a:t>An </a:t>
            </a:r>
            <a:r>
              <a:rPr lang="en-US" dirty="0"/>
              <a:t>assignment made later is simply an </a:t>
            </a:r>
            <a:r>
              <a:rPr lang="en-US" sz="2400" b="1" dirty="0"/>
              <a:t>assignment</a:t>
            </a:r>
            <a:endParaRPr lang="en-US" dirty="0" smtClean="0"/>
          </a:p>
        </p:txBody>
      </p:sp>
      <p:sp>
        <p:nvSpPr>
          <p:cNvPr id="8198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 smtClean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04FDBD-CBB0-40FE-B24E-8D474E1091B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78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Displaying Variable Values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904FDBD-CBB0-40FE-B24E-8D474E1091B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9388"/>
            <a:ext cx="4868333" cy="30679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4456038"/>
            <a:ext cx="5410200" cy="18892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Displaying Variable Values </a:t>
            </a:r>
            <a:r>
              <a:rPr lang="en-US" sz="1200" spc="-200" dirty="0"/>
              <a:t>(cont’d.)</a:t>
            </a:r>
          </a:p>
        </p:txBody>
      </p:sp>
      <p:sp>
        <p:nvSpPr>
          <p:cNvPr id="10245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0"/>
            <a:ext cx="5105400" cy="29444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4225607"/>
            <a:ext cx="5748867" cy="21148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Displaying Variable Values </a:t>
            </a:r>
            <a:r>
              <a:rPr lang="en-US" sz="1200" spc="-200" dirty="0"/>
              <a:t>(cont’d.)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0772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Format string</a:t>
            </a:r>
          </a:p>
          <a:p>
            <a:pPr lvl="1" eaLnBrk="1" hangingPunct="1"/>
            <a:r>
              <a:rPr lang="en-US" dirty="0" smtClean="0"/>
              <a:t>A string of characters that optionally contains fixed text </a:t>
            </a:r>
          </a:p>
          <a:p>
            <a:pPr lvl="1" eaLnBrk="1" hangingPunct="1"/>
            <a:r>
              <a:rPr lang="en-US" dirty="0" smtClean="0"/>
              <a:t>Contains one or more format items or placeholders for variable values</a:t>
            </a:r>
          </a:p>
          <a:p>
            <a:pPr eaLnBrk="1" hangingPunct="1"/>
            <a:r>
              <a:rPr lang="en-US" b="1" dirty="0" smtClean="0"/>
              <a:t>Placeholder</a:t>
            </a:r>
          </a:p>
          <a:p>
            <a:pPr lvl="1" eaLnBrk="1" hangingPunct="1"/>
            <a:r>
              <a:rPr lang="en-US" dirty="0" smtClean="0"/>
              <a:t>Consists of a pair of curly braces containing a number that indicates the desired variable’s position in a list that follows the string</a:t>
            </a:r>
          </a:p>
        </p:txBody>
      </p:sp>
      <p:sp>
        <p:nvSpPr>
          <p:cNvPr id="13318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</a:t>
            </a:r>
            <a:r>
              <a:rPr lang="en-US" dirty="0"/>
              <a:t>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Displaying Variable Values </a:t>
            </a:r>
            <a:r>
              <a:rPr lang="en-US" sz="1200" spc="-200" dirty="0"/>
              <a:t>(cont’d.)</a:t>
            </a:r>
          </a:p>
        </p:txBody>
      </p:sp>
      <p:sp>
        <p:nvSpPr>
          <p:cNvPr id="12293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600200"/>
            <a:ext cx="6822510" cy="2895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396" y="4343400"/>
            <a:ext cx="5353280" cy="201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Displaying Variable Values </a:t>
            </a:r>
            <a:r>
              <a:rPr lang="en-US" sz="1200" spc="-200" dirty="0"/>
              <a:t>(cont’d.)</a:t>
            </a:r>
          </a:p>
        </p:txBody>
      </p:sp>
      <p:sp>
        <p:nvSpPr>
          <p:cNvPr id="12293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1447800"/>
            <a:ext cx="6825297" cy="24376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9" y="3839633"/>
            <a:ext cx="6471557" cy="251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3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Displaying Variable Values </a:t>
            </a:r>
            <a:r>
              <a:rPr lang="en-US" sz="1200" spc="-200" dirty="0"/>
              <a:t>(cont’d.)</a:t>
            </a:r>
          </a:p>
        </p:txBody>
      </p:sp>
      <p:sp>
        <p:nvSpPr>
          <p:cNvPr id="12293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981200"/>
            <a:ext cx="6422553" cy="386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Integral Data Types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98021" y="1676400"/>
            <a:ext cx="80772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Integral</a:t>
            </a:r>
            <a:r>
              <a:rPr lang="en-US" dirty="0" smtClean="0"/>
              <a:t> </a:t>
            </a:r>
            <a:r>
              <a:rPr lang="en-US" b="1" dirty="0" smtClean="0"/>
              <a:t>data types</a:t>
            </a:r>
          </a:p>
          <a:p>
            <a:pPr lvl="1" eaLnBrk="1" hangingPunct="1"/>
            <a:r>
              <a:rPr lang="en-US" dirty="0" smtClean="0"/>
              <a:t>Types that store whole numbers</a:t>
            </a:r>
          </a:p>
          <a:p>
            <a:pPr lvl="1" eaLnBrk="1" hangingPunct="1"/>
            <a:r>
              <a:rPr lang="en-US" b="1" dirty="0" smtClean="0">
                <a:latin typeface="Courier New" pitchFamily="1" charset="0"/>
                <a:cs typeface="Courier New" pitchFamily="1" charset="0"/>
              </a:rPr>
              <a:t>byte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1" charset="0"/>
                <a:cs typeface="Courier New" pitchFamily="1" charset="0"/>
              </a:rPr>
              <a:t>sbyte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1" charset="0"/>
                <a:cs typeface="Courier New" pitchFamily="1" charset="0"/>
              </a:rPr>
              <a:t>short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1" charset="0"/>
                <a:cs typeface="Courier New" pitchFamily="1" charset="0"/>
              </a:rPr>
              <a:t>ushort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1" charset="0"/>
                <a:cs typeface="Courier New" pitchFamily="1" charset="0"/>
              </a:rPr>
              <a:t>int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1" charset="0"/>
                <a:cs typeface="Courier New" pitchFamily="1" charset="0"/>
              </a:rPr>
              <a:t>uint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1" charset="0"/>
                <a:cs typeface="Courier New" pitchFamily="1" charset="0"/>
              </a:rPr>
              <a:t>long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1" charset="0"/>
                <a:cs typeface="Courier New" pitchFamily="1" charset="0"/>
              </a:rPr>
              <a:t>ulong</a:t>
            </a:r>
            <a:r>
              <a:rPr lang="en-US" dirty="0" smtClean="0"/>
              <a:t>, and </a:t>
            </a:r>
            <a:r>
              <a:rPr lang="en-US" b="1" dirty="0" smtClean="0">
                <a:latin typeface="Courier New" pitchFamily="1" charset="0"/>
                <a:cs typeface="Courier New" pitchFamily="1" charset="0"/>
              </a:rPr>
              <a:t>char</a:t>
            </a:r>
          </a:p>
          <a:p>
            <a:pPr eaLnBrk="1" hangingPunct="1"/>
            <a:r>
              <a:rPr lang="en-US" dirty="0" smtClean="0"/>
              <a:t>Variables of type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int </a:t>
            </a:r>
          </a:p>
          <a:p>
            <a:pPr lvl="1" eaLnBrk="1" hangingPunct="1"/>
            <a:r>
              <a:rPr lang="en-US" dirty="0" smtClean="0"/>
              <a:t>Store (or hold) </a:t>
            </a:r>
            <a:r>
              <a:rPr lang="en-US" b="1" dirty="0" smtClean="0"/>
              <a:t>integers</a:t>
            </a:r>
            <a:r>
              <a:rPr lang="en-US" dirty="0" smtClean="0"/>
              <a:t>, or whole numbers</a:t>
            </a:r>
          </a:p>
          <a:p>
            <a:pPr eaLnBrk="1" hangingPunct="1"/>
            <a:r>
              <a:rPr lang="en-US" dirty="0" smtClean="0"/>
              <a:t>Shorter integer types</a:t>
            </a:r>
          </a:p>
          <a:p>
            <a:pPr lvl="1" eaLnBrk="1" hangingPunct="1"/>
            <a:r>
              <a:rPr lang="en-US" dirty="0" smtClean="0">
                <a:latin typeface="Courier New" pitchFamily="1" charset="0"/>
                <a:cs typeface="Courier New" pitchFamily="1" charset="0"/>
              </a:rPr>
              <a:t>byte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sbyte</a:t>
            </a:r>
            <a:r>
              <a:rPr lang="en-US" dirty="0" smtClean="0"/>
              <a:t> (which stands for signed byte),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short</a:t>
            </a:r>
            <a:r>
              <a:rPr lang="en-US" dirty="0" smtClean="0"/>
              <a:t> (short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/>
              <a:t>), or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ushort</a:t>
            </a:r>
            <a:r>
              <a:rPr lang="en-US" dirty="0" smtClean="0"/>
              <a:t> (unsigned short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int</a:t>
            </a:r>
            <a:r>
              <a:rPr lang="en-US" dirty="0" smtClean="0"/>
              <a:t>)</a:t>
            </a:r>
          </a:p>
          <a:p>
            <a:pPr eaLnBrk="1" hangingPunct="1"/>
            <a:endParaRPr lang="en-US" dirty="0" smtClean="0"/>
          </a:p>
        </p:txBody>
      </p:sp>
      <p:sp>
        <p:nvSpPr>
          <p:cNvPr id="18438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Floating-Point Data Types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47800"/>
            <a:ext cx="80772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Floating-point</a:t>
            </a:r>
            <a:r>
              <a:rPr lang="en-US" dirty="0" smtClean="0"/>
              <a:t> number</a:t>
            </a:r>
          </a:p>
          <a:p>
            <a:pPr lvl="1" eaLnBrk="1" hangingPunct="1"/>
            <a:r>
              <a:rPr lang="en-US" dirty="0" smtClean="0"/>
              <a:t>Contains decimal positions </a:t>
            </a:r>
          </a:p>
          <a:p>
            <a:pPr lvl="1" eaLnBrk="1" hangingPunct="1"/>
            <a:r>
              <a:rPr lang="en-US" dirty="0" smtClean="0"/>
              <a:t>A </a:t>
            </a:r>
            <a:r>
              <a:rPr lang="en-US" dirty="0"/>
              <a:t>value’s number of </a:t>
            </a:r>
            <a:r>
              <a:rPr lang="en-US" sz="2400" b="1" dirty="0" smtClean="0"/>
              <a:t>significant </a:t>
            </a:r>
            <a:r>
              <a:rPr lang="en-US" b="1" dirty="0" smtClean="0"/>
              <a:t>digits </a:t>
            </a:r>
            <a:r>
              <a:rPr lang="en-US" dirty="0" smtClean="0"/>
              <a:t>specifies </a:t>
            </a:r>
            <a:r>
              <a:rPr lang="en-US" dirty="0"/>
              <a:t>the mathematical accuracy of the value</a:t>
            </a:r>
            <a:endParaRPr lang="en-US" dirty="0" smtClean="0"/>
          </a:p>
          <a:p>
            <a:pPr eaLnBrk="1" hangingPunct="1"/>
            <a:r>
              <a:rPr lang="en-US" dirty="0" smtClean="0"/>
              <a:t>Floating-point data types</a:t>
            </a:r>
          </a:p>
          <a:p>
            <a:pPr lvl="1" eaLnBrk="1" hangingPunct="1"/>
            <a:r>
              <a:rPr lang="en-US" b="1" dirty="0" smtClean="0">
                <a:latin typeface="Courier New" pitchFamily="1" charset="0"/>
                <a:cs typeface="Courier New" pitchFamily="1" charset="0"/>
              </a:rPr>
              <a:t>float</a:t>
            </a:r>
          </a:p>
          <a:p>
            <a:pPr lvl="2" eaLnBrk="1" hangingPunct="1"/>
            <a:r>
              <a:rPr lang="en-US" dirty="0" smtClean="0"/>
              <a:t>Can hold up to 7 significant digits of accuracy</a:t>
            </a:r>
          </a:p>
          <a:p>
            <a:pPr lvl="1" eaLnBrk="1" hangingPunct="1"/>
            <a:r>
              <a:rPr lang="en-US" b="1" dirty="0" smtClean="0">
                <a:latin typeface="Courier New" pitchFamily="1" charset="0"/>
                <a:cs typeface="Courier New" pitchFamily="1" charset="0"/>
              </a:rPr>
              <a:t>double</a:t>
            </a:r>
          </a:p>
          <a:p>
            <a:pPr lvl="2" eaLnBrk="1" hangingPunct="1"/>
            <a:r>
              <a:rPr lang="en-US" dirty="0" smtClean="0"/>
              <a:t>Can hold 15 or 16 significant digits of accuracy</a:t>
            </a:r>
          </a:p>
          <a:p>
            <a:pPr lvl="1" eaLnBrk="1" hangingPunct="1"/>
            <a:r>
              <a:rPr lang="en-US" b="1" dirty="0" smtClean="0">
                <a:latin typeface="Courier New" pitchFamily="1" charset="0"/>
                <a:cs typeface="Courier New" pitchFamily="1" charset="0"/>
              </a:rPr>
              <a:t>decimal</a:t>
            </a:r>
          </a:p>
          <a:p>
            <a:pPr lvl="2" eaLnBrk="1" hangingPunct="1"/>
            <a:r>
              <a:rPr lang="en-US" dirty="0" smtClean="0"/>
              <a:t>Can hold 29 significant digits but a smaller range</a:t>
            </a:r>
          </a:p>
          <a:p>
            <a:pPr lvl="2" eaLnBrk="1" hangingPunct="1"/>
            <a:r>
              <a:rPr lang="en-US" dirty="0" smtClean="0"/>
              <a:t>Suitable for financial and monetary calculations</a:t>
            </a:r>
          </a:p>
        </p:txBody>
      </p:sp>
      <p:sp>
        <p:nvSpPr>
          <p:cNvPr id="19462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Floating-Point Data Types </a:t>
            </a:r>
            <a:r>
              <a:rPr lang="en-US" sz="1200" spc="-200" dirty="0"/>
              <a:t>(cont’d.)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0772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Float</a:t>
            </a:r>
          </a:p>
          <a:p>
            <a:pPr lvl="1"/>
            <a:r>
              <a:rPr lang="en-US" dirty="0"/>
              <a:t>can hold as many as seven significant digits of </a:t>
            </a:r>
            <a:r>
              <a:rPr lang="en-US" dirty="0" smtClean="0"/>
              <a:t>accuracy</a:t>
            </a:r>
          </a:p>
          <a:p>
            <a:pPr lvl="1"/>
            <a:r>
              <a:rPr lang="en-US" dirty="0"/>
              <a:t>Put 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i="1" dirty="0">
                <a:cs typeface="Times New Roman" pitchFamily="18" charset="0"/>
              </a:rPr>
              <a:t>F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/>
              <a:t>after a number to make it a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float</a:t>
            </a:r>
            <a:endParaRPr lang="en-US" dirty="0" smtClean="0"/>
          </a:p>
          <a:p>
            <a:r>
              <a:rPr lang="en-US" b="1" dirty="0" smtClean="0"/>
              <a:t>Double</a:t>
            </a:r>
            <a:endParaRPr lang="en-US" b="1" dirty="0"/>
          </a:p>
          <a:p>
            <a:pPr lvl="1"/>
            <a:r>
              <a:rPr lang="en-US" dirty="0"/>
              <a:t>can hold 15 or 16 significant digits of </a:t>
            </a:r>
            <a:r>
              <a:rPr lang="en-US" dirty="0" smtClean="0"/>
              <a:t>accuracy</a:t>
            </a:r>
          </a:p>
          <a:p>
            <a:pPr lvl="1" eaLnBrk="1" hangingPunct="1"/>
            <a:r>
              <a:rPr lang="en-US" dirty="0" smtClean="0"/>
              <a:t>Put a </a:t>
            </a:r>
            <a:r>
              <a:rPr lang="en-US" i="1" dirty="0" smtClean="0">
                <a:cs typeface="Courier New" pitchFamily="1" charset="0"/>
              </a:rPr>
              <a:t>D</a:t>
            </a:r>
            <a:r>
              <a:rPr lang="en-US" dirty="0" smtClean="0"/>
              <a:t> after it to make it a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double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(default)</a:t>
            </a:r>
          </a:p>
          <a:p>
            <a:r>
              <a:rPr lang="en-US" b="1" dirty="0" smtClean="0"/>
              <a:t>Decimal</a:t>
            </a:r>
            <a:endParaRPr lang="en-US" b="1" dirty="0"/>
          </a:p>
          <a:p>
            <a:pPr lvl="1" eaLnBrk="1" hangingPunct="1"/>
            <a:r>
              <a:rPr lang="en-US" dirty="0" smtClean="0"/>
              <a:t>Put an </a:t>
            </a:r>
            <a:r>
              <a:rPr lang="en-US" i="1" dirty="0" smtClean="0">
                <a:cs typeface="Courier New" pitchFamily="1" charset="0"/>
              </a:rPr>
              <a:t>M</a:t>
            </a:r>
            <a:r>
              <a:rPr lang="en-US" dirty="0" smtClean="0"/>
              <a:t> after it to make it a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decimal</a:t>
            </a:r>
          </a:p>
          <a:p>
            <a:pPr eaLnBrk="1" hangingPunct="1"/>
            <a:r>
              <a:rPr lang="en-US" b="1" dirty="0" smtClean="0"/>
              <a:t>Scientific notation</a:t>
            </a:r>
          </a:p>
          <a:p>
            <a:pPr lvl="1" eaLnBrk="1" hangingPunct="1"/>
            <a:r>
              <a:rPr lang="en-US" dirty="0" smtClean="0"/>
              <a:t>Includes an </a:t>
            </a:r>
            <a:r>
              <a:rPr lang="en-US" i="1" dirty="0" smtClean="0"/>
              <a:t>E </a:t>
            </a:r>
            <a:r>
              <a:rPr lang="en-US" dirty="0" smtClean="0"/>
              <a:t>(for exponent)</a:t>
            </a:r>
          </a:p>
        </p:txBody>
      </p:sp>
      <p:sp>
        <p:nvSpPr>
          <p:cNvPr id="20486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Formatting Floating-Point Values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077200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C# displays floating-point numbers in the most concise way it can while maintaining the correct value</a:t>
            </a:r>
          </a:p>
          <a:p>
            <a:pPr eaLnBrk="1" hangingPunct="1"/>
            <a:r>
              <a:rPr lang="en-US" b="1" dirty="0" smtClean="0"/>
              <a:t>Standard numeric format strings</a:t>
            </a:r>
          </a:p>
          <a:p>
            <a:pPr lvl="1" eaLnBrk="1" hangingPunct="1"/>
            <a:r>
              <a:rPr lang="en-US" dirty="0" smtClean="0"/>
              <a:t>Strings of characters expressed within double quotation marks that indicate a format for output</a:t>
            </a:r>
          </a:p>
          <a:p>
            <a:pPr lvl="1" eaLnBrk="1" hangingPunct="1"/>
            <a:r>
              <a:rPr lang="en-US" dirty="0" smtClean="0"/>
              <a:t>Take the form </a:t>
            </a:r>
            <a:r>
              <a:rPr lang="en-US" i="1" dirty="0" smtClean="0"/>
              <a:t>X0</a:t>
            </a:r>
          </a:p>
          <a:p>
            <a:pPr lvl="2" eaLnBrk="1" hangingPunct="1"/>
            <a:r>
              <a:rPr lang="en-US" i="1" dirty="0" smtClean="0"/>
              <a:t>X</a:t>
            </a:r>
            <a:r>
              <a:rPr lang="en-US" dirty="0" smtClean="0"/>
              <a:t> is the format specifier; </a:t>
            </a:r>
            <a:r>
              <a:rPr lang="en-US" i="1" dirty="0" smtClean="0"/>
              <a:t>0 </a:t>
            </a:r>
            <a:r>
              <a:rPr lang="en-US" dirty="0" smtClean="0"/>
              <a:t>is the precision specifier</a:t>
            </a:r>
          </a:p>
          <a:p>
            <a:pPr eaLnBrk="1" hangingPunct="1"/>
            <a:r>
              <a:rPr lang="en-US" b="1" dirty="0" smtClean="0"/>
              <a:t>Format specifiers</a:t>
            </a:r>
          </a:p>
          <a:p>
            <a:pPr lvl="1" eaLnBrk="1" hangingPunct="1"/>
            <a:r>
              <a:rPr lang="en-US" dirty="0" smtClean="0"/>
              <a:t>Define the most commonly used numeric format types</a:t>
            </a:r>
          </a:p>
        </p:txBody>
      </p:sp>
      <p:sp>
        <p:nvSpPr>
          <p:cNvPr id="21510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Formatting Floating-Point Values </a:t>
            </a:r>
            <a:r>
              <a:rPr lang="en-US" sz="1200" spc="-200" dirty="0"/>
              <a:t>(cont’d.)</a:t>
            </a:r>
          </a:p>
        </p:txBody>
      </p:sp>
      <p:sp>
        <p:nvSpPr>
          <p:cNvPr id="22533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449388"/>
            <a:ext cx="6105525" cy="451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Arithmetic Operators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0772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Binary operators</a:t>
            </a:r>
          </a:p>
          <a:p>
            <a:pPr lvl="1" eaLnBrk="1" hangingPunct="1"/>
            <a:r>
              <a:rPr lang="en-US" dirty="0" smtClean="0"/>
              <a:t>Use two values (</a:t>
            </a:r>
            <a:r>
              <a:rPr lang="en-US" b="1" dirty="0" smtClean="0"/>
              <a:t>operands</a:t>
            </a:r>
            <a:r>
              <a:rPr lang="en-US" dirty="0" smtClean="0"/>
              <a:t>)</a:t>
            </a:r>
          </a:p>
          <a:p>
            <a:pPr eaLnBrk="1" hangingPunct="1"/>
            <a:r>
              <a:rPr lang="en-US" b="1" dirty="0" smtClean="0"/>
              <a:t>Operator precedence</a:t>
            </a:r>
          </a:p>
          <a:p>
            <a:pPr lvl="1" eaLnBrk="1" hangingPunct="1"/>
            <a:r>
              <a:rPr lang="en-US" dirty="0" smtClean="0"/>
              <a:t>Rules that determine the order in which parts of a mathematical expression are evaluated</a:t>
            </a:r>
          </a:p>
          <a:p>
            <a:pPr lvl="1" eaLnBrk="1" hangingPunct="1"/>
            <a:r>
              <a:rPr lang="en-US" dirty="0" smtClean="0"/>
              <a:t>Multiplication, division, and remainder (modulus) always take place prior to addition or subtraction in an expression</a:t>
            </a:r>
          </a:p>
          <a:p>
            <a:pPr lvl="1" eaLnBrk="1" hangingPunct="1"/>
            <a:r>
              <a:rPr lang="en-US" dirty="0" smtClean="0"/>
              <a:t>You can override normal operator precedence with parentheses</a:t>
            </a:r>
          </a:p>
          <a:p>
            <a:pPr lvl="1" eaLnBrk="1" hangingPunct="1"/>
            <a:r>
              <a:rPr lang="en-US" dirty="0" smtClean="0"/>
              <a:t>Expressions are evaluated left to right</a:t>
            </a:r>
          </a:p>
        </p:txBody>
      </p:sp>
      <p:sp>
        <p:nvSpPr>
          <p:cNvPr id="23558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Arithmetic Operators </a:t>
            </a:r>
            <a:r>
              <a:rPr lang="en-US" sz="1200" spc="-200" dirty="0"/>
              <a:t>(cont’d.)</a:t>
            </a:r>
          </a:p>
        </p:txBody>
      </p:sp>
      <p:sp>
        <p:nvSpPr>
          <p:cNvPr id="24581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1905000"/>
            <a:ext cx="8013405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Shortcut Arithmetic Operators</a:t>
            </a:r>
          </a:p>
        </p:txBody>
      </p:sp>
      <p:sp>
        <p:nvSpPr>
          <p:cNvPr id="256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1534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 smtClean="0"/>
              <a:t>Add and assign operator</a:t>
            </a:r>
            <a:endParaRPr lang="en-US" dirty="0" smtClean="0"/>
          </a:p>
          <a:p>
            <a:pPr lvl="1" eaLnBrk="1" hangingPunct="1"/>
            <a:r>
              <a:rPr lang="en-US" dirty="0" smtClean="0"/>
              <a:t>Example: </a:t>
            </a:r>
            <a:r>
              <a:rPr lang="en-US" sz="2000" dirty="0" smtClean="0">
                <a:latin typeface="Courier New" pitchFamily="1" charset="0"/>
              </a:rPr>
              <a:t>bankBal += bankBal * interestRate;</a:t>
            </a:r>
            <a:endParaRPr lang="en-US" dirty="0" smtClean="0"/>
          </a:p>
          <a:p>
            <a:pPr lvl="1" eaLnBrk="1" hangingPunct="1"/>
            <a:r>
              <a:rPr lang="en-US" dirty="0" smtClean="0"/>
              <a:t>Variations: </a:t>
            </a:r>
            <a:r>
              <a:rPr lang="en-US" sz="2000" dirty="0" smtClean="0">
                <a:latin typeface="Courier New" pitchFamily="1" charset="0"/>
              </a:rPr>
              <a:t>–=</a:t>
            </a:r>
            <a:r>
              <a:rPr lang="en-US" dirty="0" smtClean="0"/>
              <a:t>, </a:t>
            </a:r>
            <a:r>
              <a:rPr lang="en-US" sz="2000" dirty="0" smtClean="0">
                <a:latin typeface="Courier New" pitchFamily="1" charset="0"/>
              </a:rPr>
              <a:t>*=</a:t>
            </a:r>
            <a:r>
              <a:rPr lang="en-US" dirty="0" smtClean="0"/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latin typeface="Courier New" pitchFamily="1" charset="0"/>
              </a:rPr>
              <a:t>/=</a:t>
            </a:r>
            <a:r>
              <a:rPr lang="en-US" dirty="0" smtClean="0"/>
              <a:t>, and </a:t>
            </a:r>
            <a:r>
              <a:rPr lang="en-US" sz="2000" dirty="0" smtClean="0">
                <a:latin typeface="Courier New" pitchFamily="1" charset="0"/>
              </a:rPr>
              <a:t>%=</a:t>
            </a:r>
          </a:p>
          <a:p>
            <a:pPr eaLnBrk="1" hangingPunct="1"/>
            <a:r>
              <a:rPr lang="en-US" b="1" dirty="0" smtClean="0"/>
              <a:t>Prefix increment operator</a:t>
            </a:r>
          </a:p>
          <a:p>
            <a:pPr lvl="1" eaLnBrk="1" hangingPunct="1"/>
            <a:r>
              <a:rPr lang="en-US" dirty="0" smtClean="0"/>
              <a:t>Example: </a:t>
            </a:r>
            <a:r>
              <a:rPr lang="en-US" dirty="0" smtClean="0">
                <a:latin typeface="Courier New" pitchFamily="1" charset="0"/>
              </a:rPr>
              <a:t>++someValue;</a:t>
            </a:r>
          </a:p>
          <a:p>
            <a:pPr eaLnBrk="1" hangingPunct="1"/>
            <a:r>
              <a:rPr lang="en-US" b="1" dirty="0" smtClean="0"/>
              <a:t>Postfix increment operator</a:t>
            </a:r>
          </a:p>
          <a:p>
            <a:pPr lvl="1" eaLnBrk="1" hangingPunct="1"/>
            <a:r>
              <a:rPr lang="en-US" dirty="0" smtClean="0"/>
              <a:t>Example: </a:t>
            </a:r>
            <a:r>
              <a:rPr lang="en-US" dirty="0" smtClean="0">
                <a:latin typeface="Courier New" pitchFamily="1" charset="0"/>
              </a:rPr>
              <a:t>someValue++;</a:t>
            </a:r>
            <a:endParaRPr lang="en-US" dirty="0" smtClean="0"/>
          </a:p>
        </p:txBody>
      </p:sp>
      <p:sp>
        <p:nvSpPr>
          <p:cNvPr id="25604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763000" cy="1143000"/>
          </a:xfrm>
        </p:spPr>
        <p:txBody>
          <a:bodyPr/>
          <a:lstStyle/>
          <a:p>
            <a:pPr eaLnBrk="1" hangingPunct="1"/>
            <a:r>
              <a:rPr lang="en-US" sz="4000" spc="-200" dirty="0"/>
              <a:t>Using Shortcut Arithmetic Operators </a:t>
            </a:r>
            <a:r>
              <a:rPr lang="en-US" sz="1200" spc="-200" dirty="0"/>
              <a:t>(cont’d.)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0772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Unary operator</a:t>
            </a:r>
          </a:p>
          <a:p>
            <a:pPr lvl="1" eaLnBrk="1" hangingPunct="1"/>
            <a:r>
              <a:rPr lang="en-US" dirty="0" smtClean="0"/>
              <a:t>Uses only one value (e.g., –123)</a:t>
            </a:r>
          </a:p>
          <a:p>
            <a:pPr eaLnBrk="1" hangingPunct="1"/>
            <a:r>
              <a:rPr lang="en-US" b="1" dirty="0" smtClean="0"/>
              <a:t>Decrement operator</a:t>
            </a:r>
            <a:r>
              <a:rPr lang="en-US" dirty="0" smtClean="0"/>
              <a:t> (--)</a:t>
            </a:r>
            <a:endParaRPr lang="en-US" b="1" dirty="0" smtClean="0"/>
          </a:p>
          <a:p>
            <a:pPr lvl="1" eaLnBrk="1" hangingPunct="1"/>
            <a:r>
              <a:rPr lang="en-US" dirty="0" smtClean="0"/>
              <a:t>Can be prefix or postfix</a:t>
            </a:r>
          </a:p>
        </p:txBody>
      </p:sp>
      <p:sp>
        <p:nvSpPr>
          <p:cNvPr id="6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115868B0-CFCD-4A99-ACA3-DE6252D46680}" type="slidenum">
              <a:rPr lang="en-US" sz="1400" smtClean="0">
                <a:solidFill>
                  <a:schemeClr val="accent6">
                    <a:lumMod val="75000"/>
                  </a:schemeClr>
                </a:solidFill>
                <a:latin typeface="+mn-lt"/>
              </a:rPr>
              <a:pPr algn="r">
                <a:defRPr/>
              </a:pPr>
              <a:t>23</a:t>
            </a:fld>
            <a:endParaRPr lang="en-US" sz="1400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4000" spc="-200" dirty="0"/>
              <a:t> Data Type</a:t>
            </a:r>
          </a:p>
        </p:txBody>
      </p:sp>
      <p:sp>
        <p:nvSpPr>
          <p:cNvPr id="27651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0772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Boolean variable</a:t>
            </a:r>
          </a:p>
          <a:p>
            <a:pPr lvl="1" eaLnBrk="1" hangingPunct="1"/>
            <a:r>
              <a:rPr lang="en-US" dirty="0" smtClean="0"/>
              <a:t>Can hold only one of two values—true or false</a:t>
            </a:r>
          </a:p>
          <a:p>
            <a:pPr lvl="1" eaLnBrk="1" hangingPunct="1"/>
            <a:r>
              <a:rPr lang="en-US" dirty="0" smtClean="0"/>
              <a:t>Declare a Boolean variable with type </a:t>
            </a:r>
            <a:r>
              <a:rPr lang="en-US" b="1" dirty="0" smtClean="0">
                <a:latin typeface="Courier New" pitchFamily="1" charset="0"/>
                <a:cs typeface="Courier New" pitchFamily="1" charset="0"/>
              </a:rPr>
              <a:t>bool</a:t>
            </a:r>
          </a:p>
          <a:p>
            <a:pPr eaLnBrk="1" hangingPunct="1"/>
            <a:r>
              <a:rPr lang="en-US" b="1" dirty="0" smtClean="0"/>
              <a:t>Comparison operator</a:t>
            </a:r>
          </a:p>
          <a:p>
            <a:pPr lvl="1" eaLnBrk="1" hangingPunct="1"/>
            <a:r>
              <a:rPr lang="en-US" dirty="0" smtClean="0"/>
              <a:t>Compares two items</a:t>
            </a:r>
          </a:p>
          <a:p>
            <a:pPr lvl="1" eaLnBrk="1" hangingPunct="1"/>
            <a:r>
              <a:rPr lang="en-US" dirty="0" smtClean="0"/>
              <a:t>An expression containing a comparison operator returns a Boolean value</a:t>
            </a:r>
          </a:p>
        </p:txBody>
      </p:sp>
      <p:sp>
        <p:nvSpPr>
          <p:cNvPr id="27654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4000" spc="-200" dirty="0"/>
              <a:t> Data Type </a:t>
            </a:r>
            <a:r>
              <a:rPr lang="en-US" sz="1200" spc="-200" dirty="0"/>
              <a:t>(cont’d.)</a:t>
            </a:r>
          </a:p>
        </p:txBody>
      </p:sp>
      <p:sp>
        <p:nvSpPr>
          <p:cNvPr id="28677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15" y="2238374"/>
            <a:ext cx="8314947" cy="32480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the </a:t>
            </a:r>
            <a:r>
              <a:rPr lang="en-US" sz="4000" spc="-200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4000" spc="-200" dirty="0"/>
              <a:t> Data Type </a:t>
            </a:r>
            <a:r>
              <a:rPr lang="en-US" sz="1200" spc="-200" dirty="0"/>
              <a:t>(cont’d.)</a:t>
            </a:r>
            <a:endParaRPr lang="en-US" sz="12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47800"/>
            <a:ext cx="6607732" cy="34948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043" y="4419600"/>
            <a:ext cx="5143757" cy="2019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pPr eaLnBrk="1" hangingPunct="1"/>
            <a:r>
              <a:rPr lang="en-US" sz="4000" spc="-200" dirty="0"/>
              <a:t>Understanding Numeric Type Conversion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Arithmetic with variables or constants of the same type</a:t>
            </a:r>
          </a:p>
          <a:p>
            <a:pPr lvl="1" eaLnBrk="1" hangingPunct="1"/>
            <a:r>
              <a:rPr lang="en-US" dirty="0" smtClean="0"/>
              <a:t>Result retains the same type</a:t>
            </a:r>
          </a:p>
          <a:p>
            <a:pPr eaLnBrk="1" hangingPunct="1"/>
            <a:r>
              <a:rPr lang="en-US" dirty="0" smtClean="0"/>
              <a:t>Arithmetic with operands of dissimilar types</a:t>
            </a:r>
          </a:p>
          <a:p>
            <a:pPr lvl="1" eaLnBrk="1" hangingPunct="1"/>
            <a:r>
              <a:rPr lang="en-US" dirty="0" smtClean="0"/>
              <a:t>C# chooses a </a:t>
            </a:r>
            <a:r>
              <a:rPr lang="en-US" b="1" dirty="0" smtClean="0"/>
              <a:t>unifying type </a:t>
            </a:r>
            <a:r>
              <a:rPr lang="en-US" dirty="0" smtClean="0"/>
              <a:t>for the result</a:t>
            </a:r>
          </a:p>
          <a:p>
            <a:pPr lvl="1" eaLnBrk="1" hangingPunct="1"/>
            <a:r>
              <a:rPr lang="en-US" b="1" dirty="0" smtClean="0"/>
              <a:t>Implicitly</a:t>
            </a:r>
            <a:r>
              <a:rPr lang="en-US" dirty="0" smtClean="0"/>
              <a:t> (or automatically) converts nonconforming operands to the unifying type</a:t>
            </a:r>
          </a:p>
          <a:p>
            <a:pPr lvl="2" eaLnBrk="1" hangingPunct="1"/>
            <a:r>
              <a:rPr lang="en-US" dirty="0" smtClean="0"/>
              <a:t>Type with the higher</a:t>
            </a:r>
            <a:r>
              <a:rPr lang="en-US" b="1" dirty="0" smtClean="0"/>
              <a:t> type precedence </a:t>
            </a:r>
          </a:p>
          <a:p>
            <a:pPr lvl="2" eaLnBrk="1" hangingPunct="1"/>
            <a:r>
              <a:rPr lang="en-US" dirty="0" smtClean="0"/>
              <a:t>Called </a:t>
            </a:r>
            <a:r>
              <a:rPr lang="en-US" dirty="0"/>
              <a:t>an </a:t>
            </a:r>
            <a:r>
              <a:rPr lang="en-US" sz="2400" b="1" dirty="0"/>
              <a:t>implicit conversion </a:t>
            </a:r>
            <a:r>
              <a:rPr lang="en-US" dirty="0"/>
              <a:t>or an </a:t>
            </a:r>
            <a:r>
              <a:rPr lang="en-US" sz="2400" b="1" dirty="0"/>
              <a:t>implicit cast</a:t>
            </a:r>
            <a:r>
              <a:rPr lang="en-US" dirty="0"/>
              <a:t>—the automatic transformation that </a:t>
            </a:r>
            <a:r>
              <a:rPr lang="en-US" dirty="0" smtClean="0"/>
              <a:t>occurs when </a:t>
            </a:r>
            <a:r>
              <a:rPr lang="en-US" dirty="0"/>
              <a:t>a value is assigned to a type with higher precedence</a:t>
            </a:r>
            <a:r>
              <a:rPr lang="en-US" dirty="0" smtClean="0"/>
              <a:t>.</a:t>
            </a:r>
            <a:endParaRPr lang="en-US" b="1" dirty="0" smtClean="0"/>
          </a:p>
        </p:txBody>
      </p:sp>
      <p:sp>
        <p:nvSpPr>
          <p:cNvPr id="30726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pPr eaLnBrk="1" hangingPunct="1"/>
            <a:r>
              <a:rPr lang="en-US" sz="4000" spc="-200" dirty="0"/>
              <a:t>Understanding Numeric Type Conversion </a:t>
            </a:r>
            <a:r>
              <a:rPr lang="en-US" sz="1200" spc="-200" dirty="0"/>
              <a:t>(cont’d.)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47800"/>
            <a:ext cx="80772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Implicit cast</a:t>
            </a:r>
          </a:p>
          <a:p>
            <a:pPr lvl="1" eaLnBrk="1" hangingPunct="1"/>
            <a:r>
              <a:rPr lang="en-US" dirty="0" smtClean="0"/>
              <a:t>Automatic transformation that occurs when a value is assigned to a type with higher precedence</a:t>
            </a:r>
          </a:p>
          <a:p>
            <a:pPr lvl="1" eaLnBrk="1" hangingPunct="1"/>
            <a:r>
              <a:rPr lang="en-US" dirty="0" smtClean="0"/>
              <a:t>Example: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aDouble = anInt;</a:t>
            </a:r>
          </a:p>
          <a:p>
            <a:pPr eaLnBrk="1" hangingPunct="1"/>
            <a:r>
              <a:rPr lang="en-US" b="1" dirty="0" smtClean="0"/>
              <a:t>Explicit cast</a:t>
            </a:r>
          </a:p>
          <a:p>
            <a:pPr lvl="1" eaLnBrk="1" hangingPunct="1"/>
            <a:r>
              <a:rPr lang="en-US" dirty="0" smtClean="0"/>
              <a:t>Placing the desired result type in parentheses followed by the variable or constant to be cast</a:t>
            </a:r>
          </a:p>
          <a:p>
            <a:pPr lvl="1" eaLnBrk="1" hangingPunct="1"/>
            <a:r>
              <a:rPr lang="en-US" dirty="0" smtClean="0"/>
              <a:t>Example: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anInt = (int)aDouble;</a:t>
            </a:r>
          </a:p>
        </p:txBody>
      </p:sp>
      <p:sp>
        <p:nvSpPr>
          <p:cNvPr id="31750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4" y="4953000"/>
            <a:ext cx="7713786" cy="14771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4000" spc="-200" dirty="0"/>
              <a:t> Data Type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077200" cy="45720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Courier New" pitchFamily="1" charset="0"/>
                <a:cs typeface="Courier New" pitchFamily="1" charset="0"/>
              </a:rPr>
              <a:t>char</a:t>
            </a:r>
            <a:r>
              <a:rPr lang="en-US" dirty="0" smtClean="0"/>
              <a:t> data type</a:t>
            </a:r>
          </a:p>
          <a:p>
            <a:pPr lvl="1" eaLnBrk="1" hangingPunct="1"/>
            <a:r>
              <a:rPr lang="en-US" dirty="0" smtClean="0"/>
              <a:t>Holds any single character</a:t>
            </a:r>
          </a:p>
          <a:p>
            <a:pPr lvl="1" eaLnBrk="1" hangingPunct="1"/>
            <a:r>
              <a:rPr lang="en-US" dirty="0" smtClean="0"/>
              <a:t>Place constant character values within single quotation marks (e.g., '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A</a:t>
            </a:r>
            <a:r>
              <a:rPr lang="en-US" dirty="0" smtClean="0"/>
              <a:t>')</a:t>
            </a:r>
          </a:p>
          <a:p>
            <a:pPr lvl="1" eaLnBrk="1" hangingPunct="1"/>
            <a:r>
              <a:rPr lang="en-US" dirty="0"/>
              <a:t>c</a:t>
            </a:r>
            <a:r>
              <a:rPr lang="en-US" dirty="0" smtClean="0"/>
              <a:t>har </a:t>
            </a:r>
            <a:r>
              <a:rPr lang="en-US" dirty="0" err="1" smtClean="0"/>
              <a:t>aCharValue</a:t>
            </a:r>
            <a:r>
              <a:rPr lang="en-US" dirty="0" smtClean="0"/>
              <a:t> = ‘9’ cannot be used in arithmetic statements – the 9 is text, not a number</a:t>
            </a:r>
          </a:p>
          <a:p>
            <a:pPr eaLnBrk="1" hangingPunct="1"/>
            <a:r>
              <a:rPr lang="en-US" b="1" dirty="0" smtClean="0"/>
              <a:t>Escape sequence</a:t>
            </a:r>
          </a:p>
          <a:p>
            <a:pPr lvl="1" eaLnBrk="1" hangingPunct="1"/>
            <a:r>
              <a:rPr lang="en-US" dirty="0" smtClean="0"/>
              <a:t>Stores a pair of characters</a:t>
            </a:r>
          </a:p>
          <a:p>
            <a:pPr lvl="1" eaLnBrk="1" hangingPunct="1"/>
            <a:r>
              <a:rPr lang="en-US" dirty="0" smtClean="0"/>
              <a:t>Begins with a backslash</a:t>
            </a:r>
          </a:p>
          <a:p>
            <a:pPr lvl="1" eaLnBrk="1" hangingPunct="1"/>
            <a:r>
              <a:rPr lang="en-US" dirty="0" smtClean="0"/>
              <a:t>A pair of symbols represents a single character</a:t>
            </a:r>
          </a:p>
        </p:txBody>
      </p:sp>
      <p:sp>
        <p:nvSpPr>
          <p:cNvPr id="32774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4000" spc="-200" dirty="0"/>
              <a:t> Data </a:t>
            </a:r>
            <a:r>
              <a:rPr lang="en-US" sz="4000" spc="-200" dirty="0" smtClean="0"/>
              <a:t>Type </a:t>
            </a:r>
            <a:r>
              <a:rPr lang="en-US" sz="1200" spc="-200" dirty="0"/>
              <a:t>(cont’d.)</a:t>
            </a:r>
          </a:p>
        </p:txBody>
      </p:sp>
      <p:sp>
        <p:nvSpPr>
          <p:cNvPr id="33797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093" y="1509712"/>
            <a:ext cx="4149107" cy="4846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4000" spc="-200" dirty="0"/>
              <a:t> Data </a:t>
            </a:r>
            <a:r>
              <a:rPr lang="en-US" sz="4000" spc="-200" dirty="0" smtClean="0"/>
              <a:t>Type </a:t>
            </a:r>
            <a:r>
              <a:rPr lang="en-US" sz="1200" spc="-200" dirty="0"/>
              <a:t>(cont’d.)</a:t>
            </a:r>
          </a:p>
        </p:txBody>
      </p:sp>
      <p:sp>
        <p:nvSpPr>
          <p:cNvPr id="33797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077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Characters </a:t>
            </a:r>
            <a:r>
              <a:rPr lang="en-US" dirty="0"/>
              <a:t>used in C# are represented in Unicode, which is a 16-bit coding scheme </a:t>
            </a:r>
            <a:r>
              <a:rPr lang="en-US" dirty="0" smtClean="0"/>
              <a:t>for characters</a:t>
            </a:r>
            <a:endParaRPr lang="en-US" dirty="0"/>
          </a:p>
          <a:p>
            <a:pPr lvl="1"/>
            <a:r>
              <a:rPr lang="en-US" dirty="0"/>
              <a:t>For example, the letter </a:t>
            </a:r>
            <a:r>
              <a:rPr lang="en-US" i="1" dirty="0"/>
              <a:t>A </a:t>
            </a:r>
            <a:r>
              <a:rPr lang="en-US" dirty="0"/>
              <a:t>actually is stored in computer memory as a set of 16 </a:t>
            </a:r>
            <a:r>
              <a:rPr lang="en-US" dirty="0" smtClean="0"/>
              <a:t>zeros and </a:t>
            </a:r>
            <a:r>
              <a:rPr lang="en-US" dirty="0"/>
              <a:t>ones—namely, 0000 0000 0100 </a:t>
            </a:r>
            <a:r>
              <a:rPr lang="en-US" dirty="0" smtClean="0"/>
              <a:t>0001</a:t>
            </a:r>
          </a:p>
          <a:p>
            <a:pPr lvl="1"/>
            <a:r>
              <a:rPr lang="en-US" dirty="0" smtClean="0"/>
              <a:t>16-bit </a:t>
            </a:r>
            <a:r>
              <a:rPr lang="en-US" dirty="0"/>
              <a:t>numbers are difficult to </a:t>
            </a:r>
            <a:r>
              <a:rPr lang="en-US" dirty="0" smtClean="0"/>
              <a:t>read so </a:t>
            </a:r>
            <a:r>
              <a:rPr lang="en-US" dirty="0"/>
              <a:t>programmers often use </a:t>
            </a:r>
            <a:r>
              <a:rPr lang="en-US" dirty="0" smtClean="0"/>
              <a:t>a shorthand </a:t>
            </a:r>
            <a:r>
              <a:rPr lang="en-US" dirty="0"/>
              <a:t>notation called </a:t>
            </a:r>
            <a:r>
              <a:rPr lang="en-US" sz="2400" b="1" dirty="0"/>
              <a:t>hexadecimal</a:t>
            </a:r>
            <a:r>
              <a:rPr lang="en-US" dirty="0"/>
              <a:t>, or </a:t>
            </a:r>
            <a:r>
              <a:rPr lang="en-US" sz="2400" b="1" dirty="0"/>
              <a:t>base 16</a:t>
            </a:r>
            <a:r>
              <a:rPr lang="en-US" dirty="0"/>
              <a:t>. In hexadecimal shorthand, 0000 becomes </a:t>
            </a:r>
            <a:r>
              <a:rPr lang="en-US" dirty="0" smtClean="0"/>
              <a:t>0</a:t>
            </a:r>
          </a:p>
          <a:p>
            <a:pPr lvl="1"/>
            <a:r>
              <a:rPr lang="en-US" dirty="0"/>
              <a:t>0100 becomes 4, and 0001 becomes 1. Thus, the letter </a:t>
            </a:r>
            <a:r>
              <a:rPr lang="en-US" i="1" dirty="0"/>
              <a:t>A </a:t>
            </a:r>
            <a:r>
              <a:rPr lang="en-US" dirty="0"/>
              <a:t>is represented in hexadecimal as </a:t>
            </a:r>
            <a:r>
              <a:rPr lang="en-US" dirty="0" smtClean="0"/>
              <a:t>0041</a:t>
            </a:r>
          </a:p>
          <a:p>
            <a:pPr marL="3143250" lvl="7" indent="0">
              <a:buNone/>
            </a:pPr>
            <a:r>
              <a:rPr lang="en-US" sz="2400" dirty="0"/>
              <a:t>char letter = 'A';</a:t>
            </a:r>
          </a:p>
          <a:p>
            <a:pPr marL="3143250" lvl="7" indent="0">
              <a:buNone/>
            </a:pPr>
            <a:r>
              <a:rPr lang="en-US" sz="2400" dirty="0"/>
              <a:t>char letter = '\u0041';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5715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sz="4000" spc="-200" dirty="0"/>
              <a:t> Data Type</a:t>
            </a:r>
          </a:p>
        </p:txBody>
      </p:sp>
      <p:sp>
        <p:nvSpPr>
          <p:cNvPr id="348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1693" y="1676400"/>
            <a:ext cx="8153400" cy="4343400"/>
          </a:xfrm>
          <a:noFill/>
        </p:spPr>
        <p:txBody>
          <a:bodyPr/>
          <a:lstStyle/>
          <a:p>
            <a:pPr eaLnBrk="1" hangingPunct="1"/>
            <a:r>
              <a:rPr lang="en-US" b="1" dirty="0" smtClean="0">
                <a:latin typeface="Courier New" pitchFamily="1" charset="0"/>
              </a:rPr>
              <a:t>string</a:t>
            </a:r>
            <a:r>
              <a:rPr lang="en-US" dirty="0" smtClean="0"/>
              <a:t> data type</a:t>
            </a:r>
            <a:endParaRPr lang="en-US" b="1" dirty="0" smtClean="0"/>
          </a:p>
          <a:p>
            <a:pPr lvl="1" eaLnBrk="1" hangingPunct="1"/>
            <a:r>
              <a:rPr lang="en-US" dirty="0" smtClean="0"/>
              <a:t>Holds a series of characters</a:t>
            </a:r>
          </a:p>
          <a:p>
            <a:pPr eaLnBrk="1" hangingPunct="1"/>
            <a:r>
              <a:rPr lang="en-US" dirty="0" smtClean="0"/>
              <a:t>Values are expressed within double quotation marks</a:t>
            </a:r>
          </a:p>
          <a:p>
            <a:pPr eaLnBrk="1" hangingPunct="1"/>
            <a:r>
              <a:rPr lang="en-US" dirty="0" smtClean="0"/>
              <a:t>Comparing strings</a:t>
            </a:r>
          </a:p>
          <a:p>
            <a:pPr lvl="1" eaLnBrk="1" hangingPunct="1"/>
            <a:r>
              <a:rPr lang="en-US" dirty="0" smtClean="0"/>
              <a:t>Use </a:t>
            </a:r>
            <a:r>
              <a:rPr lang="en-US" dirty="0" smtClean="0">
                <a:latin typeface="Courier New" pitchFamily="1" charset="0"/>
              </a:rPr>
              <a:t>==</a:t>
            </a:r>
            <a:r>
              <a:rPr lang="en-US" dirty="0" smtClean="0"/>
              <a:t> and </a:t>
            </a:r>
            <a:r>
              <a:rPr lang="en-US" dirty="0" smtClean="0">
                <a:latin typeface="Courier New" pitchFamily="1" charset="0"/>
              </a:rPr>
              <a:t>!=</a:t>
            </a:r>
          </a:p>
          <a:p>
            <a:pPr lvl="1"/>
            <a:r>
              <a:rPr lang="en-US" dirty="0" smtClean="0"/>
              <a:t>Use the </a:t>
            </a:r>
            <a:r>
              <a:rPr lang="en-US" b="1" dirty="0" smtClean="0">
                <a:latin typeface="Courier New" pitchFamily="1" charset="0"/>
              </a:rPr>
              <a:t>Equals()</a:t>
            </a:r>
            <a:r>
              <a:rPr lang="en-US" b="1" dirty="0" smtClean="0"/>
              <a:t> method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1" charset="0"/>
              </a:rPr>
              <a:t>Compare()</a:t>
            </a:r>
            <a:r>
              <a:rPr lang="en-US" b="1" dirty="0" smtClean="0"/>
              <a:t> method</a:t>
            </a:r>
            <a:r>
              <a:rPr lang="en-US" dirty="0" smtClean="0"/>
              <a:t>, and </a:t>
            </a:r>
            <a:r>
              <a:rPr lang="en-US" b="1" dirty="0" smtClean="0">
                <a:latin typeface="Courier New" pitchFamily="1" charset="0"/>
              </a:rPr>
              <a:t>CompareTo()</a:t>
            </a:r>
            <a:r>
              <a:rPr lang="en-US" b="1" dirty="0" smtClean="0"/>
              <a:t> method</a:t>
            </a:r>
          </a:p>
          <a:p>
            <a:r>
              <a:rPr lang="en-US" dirty="0"/>
              <a:t>A </a:t>
            </a:r>
            <a:r>
              <a:rPr lang="en-US" sz="2400" dirty="0"/>
              <a:t>string </a:t>
            </a:r>
            <a:r>
              <a:rPr lang="en-US" dirty="0"/>
              <a:t>is considered equal to, greater than, or </a:t>
            </a:r>
            <a:r>
              <a:rPr lang="en-US" dirty="0" smtClean="0"/>
              <a:t>less than </a:t>
            </a:r>
            <a:r>
              <a:rPr lang="en-US" dirty="0"/>
              <a:t>another string </a:t>
            </a:r>
            <a:r>
              <a:rPr lang="en-US" sz="2400" b="1" dirty="0"/>
              <a:t>lexically</a:t>
            </a:r>
            <a:r>
              <a:rPr lang="en-US" dirty="0"/>
              <a:t>, which in the case of letter values means alphabetically</a:t>
            </a:r>
            <a:endParaRPr lang="en-US" b="1" dirty="0" smtClean="0">
              <a:latin typeface="Courier New" pitchFamily="1" charset="0"/>
            </a:endParaRPr>
          </a:p>
        </p:txBody>
      </p:sp>
      <p:sp>
        <p:nvSpPr>
          <p:cNvPr id="34820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</a:t>
            </a:r>
            <a:r>
              <a:rPr lang="en-US" dirty="0"/>
              <a:t>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sz="4000" spc="-200" dirty="0"/>
              <a:t> Data Type </a:t>
            </a:r>
            <a:r>
              <a:rPr lang="en-US" sz="1200" spc="-200" dirty="0"/>
              <a:t>(cont’d.)</a:t>
            </a:r>
          </a:p>
        </p:txBody>
      </p:sp>
      <p:sp>
        <p:nvSpPr>
          <p:cNvPr id="35844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305425" cy="304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375005"/>
            <a:ext cx="4996962" cy="2025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4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7521"/>
            <a:ext cx="5715956" cy="55022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950" y="0"/>
            <a:ext cx="4591050" cy="281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1"/>
          <p:cNvSpPr>
            <a:spLocks noGrp="1"/>
          </p:cNvSpPr>
          <p:nvPr>
            <p:ph idx="4294967295"/>
          </p:nvPr>
        </p:nvSpPr>
        <p:spPr>
          <a:xfrm>
            <a:off x="457200" y="1601561"/>
            <a:ext cx="8382000" cy="5104039"/>
          </a:xfrm>
        </p:spPr>
        <p:txBody>
          <a:bodyPr/>
          <a:lstStyle/>
          <a:p>
            <a:pPr eaLnBrk="1" hangingPunct="1"/>
            <a:r>
              <a:rPr lang="en-US" dirty="0" smtClean="0"/>
              <a:t>Use the </a:t>
            </a:r>
            <a:r>
              <a:rPr lang="en-US" dirty="0" smtClean="0">
                <a:latin typeface="Courier New" pitchFamily="1" charset="0"/>
              </a:rPr>
              <a:t>Substring()</a:t>
            </a:r>
            <a:r>
              <a:rPr lang="en-US" dirty="0" smtClean="0"/>
              <a:t> method to extract a portion of a string from a starting point for a specific length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sz="4000" spc="-200" dirty="0"/>
              <a:t> Data Type </a:t>
            </a:r>
            <a:r>
              <a:rPr lang="en-US" sz="1200" spc="-200" dirty="0"/>
              <a:t>(cont’d.)</a:t>
            </a:r>
            <a:endParaRPr lang="en-US" sz="12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508334"/>
            <a:ext cx="4757737" cy="3848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Defining Named Constants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0772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Named constant</a:t>
            </a:r>
          </a:p>
          <a:p>
            <a:pPr lvl="1" eaLnBrk="1" hangingPunct="1"/>
            <a:r>
              <a:rPr lang="en-US" dirty="0" smtClean="0"/>
              <a:t>Often simply called a constant</a:t>
            </a:r>
          </a:p>
          <a:p>
            <a:pPr lvl="1" eaLnBrk="1" hangingPunct="1"/>
            <a:r>
              <a:rPr lang="en-US" dirty="0" smtClean="0"/>
              <a:t>An identifier whose contents cannot change</a:t>
            </a:r>
          </a:p>
          <a:p>
            <a:pPr lvl="1" eaLnBrk="1" hangingPunct="1"/>
            <a:r>
              <a:rPr lang="en-US" dirty="0" smtClean="0"/>
              <a:t>Created using the keyword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const</a:t>
            </a:r>
          </a:p>
          <a:p>
            <a:pPr eaLnBrk="1" hangingPunct="1"/>
            <a:r>
              <a:rPr lang="en-US" dirty="0" smtClean="0"/>
              <a:t>Programmers usually name constants using all uppercase letters, inserting underscores for readability</a:t>
            </a:r>
          </a:p>
          <a:p>
            <a:pPr eaLnBrk="1" hangingPunct="1"/>
            <a:r>
              <a:rPr lang="en-US" b="1" dirty="0" smtClean="0"/>
              <a:t>Self-documenting </a:t>
            </a:r>
            <a:r>
              <a:rPr lang="en-US" dirty="0" smtClean="0"/>
              <a:t>statement</a:t>
            </a:r>
          </a:p>
          <a:p>
            <a:pPr lvl="1" eaLnBrk="1" hangingPunct="1"/>
            <a:r>
              <a:rPr lang="en-US" dirty="0" smtClean="0"/>
              <a:t>Easy to understand even without program comments</a:t>
            </a:r>
          </a:p>
        </p:txBody>
      </p:sp>
      <p:sp>
        <p:nvSpPr>
          <p:cNvPr id="39942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Working with Enumerations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077200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An </a:t>
            </a:r>
            <a:r>
              <a:rPr lang="en-US" b="1" dirty="0" smtClean="0"/>
              <a:t>enumeration</a:t>
            </a:r>
            <a:r>
              <a:rPr lang="en-US" dirty="0" smtClean="0"/>
              <a:t> is a set of constants represented by identifiers</a:t>
            </a:r>
          </a:p>
          <a:p>
            <a:pPr lvl="1"/>
            <a:r>
              <a:rPr lang="en-US" dirty="0"/>
              <a:t>Enumeration example named </a:t>
            </a:r>
            <a:r>
              <a:rPr lang="en-US" dirty="0" err="1"/>
              <a:t>DayOfWeek</a:t>
            </a:r>
            <a:r>
              <a:rPr lang="en-US" dirty="0" smtClean="0"/>
              <a:t>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971800"/>
            <a:ext cx="5528780" cy="15265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4419600"/>
            <a:ext cx="7696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By default, enumeration values are </a:t>
            </a:r>
            <a:r>
              <a:rPr lang="en-US" sz="2400" dirty="0" smtClean="0">
                <a:solidFill>
                  <a:schemeClr val="tx1"/>
                </a:solidFill>
                <a:latin typeface="+mn-lt"/>
              </a:rPr>
              <a:t>integer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  <a:latin typeface="+mn-lt"/>
              </a:rPr>
              <a:t>Can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specify otherwise by including a colon and a type name after the enumeration </a:t>
            </a:r>
            <a:r>
              <a:rPr lang="en-US" sz="2400" dirty="0" smtClean="0">
                <a:solidFill>
                  <a:schemeClr val="tx1"/>
                </a:solidFill>
                <a:latin typeface="+mn-lt"/>
              </a:rPr>
              <a:t>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Working with Enumerations </a:t>
            </a:r>
            <a:r>
              <a:rPr lang="en-US" sz="1200" spc="-200" dirty="0"/>
              <a:t>(cont’d.)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077200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Often meant to hold consecutive values</a:t>
            </a:r>
          </a:p>
          <a:p>
            <a:pPr lvl="1" eaLnBrk="1" hangingPunct="1"/>
            <a:r>
              <a:rPr lang="en-US" dirty="0" smtClean="0"/>
              <a:t>When you don’t supply values, they start at 0 and increment by 1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 smtClean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 smtClean="0"/>
          </a:p>
          <a:p>
            <a:pPr lvl="1" eaLnBrk="1" hangingPunct="1"/>
            <a:endParaRPr lang="en-US" dirty="0" smtClean="0"/>
          </a:p>
          <a:p>
            <a:pPr lvl="1"/>
            <a:r>
              <a:rPr lang="en-US" dirty="0" smtClean="0"/>
              <a:t>Programmers say </a:t>
            </a:r>
            <a:r>
              <a:rPr lang="en-US" dirty="0"/>
              <a:t>using </a:t>
            </a:r>
            <a:r>
              <a:rPr lang="en-US" sz="2000" dirty="0" err="1"/>
              <a:t>enum</a:t>
            </a:r>
            <a:r>
              <a:rPr lang="en-US" dirty="0" err="1"/>
              <a:t>s</a:t>
            </a:r>
            <a:r>
              <a:rPr lang="en-US" dirty="0"/>
              <a:t> makes the values type-safe. </a:t>
            </a:r>
            <a:r>
              <a:rPr lang="en-US" sz="2000" b="1" dirty="0"/>
              <a:t>Type-safe </a:t>
            </a:r>
            <a:r>
              <a:rPr lang="en-US" dirty="0"/>
              <a:t>describes a data type for which </a:t>
            </a:r>
            <a:r>
              <a:rPr lang="en-US" dirty="0" smtClean="0"/>
              <a:t>only appropriate </a:t>
            </a:r>
            <a:r>
              <a:rPr lang="en-US" dirty="0"/>
              <a:t>behaviors are allowed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756" y="2858294"/>
            <a:ext cx="7154444" cy="205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Accepting Console Input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0772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Interactive program</a:t>
            </a:r>
          </a:p>
          <a:p>
            <a:pPr lvl="1" eaLnBrk="1" hangingPunct="1"/>
            <a:r>
              <a:rPr lang="en-US" dirty="0" smtClean="0"/>
              <a:t>A program that allows user input</a:t>
            </a:r>
          </a:p>
          <a:p>
            <a:pPr eaLnBrk="1" hangingPunct="1"/>
            <a:r>
              <a:rPr lang="en-US" b="1" dirty="0" err="1" smtClean="0">
                <a:latin typeface="Courier New" pitchFamily="1" charset="0"/>
                <a:cs typeface="Courier New" pitchFamily="1" charset="0"/>
              </a:rPr>
              <a:t>ReadLine</a:t>
            </a:r>
            <a:r>
              <a:rPr lang="en-US" b="1" dirty="0" smtClean="0">
                <a:latin typeface="Courier New" pitchFamily="1" charset="0"/>
                <a:cs typeface="Courier New" pitchFamily="1" charset="0"/>
              </a:rPr>
              <a:t>()</a:t>
            </a:r>
            <a:r>
              <a:rPr lang="en-US" b="1" dirty="0" smtClean="0"/>
              <a:t> method</a:t>
            </a:r>
          </a:p>
          <a:p>
            <a:pPr lvl="1"/>
            <a:r>
              <a:rPr lang="en-US" dirty="0" smtClean="0"/>
              <a:t>Accepts </a:t>
            </a:r>
            <a:r>
              <a:rPr lang="en-US" dirty="0"/>
              <a:t>all of the characters entered by a user input </a:t>
            </a:r>
            <a:r>
              <a:rPr lang="en-US" dirty="0" smtClean="0"/>
              <a:t>from the keyboard until the user presses Enter</a:t>
            </a:r>
          </a:p>
          <a:p>
            <a:pPr lvl="1" eaLnBrk="1" hangingPunct="1"/>
            <a:r>
              <a:rPr lang="en-US" dirty="0" smtClean="0"/>
              <a:t>Characters can be assigned to a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string</a:t>
            </a:r>
          </a:p>
          <a:p>
            <a:pPr lvl="1" eaLnBrk="1" hangingPunct="1"/>
            <a:r>
              <a:rPr lang="en-US" dirty="0" smtClean="0"/>
              <a:t>Must use a conversion method to convert the input string to the proper type</a:t>
            </a:r>
          </a:p>
        </p:txBody>
      </p:sp>
      <p:sp>
        <p:nvSpPr>
          <p:cNvPr id="43014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Accepting Console Input </a:t>
            </a:r>
            <a:r>
              <a:rPr lang="en-US" sz="1200" spc="-200" dirty="0"/>
              <a:t>(cont’d.)</a:t>
            </a:r>
          </a:p>
        </p:txBody>
      </p:sp>
      <p:sp>
        <p:nvSpPr>
          <p:cNvPr id="44037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33" y="1417638"/>
            <a:ext cx="5373566" cy="36115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650" y="5181600"/>
            <a:ext cx="5702350" cy="1539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chemeClr val="accent6">
                  <a:lumMod val="75000"/>
                </a:schemeClr>
              </a:solidFill>
              <a:latin typeface="Arial" charset="0"/>
            </a:endParaRPr>
          </a:p>
        </p:txBody>
      </p:sp>
      <p:sp>
        <p:nvSpPr>
          <p:cNvPr id="4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423862"/>
            <a:ext cx="7791450" cy="6010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Using the </a:t>
            </a:r>
            <a:r>
              <a:rPr lang="en-US" sz="4000" spc="-200" dirty="0" smtClean="0">
                <a:latin typeface="SimSun" panose="02010600030101010101" pitchFamily="2" charset="-122"/>
                <a:ea typeface="SimSun" panose="02010600030101010101" pitchFamily="2" charset="-122"/>
              </a:rPr>
              <a:t>Parse() </a:t>
            </a:r>
            <a:r>
              <a:rPr lang="en-US" sz="4000" spc="-200" dirty="0" smtClean="0"/>
              <a:t>Methods</a:t>
            </a:r>
            <a:endParaRPr lang="en-US" sz="4000" spc="-200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077200" cy="4572000"/>
          </a:xfrm>
        </p:spPr>
        <p:txBody>
          <a:bodyPr/>
          <a:lstStyle/>
          <a:p>
            <a:r>
              <a:rPr lang="en-US" b="1" dirty="0"/>
              <a:t>Parse() method </a:t>
            </a:r>
            <a:endParaRPr lang="en-US" b="1" dirty="0" smtClean="0"/>
          </a:p>
          <a:p>
            <a:pPr lvl="1"/>
            <a:r>
              <a:rPr lang="en-US" dirty="0" smtClean="0"/>
              <a:t>An </a:t>
            </a:r>
            <a:r>
              <a:rPr lang="en-US" dirty="0"/>
              <a:t>alternative to the Convert class </a:t>
            </a:r>
            <a:r>
              <a:rPr lang="en-US" dirty="0" smtClean="0"/>
              <a:t>methods to convert </a:t>
            </a:r>
            <a:r>
              <a:rPr lang="en-US" dirty="0"/>
              <a:t>a string to a </a:t>
            </a:r>
            <a:r>
              <a:rPr lang="en-US" dirty="0" smtClean="0"/>
              <a:t>number</a:t>
            </a:r>
          </a:p>
          <a:p>
            <a:pPr lvl="1"/>
            <a:r>
              <a:rPr lang="en-US" dirty="0" smtClean="0"/>
              <a:t>Parse means to break into component parts</a:t>
            </a:r>
          </a:p>
          <a:p>
            <a:pPr lvl="1"/>
            <a:r>
              <a:rPr lang="en-US" dirty="0" smtClean="0"/>
              <a:t>Parsing a string turns it into its numeric equivalent</a:t>
            </a:r>
          </a:p>
        </p:txBody>
      </p:sp>
      <p:sp>
        <p:nvSpPr>
          <p:cNvPr id="46086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</a:t>
            </a:r>
            <a:r>
              <a:rPr lang="en-US" dirty="0"/>
              <a:t>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/>
            <a:r>
              <a:rPr lang="en-US" sz="4000" spc="-200" dirty="0"/>
              <a:t>Summary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077200" cy="4800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Variables and constants use data types to hold information</a:t>
            </a:r>
          </a:p>
          <a:p>
            <a:pPr eaLnBrk="1" hangingPunct="1"/>
            <a:r>
              <a:rPr lang="en-US" dirty="0" smtClean="0"/>
              <a:t>A constant cannot be changed after compilation</a:t>
            </a:r>
          </a:p>
          <a:p>
            <a:pPr eaLnBrk="1" hangingPunct="1"/>
            <a:r>
              <a:rPr lang="en-US" dirty="0" smtClean="0"/>
              <a:t>Display variable values with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Write()</a:t>
            </a:r>
            <a:r>
              <a:rPr lang="en-US" dirty="0" smtClean="0"/>
              <a:t> or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WriteLine()</a:t>
            </a:r>
          </a:p>
          <a:p>
            <a:pPr eaLnBrk="1" hangingPunct="1"/>
            <a:r>
              <a:rPr lang="en-US" dirty="0" smtClean="0"/>
              <a:t>Nine integral data types: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byte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sbyte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short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ushort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int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uint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long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ulong</a:t>
            </a:r>
            <a:r>
              <a:rPr lang="en-US" dirty="0" smtClean="0"/>
              <a:t>, and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char</a:t>
            </a:r>
          </a:p>
          <a:p>
            <a:pPr eaLnBrk="1" hangingPunct="1"/>
            <a:r>
              <a:rPr lang="en-US" dirty="0" smtClean="0"/>
              <a:t>Three floating-point data types: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float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double</a:t>
            </a:r>
            <a:r>
              <a:rPr lang="en-US" dirty="0" smtClean="0"/>
              <a:t>, and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decimal</a:t>
            </a:r>
          </a:p>
          <a:p>
            <a:pPr eaLnBrk="1" hangingPunct="1"/>
            <a:r>
              <a:rPr lang="en-US" dirty="0" smtClean="0"/>
              <a:t>Use the binary arithmetic operators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+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–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*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/</a:t>
            </a:r>
            <a:r>
              <a:rPr lang="en-US" dirty="0" smtClean="0"/>
              <a:t>, and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%</a:t>
            </a:r>
            <a:r>
              <a:rPr lang="en-US" dirty="0" smtClean="0"/>
              <a:t> to manipulate values in your programs</a:t>
            </a:r>
          </a:p>
        </p:txBody>
      </p:sp>
      <p:sp>
        <p:nvSpPr>
          <p:cNvPr id="47110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Summary </a:t>
            </a:r>
            <a:r>
              <a:rPr lang="en-US" sz="1200" spc="-200" dirty="0"/>
              <a:t>(cont’d.)</a:t>
            </a:r>
          </a:p>
        </p:txBody>
      </p:sp>
      <p:sp>
        <p:nvSpPr>
          <p:cNvPr id="481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077200" cy="4572000"/>
          </a:xfrm>
        </p:spPr>
        <p:txBody>
          <a:bodyPr/>
          <a:lstStyle/>
          <a:p>
            <a:r>
              <a:rPr lang="en-US" dirty="0"/>
              <a:t>Shortcut arithmetic operators</a:t>
            </a:r>
          </a:p>
          <a:p>
            <a:pPr eaLnBrk="1" hangingPunct="1"/>
            <a:r>
              <a:rPr lang="en-US" dirty="0" smtClean="0"/>
              <a:t>A </a:t>
            </a:r>
            <a:r>
              <a:rPr lang="en-US" dirty="0" smtClean="0">
                <a:latin typeface="Courier New" pitchFamily="1" charset="0"/>
              </a:rPr>
              <a:t>bool</a:t>
            </a:r>
            <a:r>
              <a:rPr lang="en-US" dirty="0" smtClean="0"/>
              <a:t> variable can be true or false</a:t>
            </a:r>
          </a:p>
          <a:p>
            <a:pPr eaLnBrk="1" hangingPunct="1"/>
            <a:r>
              <a:rPr lang="en-US" dirty="0" smtClean="0"/>
              <a:t>Implicit cast versus explicit cast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latin typeface="Courier New" pitchFamily="1" charset="0"/>
              </a:rPr>
              <a:t>char</a:t>
            </a:r>
            <a:r>
              <a:rPr lang="en-US" dirty="0" smtClean="0"/>
              <a:t> data type holds any single character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latin typeface="Courier New" pitchFamily="1" charset="0"/>
              </a:rPr>
              <a:t>string</a:t>
            </a:r>
            <a:r>
              <a:rPr lang="en-US" dirty="0" smtClean="0"/>
              <a:t> data type holds a series of characters</a:t>
            </a:r>
          </a:p>
          <a:p>
            <a:pPr eaLnBrk="1" hangingPunct="1"/>
            <a:r>
              <a:rPr lang="en-US" dirty="0" smtClean="0"/>
              <a:t>Named constants are program identifiers whose values cannot change</a:t>
            </a:r>
          </a:p>
          <a:p>
            <a:r>
              <a:rPr lang="en-US" dirty="0" smtClean="0"/>
              <a:t>The </a:t>
            </a:r>
            <a:r>
              <a:rPr lang="en-US" dirty="0" err="1" smtClean="0">
                <a:latin typeface="Courier New" pitchFamily="1" charset="0"/>
              </a:rPr>
              <a:t>ReadLine</a:t>
            </a:r>
            <a:r>
              <a:rPr lang="en-US" dirty="0" smtClean="0">
                <a:latin typeface="Courier New" pitchFamily="1" charset="0"/>
              </a:rPr>
              <a:t>()</a:t>
            </a:r>
            <a:r>
              <a:rPr lang="en-US" dirty="0" smtClean="0"/>
              <a:t> method accepts user input</a:t>
            </a:r>
          </a:p>
        </p:txBody>
      </p:sp>
      <p:sp>
        <p:nvSpPr>
          <p:cNvPr id="48132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50217D-9BBC-46A2-A943-801914E04061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Farrell_P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9780538479516_PPT_ch02</Template>
  <TotalTime>0</TotalTime>
  <Words>1939</Words>
  <Application>Microsoft Office PowerPoint</Application>
  <PresentationFormat>On-screen Show (4:3)</PresentationFormat>
  <Paragraphs>346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SimSun</vt:lpstr>
      <vt:lpstr>Arial</vt:lpstr>
      <vt:lpstr>Calibri</vt:lpstr>
      <vt:lpstr>Courier New</vt:lpstr>
      <vt:lpstr>Times New Roman</vt:lpstr>
      <vt:lpstr>1_Farrell_PLD</vt:lpstr>
      <vt:lpstr>PowerPoint Presentation</vt:lpstr>
      <vt:lpstr>Objectives</vt:lpstr>
      <vt:lpstr>Objectives (cont’d.)</vt:lpstr>
      <vt:lpstr>Declaring Variables</vt:lpstr>
      <vt:lpstr>Declaring Variables (cont’d.)</vt:lpstr>
      <vt:lpstr>PowerPoint Presentation</vt:lpstr>
      <vt:lpstr>Declaring Variables (cont’d.)</vt:lpstr>
      <vt:lpstr>Declaring Variables (cont’d.)</vt:lpstr>
      <vt:lpstr>Displaying Variable Values</vt:lpstr>
      <vt:lpstr>Displaying Variable Values (cont’d.)</vt:lpstr>
      <vt:lpstr>Displaying Variable Values (cont’d.)</vt:lpstr>
      <vt:lpstr>Displaying Variable Values (cont’d.)</vt:lpstr>
      <vt:lpstr>Displaying Variable Values (cont’d.)</vt:lpstr>
      <vt:lpstr>Displaying Variable Values (cont’d.)</vt:lpstr>
      <vt:lpstr>Using the Integral Data Types</vt:lpstr>
      <vt:lpstr>Using Floating-Point Data Types</vt:lpstr>
      <vt:lpstr>Using Floating-Point Data Types (cont’d.)</vt:lpstr>
      <vt:lpstr>Formatting Floating-Point Values</vt:lpstr>
      <vt:lpstr>Formatting Floating-Point Values (cont’d.)</vt:lpstr>
      <vt:lpstr>Using Arithmetic Operators</vt:lpstr>
      <vt:lpstr>Using Arithmetic Operators (cont’d.)</vt:lpstr>
      <vt:lpstr>Using Shortcut Arithmetic Operators</vt:lpstr>
      <vt:lpstr>Using Shortcut Arithmetic Operators (cont’d.)</vt:lpstr>
      <vt:lpstr>Using the bool Data Type</vt:lpstr>
      <vt:lpstr>Using the bool Data Type (cont’d.)</vt:lpstr>
      <vt:lpstr>Using the bool Data Type (cont’d.)</vt:lpstr>
      <vt:lpstr>Understanding Numeric Type Conversion</vt:lpstr>
      <vt:lpstr>Understanding Numeric Type Conversion (cont’d.)</vt:lpstr>
      <vt:lpstr>Using the char Data Type</vt:lpstr>
      <vt:lpstr>Using the char Data Type (cont’d.)</vt:lpstr>
      <vt:lpstr>Using the char Data Type (cont’d.)</vt:lpstr>
      <vt:lpstr>Using the string Data Type</vt:lpstr>
      <vt:lpstr>Using the string Data Type (cont’d.)</vt:lpstr>
      <vt:lpstr>PowerPoint Presentation</vt:lpstr>
      <vt:lpstr>Using the string Data Type (cont’d.)</vt:lpstr>
      <vt:lpstr>Defining Named Constants</vt:lpstr>
      <vt:lpstr>Working with Enumerations</vt:lpstr>
      <vt:lpstr>Working with Enumerations (cont’d.)</vt:lpstr>
      <vt:lpstr>Accepting Console Input</vt:lpstr>
      <vt:lpstr>Accepting Console Input (cont’d.)</vt:lpstr>
      <vt:lpstr>PowerPoint Presentation</vt:lpstr>
      <vt:lpstr>Using the Parse() Methods</vt:lpstr>
      <vt:lpstr>Summary</vt:lpstr>
      <vt:lpstr>Summary (cont’d.)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2012-09-06T19:55:55Z</dcterms:created>
  <dcterms:modified xsi:type="dcterms:W3CDTF">2015-06-07T21:38:19Z</dcterms:modified>
</cp:coreProperties>
</file>