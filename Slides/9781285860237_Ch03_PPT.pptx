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62" r:id="rId1"/>
  </p:sldMasterIdLst>
  <p:notesMasterIdLst>
    <p:notesMasterId r:id="rId43"/>
  </p:notesMasterIdLst>
  <p:handoutMasterIdLst>
    <p:handoutMasterId r:id="rId44"/>
  </p:handoutMasterIdLst>
  <p:sldIdLst>
    <p:sldId id="624" r:id="rId2"/>
    <p:sldId id="257" r:id="rId3"/>
    <p:sldId id="585" r:id="rId4"/>
    <p:sldId id="476" r:id="rId5"/>
    <p:sldId id="669" r:id="rId6"/>
    <p:sldId id="626" r:id="rId7"/>
    <p:sldId id="627" r:id="rId8"/>
    <p:sldId id="670" r:id="rId9"/>
    <p:sldId id="630" r:id="rId10"/>
    <p:sldId id="671" r:id="rId11"/>
    <p:sldId id="629" r:id="rId12"/>
    <p:sldId id="632" r:id="rId13"/>
    <p:sldId id="672" r:id="rId14"/>
    <p:sldId id="652" r:id="rId15"/>
    <p:sldId id="673" r:id="rId16"/>
    <p:sldId id="634" r:id="rId17"/>
    <p:sldId id="653" r:id="rId18"/>
    <p:sldId id="636" r:id="rId19"/>
    <p:sldId id="654" r:id="rId20"/>
    <p:sldId id="668" r:id="rId21"/>
    <p:sldId id="655" r:id="rId22"/>
    <p:sldId id="637" r:id="rId23"/>
    <p:sldId id="656" r:id="rId24"/>
    <p:sldId id="638" r:id="rId25"/>
    <p:sldId id="657" r:id="rId26"/>
    <p:sldId id="641" r:id="rId27"/>
    <p:sldId id="642" r:id="rId28"/>
    <p:sldId id="662" r:id="rId29"/>
    <p:sldId id="665" r:id="rId30"/>
    <p:sldId id="663" r:id="rId31"/>
    <p:sldId id="664" r:id="rId32"/>
    <p:sldId id="658" r:id="rId33"/>
    <p:sldId id="643" r:id="rId34"/>
    <p:sldId id="659" r:id="rId35"/>
    <p:sldId id="660" r:id="rId36"/>
    <p:sldId id="645" r:id="rId37"/>
    <p:sldId id="661" r:id="rId38"/>
    <p:sldId id="647" r:id="rId39"/>
    <p:sldId id="648" r:id="rId40"/>
    <p:sldId id="650" r:id="rId41"/>
    <p:sldId id="651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440" autoAdjust="0"/>
    <p:restoredTop sz="94531" autoAdjust="0"/>
  </p:normalViewPr>
  <p:slideViewPr>
    <p:cSldViewPr>
      <p:cViewPr varScale="1">
        <p:scale>
          <a:sx n="74" d="100"/>
          <a:sy n="74" d="100"/>
        </p:scale>
        <p:origin x="166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D0476DEA-3394-4A07-B237-08D88994B8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107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5B4B7A39-91C0-4D90-8ADA-EBCDBF2AD9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5620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DAF475-1232-40F4-840A-D6EF845D323C}" type="slidenum">
              <a:rPr lang="en-US" smtClean="0">
                <a:latin typeface="Times New Roman" pitchFamily="1" charset="0"/>
              </a:rPr>
              <a:pPr/>
              <a:t>1</a:t>
            </a:fld>
            <a:endParaRPr lang="en-US" dirty="0" smtClean="0">
              <a:latin typeface="Times New Roman" pitchFamily="1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C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73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163399-C591-44DB-91BA-AEB7031E1637}" type="slidenum">
              <a:rPr lang="en-US" smtClean="0">
                <a:latin typeface="Times New Roman" pitchFamily="1" charset="0"/>
              </a:rPr>
              <a:pPr/>
              <a:t>2</a:t>
            </a:fld>
            <a:endParaRPr lang="en-US" dirty="0" smtClean="0">
              <a:latin typeface="Times New Roman" pitchFamily="1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877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FF64DE-B33B-4CA3-8A1B-4F53C5C9F783}" type="slidenum">
              <a:rPr lang="en-US" smtClean="0">
                <a:latin typeface="Times New Roman" pitchFamily="1" charset="0"/>
              </a:rPr>
              <a:pPr/>
              <a:t>3</a:t>
            </a:fld>
            <a:endParaRPr lang="en-US" dirty="0" smtClean="0">
              <a:latin typeface="Times New Roman" pitchFamily="1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915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A7BD25-B673-4CEA-8D11-E4EF594B0382}" type="slidenum">
              <a:rPr lang="en-US" smtClean="0">
                <a:latin typeface="Times New Roman" pitchFamily="1" charset="0"/>
              </a:rPr>
              <a:pPr/>
              <a:t>4</a:t>
            </a:fld>
            <a:endParaRPr lang="en-US" dirty="0" smtClean="0">
              <a:latin typeface="Times New Roman" pitchFamily="1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76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A7BD25-B673-4CEA-8D11-E4EF594B0382}" type="slidenum">
              <a:rPr lang="en-US" smtClean="0">
                <a:latin typeface="Times New Roman" pitchFamily="1" charset="0"/>
              </a:rPr>
              <a:pPr/>
              <a:t>5</a:t>
            </a:fld>
            <a:endParaRPr lang="en-US" dirty="0" smtClean="0">
              <a:latin typeface="Times New Roman" pitchFamily="1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44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38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653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A7BD25-B673-4CEA-8D11-E4EF594B0382}" type="slidenum">
              <a:rPr lang="en-US" smtClean="0">
                <a:latin typeface="Times New Roman" pitchFamily="1" charset="0"/>
              </a:rPr>
              <a:pPr/>
              <a:t>8</a:t>
            </a:fld>
            <a:endParaRPr lang="en-US" dirty="0" smtClean="0">
              <a:latin typeface="Times New Roman" pitchFamily="1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56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86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A7BD25-B673-4CEA-8D11-E4EF594B0382}" type="slidenum">
              <a:rPr lang="en-US" smtClean="0">
                <a:latin typeface="Times New Roman" pitchFamily="1" charset="0"/>
              </a:rPr>
              <a:pPr/>
              <a:t>10</a:t>
            </a:fld>
            <a:endParaRPr lang="en-US" dirty="0" smtClean="0">
              <a:latin typeface="Times New Roman" pitchFamily="1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>
              <a:latin typeface="Times New Roman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047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492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56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172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51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091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28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064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836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48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37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4870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95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7704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64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9570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345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173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6174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906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9217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8140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9098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9591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9475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8301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7345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3591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799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5236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3505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4B7A39-91C0-4D90-8ADA-EBCDBF2AD9F1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30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0" y="3581400"/>
            <a:ext cx="4800600" cy="19812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Chapter 1: </a:t>
            </a:r>
          </a:p>
          <a:p>
            <a:r>
              <a:rPr lang="en-US" dirty="0" smtClean="0"/>
              <a:t>Title Goes Here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422"/>
            <a:ext cx="5572125" cy="6525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CA1E5-7CDE-4E5C-A243-7A5492DDB14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A446E-10EC-465D-96F9-C9D8DBFBF5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EA632-0BCA-40F8-AA20-A3082C27280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0CD4FD-B72C-4629-B300-4984EE51223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90349-2C3A-4559-B78D-268D502E9E5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ACB1E-F123-48F4-823A-28E76FD824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BDB67-FD0C-46C5-93C9-2CF36F51761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1D0A-FAF6-4908-A564-4E3F9E3DA49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011FE-6DCC-46EF-9039-6E4B0B762E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64080-8811-44AF-8A38-B09BA1514C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2A5C2-691F-41C9-8899-BBC11B2DD4F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CA4067E9-2134-4A4A-9E39-5484F40456C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662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3810000" y="6356350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Chapter 3:</a:t>
            </a:r>
          </a:p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Using GUI Objects and the Visual Studio 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Objectives</a:t>
            </a:r>
          </a:p>
        </p:txBody>
      </p:sp>
      <p:sp>
        <p:nvSpPr>
          <p:cNvPr id="112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Create a </a:t>
            </a:r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 in the Visual Studio IDE</a:t>
            </a:r>
          </a:p>
          <a:p>
            <a:pPr eaLnBrk="1" hangingPunct="1"/>
            <a:r>
              <a:rPr lang="en-US" dirty="0" smtClean="0"/>
              <a:t>Use the Toolbox to add a </a:t>
            </a:r>
            <a:r>
              <a:rPr lang="en-US" dirty="0" smtClean="0">
                <a:latin typeface="Courier New" pitchFamily="1" charset="0"/>
              </a:rPr>
              <a:t>Button</a:t>
            </a:r>
            <a:r>
              <a:rPr lang="en-US" dirty="0" smtClean="0"/>
              <a:t> to a </a:t>
            </a:r>
            <a:r>
              <a:rPr lang="en-US" dirty="0" smtClean="0">
                <a:latin typeface="Courier New" pitchFamily="1" charset="0"/>
              </a:rPr>
              <a:t>Form</a:t>
            </a:r>
            <a:endParaRPr lang="en-US" dirty="0" smtClean="0"/>
          </a:p>
          <a:p>
            <a:pPr eaLnBrk="1" hangingPunct="1"/>
            <a:r>
              <a:rPr lang="en-US" dirty="0" smtClean="0"/>
              <a:t>Add </a:t>
            </a:r>
            <a:r>
              <a:rPr lang="en-US" dirty="0" smtClean="0">
                <a:latin typeface="Courier New" pitchFamily="1" charset="0"/>
              </a:rPr>
              <a:t>Label</a:t>
            </a:r>
            <a:r>
              <a:rPr lang="en-US" dirty="0" smtClean="0"/>
              <a:t>s and </a:t>
            </a:r>
            <a:r>
              <a:rPr lang="en-US" dirty="0" smtClean="0">
                <a:latin typeface="Courier New" pitchFamily="1" charset="0"/>
              </a:rPr>
              <a:t>TextBox</a:t>
            </a:r>
            <a:r>
              <a:rPr lang="en-US" dirty="0" smtClean="0"/>
              <a:t>es to a </a:t>
            </a:r>
            <a:r>
              <a:rPr lang="en-US" dirty="0" smtClean="0">
                <a:latin typeface="Courier New" pitchFamily="1" charset="0"/>
              </a:rPr>
              <a:t>Form</a:t>
            </a:r>
            <a:endParaRPr lang="en-US" dirty="0" smtClean="0"/>
          </a:p>
          <a:p>
            <a:pPr eaLnBrk="1" hangingPunct="1"/>
            <a:r>
              <a:rPr lang="en-US" dirty="0" smtClean="0"/>
              <a:t>Name </a:t>
            </a:r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s and controls</a:t>
            </a:r>
          </a:p>
          <a:p>
            <a:pPr eaLnBrk="1" hangingPunct="1"/>
            <a:r>
              <a:rPr lang="en-US" dirty="0" smtClean="0"/>
              <a:t>Correct errors</a:t>
            </a:r>
          </a:p>
          <a:p>
            <a:pPr eaLnBrk="1" hangingPunct="1"/>
            <a:r>
              <a:rPr lang="en-US" dirty="0" smtClean="0"/>
              <a:t>Decide which interface to use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F5555D-94FE-478C-86D5-20728BBD32E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11268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</a:t>
            </a:r>
          </a:p>
        </p:txBody>
      </p:sp>
      <p:sp>
        <p:nvSpPr>
          <p:cNvPr id="122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ourier New" pitchFamily="1" charset="0"/>
              </a:rPr>
              <a:t>interface </a:t>
            </a:r>
            <a:r>
              <a:rPr lang="en-US" dirty="0"/>
              <a:t>is the </a:t>
            </a:r>
            <a:r>
              <a:rPr lang="en-US" dirty="0" smtClean="0"/>
              <a:t>environment </a:t>
            </a:r>
            <a:r>
              <a:rPr lang="en-US" dirty="0"/>
              <a:t>the user </a:t>
            </a:r>
            <a:r>
              <a:rPr lang="en-US" dirty="0" smtClean="0"/>
              <a:t>sees</a:t>
            </a:r>
            <a:endParaRPr lang="en-US" b="1" dirty="0" smtClean="0">
              <a:latin typeface="Courier New" pitchFamily="1" charset="0"/>
            </a:endParaRPr>
          </a:p>
          <a:p>
            <a:pPr eaLnBrk="1" hangingPunct="1"/>
            <a:r>
              <a:rPr lang="en-US" b="1" dirty="0" smtClean="0">
                <a:latin typeface="Courier New" pitchFamily="1" charset="0"/>
              </a:rPr>
              <a:t>Form</a:t>
            </a:r>
            <a:r>
              <a:rPr lang="en-US" dirty="0" smtClean="0"/>
              <a:t>s are rectangular graphical user interface (GUI) objects that provide an interface for collecting, displaying, and delivering information</a:t>
            </a:r>
          </a:p>
          <a:p>
            <a:r>
              <a:rPr lang="en-US" dirty="0" smtClean="0"/>
              <a:t>To create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Select New Project after starting Visual Studio</a:t>
            </a:r>
          </a:p>
          <a:p>
            <a:pPr lvl="1"/>
            <a:r>
              <a:rPr lang="en-US" dirty="0" smtClean="0"/>
              <a:t>Then choose Windows Forms Application</a:t>
            </a:r>
          </a:p>
          <a:p>
            <a:pPr lvl="1"/>
            <a:r>
              <a:rPr lang="en-US" dirty="0" smtClean="0"/>
              <a:t>After you click OK in the New Project window, you see the IDE main window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6F1FEE-938C-49C6-AE25-6FB76B68C9FC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12292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/>
          <a:lstStyle/>
          <a:p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 </a:t>
            </a:r>
            <a:r>
              <a:rPr lang="en-US" sz="1200" spc="-200" dirty="0"/>
              <a:t>(cont’d.)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B76336-4EDD-4B6E-808D-795EE3A16CBC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3316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14474"/>
            <a:ext cx="8814134" cy="43529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/>
          <a:lstStyle/>
          <a:p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 </a:t>
            </a:r>
            <a:r>
              <a:rPr lang="en-US" sz="1200" spc="-200" dirty="0"/>
              <a:t>(cont’d.)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B76336-4EDD-4B6E-808D-795EE3A16CBC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3316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16" y="1209674"/>
            <a:ext cx="8545835" cy="509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4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 </a:t>
            </a:r>
            <a:r>
              <a:rPr lang="en-US" sz="1200" spc="-200" dirty="0"/>
              <a:t>(cont’d.)</a:t>
            </a:r>
            <a:endParaRPr lang="en-US" sz="1200" dirty="0" smtClean="0"/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name of the application shows in three places: the title bar, the Solution Explorer, and the Properties window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main menu</a:t>
            </a:r>
            <a:r>
              <a:rPr lang="en-US" dirty="0" smtClean="0"/>
              <a:t> lies horizontally across the top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Toolbox tab</a:t>
            </a:r>
            <a:r>
              <a:rPr lang="en-US" dirty="0" smtClean="0"/>
              <a:t> provides a list of controls you can drag onto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Form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Form Designer</a:t>
            </a:r>
            <a:r>
              <a:rPr lang="en-US" dirty="0" smtClean="0"/>
              <a:t> appears in the center of the screen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Solution Explorer</a:t>
            </a:r>
            <a:r>
              <a:rPr lang="en-US" dirty="0" smtClean="0"/>
              <a:t> allows viewing and management of project files and settings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A38D49-E1FB-4F21-B541-77E58BA9545E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 </a:t>
            </a:r>
            <a:r>
              <a:rPr lang="en-US" sz="1200" spc="-200" dirty="0"/>
              <a:t>(cont’d.)</a:t>
            </a:r>
            <a:endParaRPr lang="en-US" sz="1200" dirty="0" smtClean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/>
              <a:t>Properties window</a:t>
            </a:r>
            <a:r>
              <a:rPr lang="en-US" dirty="0" smtClean="0"/>
              <a:t> is for configuring properties and events on controls in your user interface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Error list</a:t>
            </a:r>
            <a:r>
              <a:rPr lang="en-US" dirty="0" smtClean="0"/>
              <a:t> displays messages about compiler errors in your code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5C7194-1E90-4EEE-B93C-DC22CA0C5808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/>
          <a:lstStyle/>
          <a:p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 </a:t>
            </a:r>
            <a:r>
              <a:rPr lang="en-US" sz="1200" spc="-200" dirty="0"/>
              <a:t>(cont’d.)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B76336-4EDD-4B6E-808D-795EE3A16CBC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3316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385887"/>
            <a:ext cx="80391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9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 </a:t>
            </a:r>
            <a:r>
              <a:rPr lang="en-US" sz="1200" spc="-200" dirty="0"/>
              <a:t>(cont’d.)</a:t>
            </a:r>
            <a:endParaRPr lang="en-US" sz="1200" dirty="0" smtClean="0"/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Properties window, you can change the appearance, size, and color of a window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 class contains around 100 properties</a:t>
            </a:r>
          </a:p>
          <a:p>
            <a:r>
              <a:rPr lang="en-US" dirty="0" smtClean="0"/>
              <a:t>Property names appear in alphabetical order in groups (except for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dirty="0" smtClean="0"/>
              <a:t>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2BDB9A-E492-4FB1-8DE1-34C429A4F97F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/>
          <a:lstStyle/>
          <a:p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 </a:t>
            </a:r>
            <a:r>
              <a:rPr lang="en-US" sz="1200" spc="-200" dirty="0"/>
              <a:t>(cont’d.)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B76336-4EDD-4B6E-808D-795EE3A16CBC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316" name="Footer Placeholder 3"/>
          <p:cNvSpPr txBox="1">
            <a:spLocks noGrp="1"/>
          </p:cNvSpPr>
          <p:nvPr/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 dirty="0">
              <a:solidFill>
                <a:srgbClr val="222222"/>
              </a:solidFill>
              <a:latin typeface="Arial" charset="0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/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" y="1319212"/>
            <a:ext cx="81819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1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Creating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in the IDE </a:t>
            </a:r>
            <a:r>
              <a:rPr lang="en-US" sz="1200" spc="-200" dirty="0"/>
              <a:t>(cont’d.)</a:t>
            </a:r>
            <a:endParaRPr lang="en-US" sz="1200" dirty="0" smtClean="0"/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Program.cs file contains the automatically generated </a:t>
            </a:r>
            <a:r>
              <a:rPr lang="en-US" dirty="0" smtClean="0">
                <a:latin typeface="Courier New" pitchFamily="1" charset="0"/>
              </a:rPr>
              <a:t>Main()</a:t>
            </a:r>
            <a:r>
              <a:rPr lang="en-US" dirty="0" smtClean="0"/>
              <a:t> method of the application</a:t>
            </a:r>
          </a:p>
          <a:p>
            <a:r>
              <a:rPr lang="en-US" dirty="0" smtClean="0"/>
              <a:t>Form1.cs contains other automatically generated code</a:t>
            </a:r>
          </a:p>
          <a:p>
            <a:pPr lvl="1"/>
            <a:r>
              <a:rPr lang="en-US" dirty="0" smtClean="0"/>
              <a:t>The code describes what tasks you will assign to the controls in your application</a:t>
            </a:r>
          </a:p>
          <a:p>
            <a:r>
              <a:rPr lang="en-US" dirty="0" smtClean="0"/>
              <a:t>When you create a Windows Form project, Visual C# adds a </a:t>
            </a:r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 to the project and calls it </a:t>
            </a:r>
            <a:r>
              <a:rPr lang="en-US" dirty="0" smtClean="0">
                <a:latin typeface="Courier New" pitchFamily="1" charset="0"/>
              </a:rPr>
              <a:t>Form1</a:t>
            </a:r>
            <a:endParaRPr lang="en-US" dirty="0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555373-EA19-4781-ACC8-400919D8F5AC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915400" cy="1143000"/>
          </a:xfrm>
        </p:spPr>
        <p:txBody>
          <a:bodyPr/>
          <a:lstStyle/>
          <a:p>
            <a:r>
              <a:rPr lang="en-US" sz="4000" spc="-200" dirty="0"/>
              <a:t>Using the Toolbox to Add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/>
              <a:t>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open the IDE, the left border displays a Toolbox tab</a:t>
            </a:r>
          </a:p>
          <a:p>
            <a:pPr lvl="1"/>
            <a:r>
              <a:rPr lang="en-US" dirty="0" smtClean="0"/>
              <a:t>Open the toolbox, and a list of tool groups is displayed</a:t>
            </a:r>
          </a:p>
          <a:p>
            <a:pPr lvl="1"/>
            <a:r>
              <a:rPr lang="en-US" dirty="0" smtClean="0"/>
              <a:t>The tool groups include the controls you have seen when using a Windows application</a:t>
            </a:r>
          </a:p>
          <a:p>
            <a:r>
              <a:rPr lang="en-US" dirty="0" smtClean="0"/>
              <a:t>You can drag controls (such as a </a:t>
            </a:r>
            <a:r>
              <a:rPr lang="en-US" dirty="0" smtClean="0">
                <a:latin typeface="Courier New" pitchFamily="1" charset="0"/>
              </a:rPr>
              <a:t>Button</a:t>
            </a:r>
            <a:r>
              <a:rPr lang="en-US" dirty="0" smtClean="0"/>
              <a:t>) onto a </a:t>
            </a:r>
            <a:r>
              <a:rPr lang="en-US" dirty="0" smtClean="0">
                <a:latin typeface="Courier New" pitchFamily="1" charset="0"/>
              </a:rPr>
              <a:t>Form</a:t>
            </a:r>
          </a:p>
          <a:p>
            <a:r>
              <a:rPr lang="en-US" dirty="0" smtClean="0"/>
              <a:t>You can relocate a control by dragging it, or delete it by selecting it and pressing the Del key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0C21DD-D71A-45AA-80FB-25F9C9851AFC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915400" cy="1143000"/>
          </a:xfrm>
        </p:spPr>
        <p:txBody>
          <a:bodyPr/>
          <a:lstStyle/>
          <a:p>
            <a:r>
              <a:rPr lang="en-US" sz="4000" spc="-200" dirty="0"/>
              <a:t>Using the Toolbox to Add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/>
              <a:t>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/>
              <a:t>(cont’d.)</a:t>
            </a:r>
            <a:endParaRPr lang="en-US" sz="4000" spc="-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0C21DD-D71A-45AA-80FB-25F9C9851AFC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69" y="1457324"/>
            <a:ext cx="8549932" cy="448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2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915400" cy="1143000"/>
          </a:xfrm>
        </p:spPr>
        <p:txBody>
          <a:bodyPr/>
          <a:lstStyle/>
          <a:p>
            <a:r>
              <a:rPr lang="en-US" sz="4000" spc="-200" dirty="0"/>
              <a:t>Using the Toolbox to Add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/>
              <a:t> to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/>
              <a:t>(cont’d.)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latin typeface="Courier New" pitchFamily="1" charset="0"/>
              </a:rPr>
              <a:t>Button</a:t>
            </a:r>
            <a:r>
              <a:rPr lang="en-US" dirty="0" smtClean="0"/>
              <a:t> is a clickable object that allows a user to interact with a GUI program</a:t>
            </a:r>
          </a:p>
          <a:p>
            <a:r>
              <a:rPr lang="en-US" dirty="0" smtClean="0"/>
              <a:t>By default, the first button dragged onto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dirty="0" smtClean="0"/>
              <a:t> is named </a:t>
            </a:r>
            <a:r>
              <a:rPr lang="en-US" dirty="0" smtClean="0">
                <a:latin typeface="Courier New" pitchFamily="1" charset="0"/>
              </a:rPr>
              <a:t>button1</a:t>
            </a:r>
            <a:endParaRPr lang="en-US" dirty="0" smtClean="0"/>
          </a:p>
          <a:p>
            <a:pPr lvl="1"/>
            <a:r>
              <a:rPr lang="en-US" dirty="0" smtClean="0"/>
              <a:t>You should probably change the name to something meaningful</a:t>
            </a:r>
          </a:p>
          <a:p>
            <a:r>
              <a:rPr lang="en-US" dirty="0" smtClean="0"/>
              <a:t>When you click on a control, the Properties window shows its properties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212F23-270D-4CD1-B08E-E41B561872EA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915400" cy="1143000"/>
          </a:xfrm>
        </p:spPr>
        <p:txBody>
          <a:bodyPr/>
          <a:lstStyle/>
          <a:p>
            <a:r>
              <a:rPr lang="en-US" sz="4000" spc="-200" dirty="0"/>
              <a:t>Using the Toolbox to Add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/>
              <a:t>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/>
              <a:t>(cont’d.)</a:t>
            </a:r>
            <a:endParaRPr lang="en-US" sz="4000" spc="-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0C21DD-D71A-45AA-80FB-25F9C9851AFC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78" y="1366837"/>
            <a:ext cx="8825860" cy="457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55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F03726-2AF6-4BE8-A975-6F6FA2653723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Using the Toolbox to Add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/>
              <a:t>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/>
              <a:t>(cont’d.)</a:t>
            </a:r>
            <a:endParaRPr lang="en-US" sz="12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62100"/>
            <a:ext cx="807720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Adding functionality to a </a:t>
            </a:r>
            <a:r>
              <a:rPr lang="en-US" dirty="0" smtClean="0">
                <a:latin typeface="Courier New" pitchFamily="1" charset="0"/>
              </a:rPr>
              <a:t>Button</a:t>
            </a:r>
            <a:r>
              <a:rPr lang="en-US" dirty="0" smtClean="0"/>
              <a:t> is easy with the IDE</a:t>
            </a:r>
          </a:p>
          <a:p>
            <a:pPr lvl="1"/>
            <a:r>
              <a:rPr lang="en-US" dirty="0" smtClean="0"/>
              <a:t>After dragging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dirty="0" smtClean="0"/>
              <a:t> onto a </a:t>
            </a:r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, you double-click on it to create a method that executes when the user clicks the </a:t>
            </a:r>
            <a:r>
              <a:rPr lang="en-US" dirty="0" smtClean="0">
                <a:latin typeface="Courier New" pitchFamily="1" charset="0"/>
              </a:rPr>
              <a:t>Button</a:t>
            </a:r>
            <a:endParaRPr lang="en-US" dirty="0" smtClean="0"/>
          </a:p>
          <a:p>
            <a:r>
              <a:rPr lang="en-US" dirty="0"/>
              <a:t>You can view the </a:t>
            </a:r>
            <a:r>
              <a:rPr lang="en-US" dirty="0" smtClean="0"/>
              <a:t>designer by </a:t>
            </a:r>
            <a:r>
              <a:rPr lang="en-US" dirty="0"/>
              <a:t>selecting View and then </a:t>
            </a:r>
            <a:r>
              <a:rPr lang="en-US" dirty="0" smtClean="0"/>
              <a:t>Designer from </a:t>
            </a:r>
            <a:r>
              <a:rPr lang="en-US" dirty="0"/>
              <a:t>the </a:t>
            </a:r>
            <a:r>
              <a:rPr lang="en-US" dirty="0" smtClean="0"/>
              <a:t>menu bar</a:t>
            </a:r>
            <a:endParaRPr lang="en-US" dirty="0"/>
          </a:p>
          <a:p>
            <a:r>
              <a:rPr lang="en-US" dirty="0" smtClean="0"/>
              <a:t>You can view the code by selecting View and then Code from the menu bar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E2102C-8373-486A-98E8-66C7AEE00E6A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 smtClean="0"/>
              <a:t>Adding Functionality to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 smtClean="0"/>
              <a:t> on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Form</a:t>
            </a:r>
            <a:endParaRPr lang="en-US" sz="12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8D4485-B0ED-4E24-9C44-DC601F710A5E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Adding Functionality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/>
              <a:t> on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Form </a:t>
            </a:r>
            <a:r>
              <a:rPr lang="en-US" sz="1200" spc="-200" dirty="0" smtClean="0"/>
              <a:t>(cont’d</a:t>
            </a:r>
            <a:r>
              <a:rPr lang="en-US" sz="1200" spc="-200" dirty="0"/>
              <a:t>.)</a:t>
            </a:r>
            <a:endParaRPr lang="en-US" sz="12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70" y="1504950"/>
            <a:ext cx="8659781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You will see many generated statements—some confusing, most of which you can ignore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Write code between the curly braces of the </a:t>
            </a:r>
            <a:r>
              <a:rPr lang="en-US" dirty="0" smtClean="0">
                <a:latin typeface="Courier New" pitchFamily="1" charset="0"/>
              </a:rPr>
              <a:t>button1_Click()</a:t>
            </a:r>
            <a:r>
              <a:rPr lang="en-US" dirty="0" smtClean="0"/>
              <a:t> method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If you change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dirty="0" smtClean="0"/>
              <a:t> property of the </a:t>
            </a:r>
            <a:r>
              <a:rPr lang="en-US" dirty="0" smtClean="0">
                <a:latin typeface="Courier New" pitchFamily="1" charset="0"/>
              </a:rPr>
              <a:t>button1</a:t>
            </a:r>
            <a:r>
              <a:rPr lang="en-US" dirty="0" smtClean="0"/>
              <a:t> object, a subsequently created </a:t>
            </a:r>
            <a:r>
              <a:rPr lang="en-US" dirty="0" smtClean="0">
                <a:latin typeface="Courier New" pitchFamily="1" charset="0"/>
              </a:rPr>
              <a:t>Click()</a:t>
            </a:r>
            <a:r>
              <a:rPr lang="en-US" dirty="0" smtClean="0"/>
              <a:t> method will have the same name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You can write anything you want in the </a:t>
            </a:r>
            <a:r>
              <a:rPr lang="en-US" dirty="0" smtClean="0">
                <a:latin typeface="Courier New" pitchFamily="1" charset="0"/>
              </a:rPr>
              <a:t>Click()</a:t>
            </a:r>
            <a:r>
              <a:rPr lang="en-US" dirty="0" smtClean="0"/>
              <a:t> methods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1A65A5D-8FC0-41B1-89BF-86DFB31EA897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Adding Functionality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/>
              <a:t> on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 </a:t>
            </a:r>
            <a:r>
              <a:rPr lang="en-US" sz="1200" spc="-200" dirty="0"/>
              <a:t>(cont’d.)</a:t>
            </a:r>
            <a:endParaRPr lang="en-US" sz="4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Events</a:t>
            </a:r>
            <a:r>
              <a:rPr lang="en-US" dirty="0" smtClean="0"/>
              <a:t> are generated to cause the program to perform a task when a user interacts with a GUI Object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Click Event </a:t>
            </a:r>
            <a:r>
              <a:rPr lang="en-US" dirty="0" smtClean="0"/>
              <a:t>occurs when a user clicks on an object like a button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5CA1E5-7CDE-4E5C-A243-7A5492DDB14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Adding Functionality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4000" spc="-200" dirty="0"/>
              <a:t> on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 </a:t>
            </a:r>
            <a:r>
              <a:rPr lang="en-US" sz="1200" spc="-200" dirty="0"/>
              <a:t>(cont’d.)</a:t>
            </a:r>
            <a:endParaRPr lang="en-US" sz="4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436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Adding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Labels</a:t>
            </a:r>
            <a:r>
              <a:rPr lang="en-US" sz="4000" spc="-200" dirty="0"/>
              <a:t> and </a:t>
            </a:r>
            <a:r>
              <a:rPr lang="en-US" sz="4000" spc="-200" dirty="0" err="1">
                <a:latin typeface="Courier New" pitchFamily="49" charset="0"/>
                <a:cs typeface="Courier New" pitchFamily="49" charset="0"/>
              </a:rPr>
              <a:t>TextBoxes</a:t>
            </a:r>
            <a:r>
              <a:rPr lang="en-US" sz="4000" spc="-200" dirty="0"/>
              <a:t> </a:t>
            </a:r>
            <a:r>
              <a:rPr lang="en-US" sz="4000" spc="-200" dirty="0" smtClean="0"/>
              <a:t>to </a:t>
            </a:r>
            <a:r>
              <a:rPr lang="en-US" sz="4000" spc="-200" dirty="0"/>
              <a:t>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b="1" dirty="0" smtClean="0">
                <a:latin typeface="Courier New" pitchFamily="1" charset="0"/>
              </a:rPr>
              <a:t>Label</a:t>
            </a:r>
            <a:r>
              <a:rPr lang="en-US" b="1" dirty="0" smtClean="0"/>
              <a:t>s</a:t>
            </a:r>
            <a:r>
              <a:rPr lang="en-US" dirty="0" smtClean="0"/>
              <a:t> are controls that you use to display text to communicate with an application’s user</a:t>
            </a:r>
          </a:p>
          <a:p>
            <a:r>
              <a:rPr lang="en-US" dirty="0" smtClean="0"/>
              <a:t>You can drag a </a:t>
            </a:r>
            <a:r>
              <a:rPr lang="en-US" dirty="0" smtClean="0">
                <a:latin typeface="Courier New" pitchFamily="1" charset="0"/>
              </a:rPr>
              <a:t>Label</a:t>
            </a:r>
            <a:r>
              <a:rPr lang="en-US" dirty="0" smtClean="0"/>
              <a:t> onto a </a:t>
            </a:r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, just like a </a:t>
            </a:r>
            <a:r>
              <a:rPr lang="en-US" dirty="0" smtClean="0">
                <a:latin typeface="Courier New" pitchFamily="1" charset="0"/>
              </a:rPr>
              <a:t>Button</a:t>
            </a:r>
            <a:endParaRPr lang="en-US" dirty="0" smtClean="0"/>
          </a:p>
          <a:p>
            <a:r>
              <a:rPr lang="en-US" dirty="0" smtClean="0"/>
              <a:t>You can change its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Text</a:t>
            </a:r>
            <a:r>
              <a:rPr lang="en-US" dirty="0" smtClean="0"/>
              <a:t> property to display any text you like</a:t>
            </a:r>
          </a:p>
          <a:p>
            <a:pPr lvl="1"/>
            <a:r>
              <a:rPr lang="en-US" dirty="0" smtClean="0"/>
              <a:t>Depending on the amount of text, you may need to resize the label</a:t>
            </a:r>
          </a:p>
          <a:p>
            <a:r>
              <a:rPr lang="en-US" dirty="0" smtClean="0"/>
              <a:t>In Figure 3-7, “Enter a number” has been assigned to </a:t>
            </a:r>
            <a:r>
              <a:rPr lang="en-US" dirty="0" smtClean="0">
                <a:latin typeface="Courier New" pitchFamily="1" charset="0"/>
              </a:rPr>
              <a:t>label1</a:t>
            </a:r>
            <a:r>
              <a:rPr lang="en-US" dirty="0" smtClean="0"/>
              <a:t>’s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 smtClean="0"/>
              <a:t> property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1B3D03-5D83-4ACB-AB12-8C62CF7E206F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0D1E28-FDFB-4AF9-8DA0-E73C3088FB5E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Adding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Labels</a:t>
            </a:r>
            <a:r>
              <a:rPr lang="en-US" sz="4000" spc="-200" dirty="0"/>
              <a:t> and </a:t>
            </a:r>
            <a:r>
              <a:rPr lang="en-US" sz="4000" spc="-200" dirty="0" err="1">
                <a:latin typeface="Courier New" pitchFamily="49" charset="0"/>
                <a:cs typeface="Courier New" pitchFamily="49" charset="0"/>
              </a:rPr>
              <a:t>TextBoxes</a:t>
            </a:r>
            <a:r>
              <a:rPr lang="en-US" sz="4000" spc="-200" dirty="0"/>
              <a:t> to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 smtClean="0"/>
              <a:t>(</a:t>
            </a:r>
            <a:r>
              <a:rPr lang="en-US" sz="1200" spc="-200" dirty="0"/>
              <a:t>cont’d.)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41084"/>
            <a:ext cx="7341734" cy="45787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Courier New" pitchFamily="1" charset="0"/>
              </a:rPr>
              <a:t>TextBox</a:t>
            </a:r>
            <a:r>
              <a:rPr lang="en-US" b="1" dirty="0" smtClean="0"/>
              <a:t>es</a:t>
            </a:r>
            <a:r>
              <a:rPr lang="en-US" dirty="0" smtClean="0"/>
              <a:t> are controls through which a user can enter input data in a GUI application</a:t>
            </a:r>
          </a:p>
          <a:p>
            <a:r>
              <a:rPr lang="en-US" dirty="0" smtClean="0"/>
              <a:t>If a user is supposed to enter data in a </a:t>
            </a:r>
            <a:r>
              <a:rPr lang="en-US" dirty="0" smtClean="0">
                <a:latin typeface="Courier New" pitchFamily="1" charset="0"/>
              </a:rPr>
              <a:t>TextBox</a:t>
            </a:r>
            <a:r>
              <a:rPr lang="en-US" dirty="0" smtClean="0"/>
              <a:t>, you frequently want to start with its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 smtClean="0"/>
              <a:t> property empty</a:t>
            </a:r>
          </a:p>
          <a:p>
            <a:r>
              <a:rPr lang="en-US" dirty="0" smtClean="0"/>
              <a:t>When a user types a value into a </a:t>
            </a:r>
            <a:r>
              <a:rPr lang="en-US" dirty="0" smtClean="0">
                <a:latin typeface="Courier New" pitchFamily="1" charset="0"/>
              </a:rPr>
              <a:t>TextBox</a:t>
            </a:r>
            <a:r>
              <a:rPr lang="en-US" dirty="0" smtClean="0"/>
              <a:t>, it becomes the value of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dirty="0" smtClean="0"/>
              <a:t> property</a:t>
            </a:r>
          </a:p>
          <a:p>
            <a:pPr lvl="1"/>
            <a:r>
              <a:rPr lang="en-US" dirty="0" smtClean="0"/>
              <a:t>It is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 smtClean="0"/>
              <a:t> by default</a:t>
            </a:r>
          </a:p>
          <a:p>
            <a:pPr lvl="1"/>
            <a:r>
              <a:rPr lang="en-US" dirty="0" smtClean="0"/>
              <a:t>If the user is supposed to enter a number, you’ll have to convert it, just as in a console application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417C0D-5A37-4533-B3DA-23AD94EF7C84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Adding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Labels</a:t>
            </a:r>
            <a:r>
              <a:rPr lang="en-US" sz="4000" spc="-200" dirty="0"/>
              <a:t> and </a:t>
            </a:r>
            <a:r>
              <a:rPr lang="en-US" sz="4000" spc="-200" dirty="0" err="1">
                <a:latin typeface="Courier New" pitchFamily="49" charset="0"/>
                <a:cs typeface="Courier New" pitchFamily="49" charset="0"/>
              </a:rPr>
              <a:t>TextBoxes</a:t>
            </a:r>
            <a:r>
              <a:rPr lang="en-US" sz="4000" spc="-200" dirty="0"/>
              <a:t>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/>
              <a:t>(cont’d.)</a:t>
            </a:r>
            <a:endParaRPr lang="en-US" sz="1200" dirty="0" smtClean="0">
              <a:latin typeface="Courier New" pitchFamily="1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84F25B-71BF-47D9-B397-DDEE4FE2BA93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Adding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Labels</a:t>
            </a:r>
            <a:r>
              <a:rPr lang="en-US" sz="4000" spc="-200" dirty="0"/>
              <a:t> and </a:t>
            </a:r>
            <a:r>
              <a:rPr lang="en-US" sz="4000" spc="-200" dirty="0" err="1">
                <a:latin typeface="Courier New" pitchFamily="49" charset="0"/>
                <a:cs typeface="Courier New" pitchFamily="49" charset="0"/>
              </a:rPr>
              <a:t>TextBoxes</a:t>
            </a:r>
            <a:r>
              <a:rPr lang="en-US" sz="4000" spc="-200" dirty="0"/>
              <a:t>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/>
              <a:t>(cont’d.)</a:t>
            </a:r>
            <a:endParaRPr lang="en-US" sz="1200" dirty="0" smtClean="0">
              <a:latin typeface="Courier New" pitchFamily="1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57" y="1533524"/>
            <a:ext cx="8705661" cy="41052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form shown here is meant to have the user enter two numbers in the </a:t>
            </a:r>
            <a:r>
              <a:rPr lang="en-US" dirty="0" smtClean="0">
                <a:latin typeface="Courier New" pitchFamily="1" charset="0"/>
              </a:rPr>
              <a:t>TextBox</a:t>
            </a:r>
            <a:r>
              <a:rPr lang="en-US" dirty="0" smtClean="0"/>
              <a:t>es</a:t>
            </a:r>
          </a:p>
          <a:p>
            <a:r>
              <a:rPr lang="en-US" dirty="0" smtClean="0"/>
              <a:t>When the user clicks </a:t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 smtClean="0">
                <a:latin typeface="Courier New" pitchFamily="1" charset="0"/>
              </a:rPr>
              <a:t>Button</a:t>
            </a:r>
            <a:r>
              <a:rPr lang="en-US" dirty="0" smtClean="0"/>
              <a:t>, the sum </a:t>
            </a:r>
            <a:br>
              <a:rPr lang="en-US" dirty="0" smtClean="0"/>
            </a:br>
            <a:r>
              <a:rPr lang="en-US" dirty="0" smtClean="0"/>
              <a:t>of the two numbers will </a:t>
            </a:r>
            <a:br>
              <a:rPr lang="en-US" dirty="0" smtClean="0"/>
            </a:br>
            <a:r>
              <a:rPr lang="en-US" dirty="0" smtClean="0"/>
              <a:t>be displayed in </a:t>
            </a:r>
            <a:r>
              <a:rPr lang="en-US" dirty="0" smtClean="0">
                <a:latin typeface="Courier New" pitchFamily="1" charset="0"/>
              </a:rPr>
              <a:t>label3</a:t>
            </a:r>
            <a:endParaRPr lang="en-US" dirty="0" smtClean="0"/>
          </a:p>
          <a:p>
            <a:r>
              <a:rPr lang="en-US" dirty="0" smtClean="0"/>
              <a:t>You must create the code </a:t>
            </a:r>
            <a:br>
              <a:rPr lang="en-US" dirty="0" smtClean="0"/>
            </a:br>
            <a:r>
              <a:rPr lang="en-US" dirty="0" smtClean="0"/>
              <a:t>to do the addition</a:t>
            </a:r>
          </a:p>
          <a:p>
            <a:pPr lvl="1"/>
            <a:r>
              <a:rPr lang="en-US" dirty="0" smtClean="0"/>
              <a:t>It goes in the </a:t>
            </a:r>
            <a:br>
              <a:rPr lang="en-US" dirty="0" smtClean="0"/>
            </a:br>
            <a:r>
              <a:rPr lang="en-US" dirty="0" smtClean="0">
                <a:latin typeface="Courier New" pitchFamily="1" charset="0"/>
              </a:rPr>
              <a:t>button1_Click()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method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5C5F3-2381-48CA-A98E-9A636AF7CDBF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Adding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Labels</a:t>
            </a:r>
            <a:r>
              <a:rPr lang="en-US" sz="4000" spc="-200" dirty="0"/>
              <a:t> and </a:t>
            </a:r>
            <a:r>
              <a:rPr lang="en-US" sz="4000" spc="-200" dirty="0" err="1">
                <a:latin typeface="Courier New" pitchFamily="49" charset="0"/>
                <a:cs typeface="Courier New" pitchFamily="49" charset="0"/>
              </a:rPr>
              <a:t>TextBoxes</a:t>
            </a:r>
            <a:r>
              <a:rPr lang="en-US" sz="4000" spc="-200" dirty="0"/>
              <a:t>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/>
              <a:t>(cont’d.)</a:t>
            </a:r>
            <a:endParaRPr lang="en-US" sz="1200" dirty="0" smtClean="0">
              <a:latin typeface="Courier New" pitchFamily="1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66" y="2514601"/>
            <a:ext cx="3874034" cy="3841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105D3E-9C90-4DB6-93C8-17528540121D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Adding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Labels</a:t>
            </a:r>
            <a:r>
              <a:rPr lang="en-US" sz="4000" spc="-200" dirty="0"/>
              <a:t> and </a:t>
            </a:r>
            <a:r>
              <a:rPr lang="en-US" sz="4000" spc="-200" dirty="0" err="1">
                <a:latin typeface="Courier New" pitchFamily="49" charset="0"/>
                <a:cs typeface="Courier New" pitchFamily="49" charset="0"/>
              </a:rPr>
              <a:t>TextBoxes</a:t>
            </a:r>
            <a:r>
              <a:rPr lang="en-US" sz="4000" spc="-200" dirty="0"/>
              <a:t> to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 smtClean="0"/>
              <a:t> </a:t>
            </a:r>
            <a:r>
              <a:rPr lang="en-US" sz="1200" spc="-200" dirty="0" smtClean="0"/>
              <a:t>(cont’d.)</a:t>
            </a:r>
            <a:endParaRPr lang="en-US" sz="1200" dirty="0" smtClean="0">
              <a:latin typeface="Courier New" pitchFamily="1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05" y="1890712"/>
            <a:ext cx="8605160" cy="35956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77C100-F37B-4212-A834-172EBE367840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Adding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Labels</a:t>
            </a:r>
            <a:r>
              <a:rPr lang="en-US" sz="4000" spc="-200" dirty="0"/>
              <a:t> and </a:t>
            </a:r>
            <a:r>
              <a:rPr lang="en-US" sz="4000" spc="-200" dirty="0" err="1">
                <a:latin typeface="Courier New" pitchFamily="49" charset="0"/>
                <a:cs typeface="Courier New" pitchFamily="49" charset="0"/>
              </a:rPr>
              <a:t>TextBoxes</a:t>
            </a:r>
            <a:r>
              <a:rPr lang="en-US" sz="4000" spc="-200" dirty="0"/>
              <a:t> to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 </a:t>
            </a:r>
            <a:r>
              <a:rPr lang="en-US" sz="1200" spc="-200" dirty="0"/>
              <a:t>(cont’d.)</a:t>
            </a:r>
            <a:endParaRPr lang="en-US" sz="1200" dirty="0" smtClean="0">
              <a:latin typeface="Courier New" pitchFamily="1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391" y="3810000"/>
            <a:ext cx="5091618" cy="26225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1611024"/>
            <a:ext cx="7543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To execute a program from the IDE,  select </a:t>
            </a:r>
            <a:r>
              <a:rPr lang="en-US" sz="2800" b="1" dirty="0" smtClean="0">
                <a:solidFill>
                  <a:schemeClr val="tx1"/>
                </a:solidFill>
                <a:latin typeface="+mn-lt"/>
              </a:rPr>
              <a:t>Debug</a:t>
            </a: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, and then Start Without Debugging (or press CTRL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+ </a:t>
            </a: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F5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The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period during which you design </a:t>
            </a: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a program is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called </a:t>
            </a:r>
            <a:r>
              <a:rPr lang="en-US" sz="2800" b="1" dirty="0">
                <a:solidFill>
                  <a:schemeClr val="tx1"/>
                </a:solidFill>
                <a:latin typeface="+mn-lt"/>
              </a:rPr>
              <a:t>design </a:t>
            </a:r>
            <a:r>
              <a:rPr lang="en-US" sz="2800" b="1" dirty="0" smtClean="0">
                <a:solidFill>
                  <a:schemeClr val="tx1"/>
                </a:solidFill>
                <a:latin typeface="+mn-lt"/>
              </a:rPr>
              <a:t>time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When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you </a:t>
            </a: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execute </a:t>
            </a:r>
            <a:br>
              <a:rPr lang="en-US" sz="2800" dirty="0" smtClean="0">
                <a:solidFill>
                  <a:schemeClr val="tx1"/>
                </a:solidFill>
                <a:latin typeface="+mn-lt"/>
              </a:rPr>
            </a:b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a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program, the </a:t>
            </a:r>
            <a:r>
              <a:rPr lang="en-US" sz="2800" dirty="0" smtClean="0">
                <a:solidFill>
                  <a:schemeClr val="tx1"/>
                </a:solidFill>
                <a:latin typeface="+mn-lt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+mn-lt"/>
              </a:rPr>
            </a:br>
            <a:r>
              <a:rPr lang="en-US" sz="2800" dirty="0" smtClean="0">
                <a:solidFill>
                  <a:schemeClr val="tx1"/>
                </a:solidFill>
                <a:latin typeface="+mn-lt"/>
              </a:rPr>
              <a:t>stage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is called </a:t>
            </a:r>
            <a:r>
              <a:rPr lang="en-US" sz="2800" dirty="0" smtClean="0">
                <a:solidFill>
                  <a:schemeClr val="tx1"/>
                </a:solidFill>
                <a:latin typeface="+mn-lt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+mn-lt"/>
              </a:rPr>
            </a:br>
            <a:r>
              <a:rPr lang="en-US" sz="2800" b="1" dirty="0" smtClean="0">
                <a:solidFill>
                  <a:schemeClr val="tx1"/>
                </a:solidFill>
                <a:latin typeface="+mn-lt"/>
              </a:rPr>
              <a:t>runtime</a:t>
            </a:r>
            <a:endParaRPr lang="en-US" sz="2800" b="1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Understanding Focus and Tab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Focus</a:t>
            </a:r>
            <a:r>
              <a:rPr lang="en-US" dirty="0" smtClean="0"/>
              <a:t> defines which control is active and will accept keyboard input</a:t>
            </a:r>
          </a:p>
          <a:p>
            <a:pPr lvl="1"/>
            <a:r>
              <a:rPr lang="en-US" dirty="0" smtClean="0"/>
              <a:t>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dirty="0" smtClean="0"/>
              <a:t> that has focus will have a bright line around it</a:t>
            </a:r>
          </a:p>
          <a:p>
            <a:pPr lvl="1"/>
            <a:r>
              <a:rPr lang="en-US" dirty="0" smtClean="0"/>
              <a:t>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TextBox</a:t>
            </a:r>
            <a:r>
              <a:rPr lang="en-US" dirty="0" smtClean="0"/>
              <a:t> that has focus will have the cursor inside it</a:t>
            </a:r>
          </a:p>
          <a:p>
            <a:r>
              <a:rPr lang="en-US" dirty="0" smtClean="0"/>
              <a:t>A control can be given focus by:</a:t>
            </a:r>
          </a:p>
          <a:p>
            <a:pPr lvl="1"/>
            <a:r>
              <a:rPr lang="en-US" dirty="0" smtClean="0"/>
              <a:t>The user clicking on the control</a:t>
            </a:r>
          </a:p>
          <a:p>
            <a:pPr lvl="1"/>
            <a:r>
              <a:rPr lang="en-US" dirty="0" smtClean="0"/>
              <a:t>The user pressing the Tab key, which will set the focus on the next control as defined by the </a:t>
            </a:r>
            <a:r>
              <a:rPr lang="en-US" b="1" dirty="0" smtClean="0"/>
              <a:t>tab order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5CA1E5-7CDE-4E5C-A243-7A5492DDB14C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9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Tab order</a:t>
            </a:r>
            <a:r>
              <a:rPr lang="en-US" dirty="0" smtClean="0"/>
              <a:t> is represented by a sequential number</a:t>
            </a:r>
            <a:r>
              <a:rPr lang="en-US" dirty="0"/>
              <a:t> </a:t>
            </a:r>
            <a:r>
              <a:rPr lang="en-US" dirty="0" smtClean="0"/>
              <a:t>known as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TabIndex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TabIndex</a:t>
            </a:r>
            <a:r>
              <a:rPr lang="en-US" dirty="0" smtClean="0"/>
              <a:t>es begin with 0</a:t>
            </a:r>
          </a:p>
          <a:p>
            <a:r>
              <a:rPr lang="en-US" dirty="0" smtClean="0"/>
              <a:t>The default tab order is determined by the order in which the controls are added to the form</a:t>
            </a:r>
          </a:p>
          <a:p>
            <a:r>
              <a:rPr lang="en-US" dirty="0" smtClean="0"/>
              <a:t>Unless otherwise specified, the first control to receive focus will have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TabIndex</a:t>
            </a:r>
            <a:r>
              <a:rPr lang="en-US" dirty="0" smtClean="0"/>
              <a:t>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5CA1E5-7CDE-4E5C-A243-7A5492DDB14C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Understanding Focus and Tab Control </a:t>
            </a:r>
            <a:r>
              <a:rPr lang="en-US" sz="1200" spc="-200" dirty="0"/>
              <a:t>(cont’d.)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31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1143000"/>
          </a:xfrm>
        </p:spPr>
        <p:txBody>
          <a:bodyPr/>
          <a:lstStyle/>
          <a:p>
            <a:r>
              <a:rPr lang="en-US" sz="4000" spc="-200" dirty="0"/>
              <a:t>Formatting Data in GUI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use the same format strings as described in Chapter 2 to format strings in GUI applications</a:t>
            </a:r>
          </a:p>
          <a:p>
            <a:r>
              <a:rPr lang="en-US" dirty="0" smtClean="0"/>
              <a:t>Use the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String.Format()</a:t>
            </a:r>
            <a:r>
              <a:rPr lang="en-US" dirty="0" smtClean="0"/>
              <a:t> method to do this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5CA1E5-7CDE-4E5C-A243-7A5492DDB14C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4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Changing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Label</a:t>
            </a:r>
            <a:r>
              <a:rPr lang="en-US" sz="4000" spc="-200" dirty="0"/>
              <a:t>’s Font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 smtClean="0"/>
              <a:t>Every control that can contain text has 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Font</a:t>
            </a:r>
            <a:r>
              <a:rPr lang="en-US" dirty="0" smtClean="0"/>
              <a:t> property</a:t>
            </a:r>
          </a:p>
          <a:p>
            <a:r>
              <a:rPr lang="en-US" dirty="0" smtClean="0"/>
              <a:t>Most fonts are </a:t>
            </a:r>
            <a:r>
              <a:rPr lang="en-US" b="1" dirty="0"/>
              <a:t>proportional </a:t>
            </a:r>
            <a:r>
              <a:rPr lang="en-US" b="1" dirty="0" smtClean="0"/>
              <a:t>fonts</a:t>
            </a:r>
            <a:r>
              <a:rPr lang="en-US" dirty="0" smtClean="0"/>
              <a:t>, </a:t>
            </a:r>
            <a:r>
              <a:rPr lang="en-US" dirty="0"/>
              <a:t>which </a:t>
            </a:r>
            <a:r>
              <a:rPr lang="en-US" dirty="0" smtClean="0"/>
              <a:t>means that </a:t>
            </a:r>
            <a:r>
              <a:rPr lang="en-US" dirty="0"/>
              <a:t>different characters have different pitches or </a:t>
            </a:r>
            <a:r>
              <a:rPr lang="en-US" dirty="0" smtClean="0"/>
              <a:t>widths.</a:t>
            </a:r>
          </a:p>
          <a:p>
            <a:pPr lvl="1"/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</a:t>
            </a:r>
            <a:r>
              <a:rPr lang="en-US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or </a:t>
            </a: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example, </a:t>
            </a:r>
            <a:r>
              <a:rPr lang="en-US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in </a:t>
            </a: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Microsoft Sans </a:t>
            </a:r>
            <a:r>
              <a:rPr lang="en-US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Serif, a </a:t>
            </a:r>
            <a:r>
              <a:rPr lang="en-US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w </a:t>
            </a:r>
            <a:r>
              <a:rPr 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is wider than an </a:t>
            </a:r>
            <a:r>
              <a:rPr lang="en-US" i="1" dirty="0" err="1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endParaRPr 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dirty="0"/>
              <a:t>The opposite of a proportional font is a </a:t>
            </a:r>
            <a:r>
              <a:rPr lang="en-US" b="1" dirty="0"/>
              <a:t>fixed-pitch font</a:t>
            </a:r>
            <a:r>
              <a:rPr lang="en-US" dirty="0"/>
              <a:t>, or a </a:t>
            </a:r>
            <a:r>
              <a:rPr lang="en-US" b="1" dirty="0"/>
              <a:t>monospaced font</a:t>
            </a:r>
            <a:r>
              <a:rPr lang="en-US" dirty="0"/>
              <a:t>, in which </a:t>
            </a:r>
            <a:r>
              <a:rPr lang="en-US" dirty="0" smtClean="0"/>
              <a:t>each character </a:t>
            </a:r>
            <a:r>
              <a:rPr lang="en-US" dirty="0"/>
              <a:t>has the same </a:t>
            </a:r>
            <a:r>
              <a:rPr lang="en-US" dirty="0" smtClean="0"/>
              <a:t>width</a:t>
            </a:r>
          </a:p>
          <a:p>
            <a:pPr lvl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Courier is an example of a monospaced 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5CA1E5-7CDE-4E5C-A243-7A5492DDB14C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398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Naming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s and Controls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Provide reasonable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dirty="0" smtClean="0"/>
              <a:t> property values for all the controls you place on a </a:t>
            </a:r>
            <a:r>
              <a:rPr lang="en-US" dirty="0" smtClean="0">
                <a:latin typeface="Courier New" pitchFamily="1" charset="0"/>
              </a:rPr>
              <a:t>Form</a:t>
            </a:r>
            <a:endParaRPr lang="en-US" dirty="0" smtClean="0"/>
          </a:p>
          <a:p>
            <a:pPr lvl="1"/>
            <a:r>
              <a:rPr lang="en-US" dirty="0" smtClean="0"/>
              <a:t>Conventionally, start control names with a lowercase letter and use camel casing</a:t>
            </a:r>
          </a:p>
          <a:p>
            <a:pPr lvl="1"/>
            <a:r>
              <a:rPr lang="en-US" dirty="0" smtClean="0"/>
              <a:t>Start </a:t>
            </a:r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 names with an uppercase letter and use Pascal casing</a:t>
            </a:r>
          </a:p>
          <a:p>
            <a:pPr lvl="2"/>
            <a:r>
              <a:rPr lang="en-US" dirty="0" smtClean="0"/>
              <a:t>A </a:t>
            </a:r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 is a class, and C# class names conventionally start with an uppercase letter</a:t>
            </a:r>
          </a:p>
          <a:p>
            <a:pPr lvl="1"/>
            <a:r>
              <a:rPr lang="en-US" dirty="0" smtClean="0"/>
              <a:t>Use the type of object in the name</a:t>
            </a:r>
          </a:p>
          <a:p>
            <a:r>
              <a:rPr lang="en-US" dirty="0" smtClean="0"/>
              <a:t>To rename a control after you have generated code for it, use the </a:t>
            </a:r>
            <a:r>
              <a:rPr lang="en-US" b="1" dirty="0" smtClean="0"/>
              <a:t>code refactoring</a:t>
            </a:r>
            <a:r>
              <a:rPr lang="en-US" dirty="0" smtClean="0"/>
              <a:t> feature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C985B0-31DA-4E79-A62B-B9AB4CA1AB0B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Naming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s and Controls</a:t>
            </a:r>
            <a:r>
              <a:rPr lang="en-US" sz="4000" dirty="0" smtClean="0"/>
              <a:t> </a:t>
            </a:r>
            <a:r>
              <a:rPr lang="en-US" sz="1200" dirty="0" smtClean="0"/>
              <a:t>(cont’d.)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64CC0B-EB9F-4C03-B4AB-5E5CAF8C705F}" type="slidenum">
              <a:rPr lang="en-US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394324"/>
            <a:ext cx="6591300" cy="499765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Naming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Form</a:t>
            </a:r>
            <a:r>
              <a:rPr lang="en-US" sz="4000" spc="-200" dirty="0"/>
              <a:t>s and Controls</a:t>
            </a:r>
            <a:r>
              <a:rPr lang="en-US" sz="4000" dirty="0"/>
              <a:t> </a:t>
            </a:r>
            <a:r>
              <a:rPr lang="en-US" sz="1200" dirty="0"/>
              <a:t>(cont’d.)</a:t>
            </a:r>
            <a:endParaRPr lang="en-US" sz="1200" dirty="0" smtClean="0"/>
          </a:p>
        </p:txBody>
      </p:sp>
      <p:sp>
        <p:nvSpPr>
          <p:cNvPr id="3994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r>
              <a:rPr lang="en-US" dirty="0" smtClean="0"/>
              <a:t>When you click </a:t>
            </a:r>
            <a:r>
              <a:rPr lang="en-US" b="1" dirty="0" smtClean="0"/>
              <a:t>Rename</a:t>
            </a:r>
            <a:r>
              <a:rPr lang="en-US" dirty="0" smtClean="0"/>
              <a:t>, a dialog box opens</a:t>
            </a:r>
          </a:p>
          <a:p>
            <a:pPr lvl="1"/>
            <a:r>
              <a:rPr lang="en-US" dirty="0" smtClean="0"/>
              <a:t>Type the new method name</a:t>
            </a:r>
          </a:p>
          <a:p>
            <a:r>
              <a:rPr lang="en-US" dirty="0" smtClean="0"/>
              <a:t>A Preview Changes </a:t>
            </a:r>
            <a:br>
              <a:rPr lang="en-US" dirty="0" smtClean="0"/>
            </a:br>
            <a:r>
              <a:rPr lang="en-US" dirty="0" smtClean="0"/>
              <a:t>dialog box will </a:t>
            </a:r>
            <a:br>
              <a:rPr lang="en-US" dirty="0" smtClean="0"/>
            </a:br>
            <a:r>
              <a:rPr lang="en-US" dirty="0" smtClean="0"/>
              <a:t>highlight the </a:t>
            </a:r>
            <a:br>
              <a:rPr lang="en-US" dirty="0" smtClean="0"/>
            </a:br>
            <a:r>
              <a:rPr lang="en-US" dirty="0" smtClean="0"/>
              <a:t>change</a:t>
            </a:r>
          </a:p>
          <a:p>
            <a:pPr lvl="1"/>
            <a:r>
              <a:rPr lang="en-US" dirty="0" smtClean="0"/>
              <a:t>Confirm the change</a:t>
            </a:r>
            <a:br>
              <a:rPr lang="en-US" dirty="0" smtClean="0"/>
            </a:br>
            <a:r>
              <a:rPr lang="en-US" dirty="0" smtClean="0"/>
              <a:t> by clicking Apply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38B875-9DAE-4542-B39D-1641EB6E48AD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425" y="2446967"/>
            <a:ext cx="5286375" cy="387128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Correcting Errors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As in console-based programs, you will often generate syntax errors</a:t>
            </a:r>
          </a:p>
          <a:p>
            <a:r>
              <a:rPr lang="en-US" dirty="0" smtClean="0"/>
              <a:t>If you </a:t>
            </a:r>
            <a:r>
              <a:rPr lang="en-US" b="1" dirty="0" smtClean="0"/>
              <a:t>build</a:t>
            </a:r>
            <a:r>
              <a:rPr lang="en-US" dirty="0" smtClean="0"/>
              <a:t> or run a program with an error, you will see “Build failed” in the lower-left corner of the IDE</a:t>
            </a:r>
          </a:p>
          <a:p>
            <a:r>
              <a:rPr lang="en-US" dirty="0" smtClean="0"/>
              <a:t>You will also see an error dialog box</a:t>
            </a:r>
          </a:p>
          <a:p>
            <a:pPr lvl="1"/>
            <a:r>
              <a:rPr lang="en-US" dirty="0" smtClean="0"/>
              <a:t>Always click No in response to “Would you like to continue and run the last successful build?”</a:t>
            </a:r>
          </a:p>
          <a:p>
            <a:r>
              <a:rPr lang="en-US" dirty="0" smtClean="0"/>
              <a:t>Errors will be listed in the </a:t>
            </a:r>
            <a:r>
              <a:rPr lang="en-US" b="1" dirty="0" smtClean="0"/>
              <a:t>error list </a:t>
            </a:r>
            <a:r>
              <a:rPr lang="en-US" dirty="0" smtClean="0"/>
              <a:t>at the lower-left corner of the screen</a:t>
            </a:r>
          </a:p>
          <a:p>
            <a:r>
              <a:rPr lang="en-US" dirty="0" smtClean="0"/>
              <a:t>Double-clicking an error message will take you to the location in the code where the error was found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3A8890-9980-423D-92EC-1BE56D06217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851" y="4267200"/>
            <a:ext cx="5814349" cy="2514600"/>
          </a:xfrm>
          <a:prstGeom prst="rect">
            <a:avLst/>
          </a:prstGeom>
        </p:spPr>
      </p:pic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Correcting Errors </a:t>
            </a:r>
            <a:r>
              <a:rPr lang="en-US" sz="1200" spc="-200" dirty="0"/>
              <a:t>(cont’d.)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45CCC89-5D2D-4BEB-B065-89FF5BD19520}" type="slidenum">
              <a:rPr lang="en-US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20" y="1429361"/>
            <a:ext cx="8841360" cy="27193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15400" cy="1143000"/>
          </a:xfrm>
        </p:spPr>
        <p:txBody>
          <a:bodyPr/>
          <a:lstStyle/>
          <a:p>
            <a:r>
              <a:rPr lang="en-US" sz="4000" spc="-200" dirty="0"/>
              <a:t>Deleting an Unwanted </a:t>
            </a:r>
            <a:r>
              <a:rPr lang="en-US" sz="4000" spc="-200" dirty="0" smtClean="0"/>
              <a:t>Event-Handling </a:t>
            </a:r>
            <a:r>
              <a:rPr lang="en-US" sz="4000" spc="-200" dirty="0"/>
              <a:t>Method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are working in the Form Designer, it is easy to inadvertently double-click a control and create an event-handling method you don’t want</a:t>
            </a:r>
          </a:p>
          <a:p>
            <a:pPr lvl="1"/>
            <a:r>
              <a:rPr lang="en-US" dirty="0" smtClean="0"/>
              <a:t>You can leave the event-handling method empty, but that’s considered bad form</a:t>
            </a:r>
          </a:p>
          <a:p>
            <a:pPr lvl="1"/>
            <a:r>
              <a:rPr lang="en-US" dirty="0" smtClean="0"/>
              <a:t>You cannot just delete the method because, behind the scenes, other code will have been created that refers to the method</a:t>
            </a:r>
          </a:p>
          <a:p>
            <a:pPr lvl="1"/>
            <a:r>
              <a:rPr lang="en-US" dirty="0" smtClean="0"/>
              <a:t>Instead, go to the Properties window of the control, and then click on its Events button, select the button you want to eliminate, and delete the method name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7FBCEB-47F4-4770-A0EA-6431678AB578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Deleting an Unwanted </a:t>
            </a:r>
            <a:r>
              <a:rPr lang="en-US" sz="4000" spc="-200" dirty="0" smtClean="0"/>
              <a:t>Event-Handling </a:t>
            </a:r>
            <a:r>
              <a:rPr lang="en-US" sz="4000" spc="-200" dirty="0"/>
              <a:t>Method </a:t>
            </a:r>
            <a:r>
              <a:rPr lang="en-US" sz="1200" spc="-200" dirty="0"/>
              <a:t>(cont’d.)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F91116C-DE3C-423C-919E-C03E58C96EA3}" type="slidenum">
              <a:rPr lang="en-US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676400"/>
            <a:ext cx="7345045" cy="4095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Deciding Which Interface to Use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dirty="0" smtClean="0"/>
              <a:t>You have learned to create:</a:t>
            </a:r>
          </a:p>
          <a:p>
            <a:pPr lvl="1"/>
            <a:r>
              <a:rPr lang="en-US" dirty="0" smtClean="0"/>
              <a:t>Console applications</a:t>
            </a:r>
          </a:p>
          <a:p>
            <a:pPr lvl="1"/>
            <a:r>
              <a:rPr lang="en-US" dirty="0" smtClean="0"/>
              <a:t>GUI applications</a:t>
            </a:r>
          </a:p>
          <a:p>
            <a:r>
              <a:rPr lang="en-US" dirty="0" smtClean="0"/>
              <a:t>Both types contain basic building blocks </a:t>
            </a:r>
          </a:p>
          <a:p>
            <a:r>
              <a:rPr lang="en-US" dirty="0" smtClean="0"/>
              <a:t>GUI applications:</a:t>
            </a:r>
          </a:p>
          <a:p>
            <a:pPr lvl="1"/>
            <a:r>
              <a:rPr lang="en-US" dirty="0" smtClean="0"/>
              <a:t>Look “snazzier” and are easy to use</a:t>
            </a:r>
          </a:p>
          <a:p>
            <a:pPr lvl="1"/>
            <a:r>
              <a:rPr lang="en-US" dirty="0" smtClean="0"/>
              <a:t>Take longer to develop</a:t>
            </a:r>
          </a:p>
          <a:p>
            <a:r>
              <a:rPr lang="en-US" dirty="0" smtClean="0"/>
              <a:t>Console applications:</a:t>
            </a:r>
          </a:p>
          <a:p>
            <a:pPr lvl="1"/>
            <a:r>
              <a:rPr lang="en-US" dirty="0" smtClean="0"/>
              <a:t>Are simpler</a:t>
            </a:r>
          </a:p>
          <a:p>
            <a:pPr lvl="1"/>
            <a:r>
              <a:rPr lang="en-US" dirty="0" smtClean="0"/>
              <a:t>May be better when learning new logical constructs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2BBE05-F0F5-44EB-A9C0-09FE2316478F}" type="slidenum">
              <a:rPr lang="en-US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Summary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urier New" pitchFamily="1" charset="0"/>
              </a:rPr>
              <a:t>Form</a:t>
            </a:r>
            <a:r>
              <a:rPr lang="en-US" dirty="0" smtClean="0"/>
              <a:t>s are GUI objects that provide an interface for collecting, displaying, and delivering information</a:t>
            </a:r>
          </a:p>
          <a:p>
            <a:r>
              <a:rPr lang="en-US" dirty="0" smtClean="0"/>
              <a:t>The Toolbox displays a list of available controls you can add to a </a:t>
            </a:r>
            <a:r>
              <a:rPr lang="en-US" dirty="0" smtClean="0">
                <a:latin typeface="Courier New" pitchFamily="1" charset="0"/>
              </a:rPr>
              <a:t>Form</a:t>
            </a:r>
            <a:endParaRPr lang="en-US" dirty="0" smtClean="0"/>
          </a:p>
          <a:p>
            <a:pPr lvl="1"/>
            <a:r>
              <a:rPr lang="en-US" dirty="0" smtClean="0"/>
              <a:t>This list includes </a:t>
            </a:r>
            <a:r>
              <a:rPr lang="en-US" dirty="0" smtClean="0">
                <a:latin typeface="Courier New" pitchFamily="1" charset="0"/>
              </a:rPr>
              <a:t>Button</a:t>
            </a:r>
            <a:r>
              <a:rPr lang="en-US" dirty="0" smtClean="0"/>
              <a:t>, </a:t>
            </a:r>
            <a:r>
              <a:rPr lang="en-US" dirty="0" smtClean="0">
                <a:latin typeface="Courier New" pitchFamily="1" charset="0"/>
              </a:rPr>
              <a:t>CheckBox</a:t>
            </a:r>
            <a:r>
              <a:rPr lang="en-US" dirty="0" smtClean="0"/>
              <a:t>, and </a:t>
            </a:r>
            <a:r>
              <a:rPr lang="en-US" dirty="0" smtClean="0">
                <a:latin typeface="Courier New" pitchFamily="1" charset="0"/>
              </a:rPr>
              <a:t>Label</a:t>
            </a:r>
            <a:endParaRPr lang="en-US" dirty="0" smtClean="0"/>
          </a:p>
          <a:p>
            <a:r>
              <a:rPr lang="en-US" dirty="0" smtClean="0">
                <a:latin typeface="Courier New" pitchFamily="1" charset="0"/>
              </a:rPr>
              <a:t>Label</a:t>
            </a:r>
            <a:r>
              <a:rPr lang="en-US" dirty="0" smtClean="0"/>
              <a:t>s are controls that you use to display text to communicate with an application’s user</a:t>
            </a:r>
          </a:p>
          <a:p>
            <a:r>
              <a:rPr lang="en-US" dirty="0" smtClean="0"/>
              <a:t>Provide reasonable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dirty="0" smtClean="0"/>
              <a:t> property values for all the controls you place on a </a:t>
            </a:r>
            <a:r>
              <a:rPr lang="en-US" dirty="0" smtClean="0">
                <a:latin typeface="Courier New" pitchFamily="1" charset="0"/>
              </a:rPr>
              <a:t>Form</a:t>
            </a:r>
            <a:endParaRPr lang="en-US" dirty="0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38A4EC-3E3D-46C7-98EC-A411CE2D5B82}" type="slidenum">
              <a:rPr lang="en-US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Summary </a:t>
            </a:r>
            <a:r>
              <a:rPr lang="en-US" sz="1200" spc="-200" dirty="0"/>
              <a:t>(cont’d.)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build or run a program that contains a syntax error, you see “Build failed” in the lower-left corner of the IDE and an error dialog box</a:t>
            </a:r>
          </a:p>
          <a:p>
            <a:r>
              <a:rPr lang="en-US" dirty="0" smtClean="0"/>
              <a:t>Both console and GUI applications can contain variables and constants, decisions, loops, arrays, and calls to other methods</a:t>
            </a:r>
          </a:p>
          <a:p>
            <a:pPr lvl="1"/>
            <a:r>
              <a:rPr lang="en-US" dirty="0" smtClean="0"/>
              <a:t>GUI applications:</a:t>
            </a:r>
          </a:p>
          <a:p>
            <a:pPr lvl="2"/>
            <a:r>
              <a:rPr lang="en-US" dirty="0" smtClean="0"/>
              <a:t>Look “snazzier”</a:t>
            </a:r>
          </a:p>
          <a:p>
            <a:pPr lvl="2"/>
            <a:r>
              <a:rPr lang="en-US" dirty="0" smtClean="0"/>
              <a:t>Contain controls that a user can manipulate with a mouse</a:t>
            </a:r>
          </a:p>
          <a:p>
            <a:pPr lvl="2"/>
            <a:r>
              <a:rPr lang="en-US" dirty="0" smtClean="0"/>
              <a:t>Usually take longer to develop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436273-08DD-42BA-AE3F-0247FCE87F59}" type="slidenum">
              <a:rPr lang="en-US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2114</Words>
  <Application>Microsoft Office PowerPoint</Application>
  <PresentationFormat>On-screen Show (4:3)</PresentationFormat>
  <Paragraphs>283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Courier New</vt:lpstr>
      <vt:lpstr>Microsoft Sans Serif</vt:lpstr>
      <vt:lpstr>Times New Roman</vt:lpstr>
      <vt:lpstr>1_Farrell_PLD</vt:lpstr>
      <vt:lpstr>PowerPoint Presentation</vt:lpstr>
      <vt:lpstr>Objectives</vt:lpstr>
      <vt:lpstr>Creating a Form in the IDE</vt:lpstr>
      <vt:lpstr>Creating a Form in the IDE (cont’d.)</vt:lpstr>
      <vt:lpstr>Creating a Form in the IDE (cont’d.)</vt:lpstr>
      <vt:lpstr>Creating a Form in the IDE (cont’d.)</vt:lpstr>
      <vt:lpstr>Creating a Form in the IDE (cont’d.)</vt:lpstr>
      <vt:lpstr>Creating a Form in the IDE (cont’d.)</vt:lpstr>
      <vt:lpstr>Creating a Form in the IDE (cont’d.)</vt:lpstr>
      <vt:lpstr>Creating a Form in the IDE (cont’d.)</vt:lpstr>
      <vt:lpstr>Creating a Form in the IDE (cont’d.)</vt:lpstr>
      <vt:lpstr>Using the Toolbox to Add a Button to a Form</vt:lpstr>
      <vt:lpstr>Using the Toolbox to Add a Button to a Form (cont’d.)</vt:lpstr>
      <vt:lpstr>Using the Toolbox to Add a Button to a Form (cont’d.)</vt:lpstr>
      <vt:lpstr>Using the Toolbox to Add a Button to a Form (cont’d.)</vt:lpstr>
      <vt:lpstr>Using the Toolbox to Add a Button to a Form (cont’d.)</vt:lpstr>
      <vt:lpstr>Adding Functionality to a Button on a Form</vt:lpstr>
      <vt:lpstr>Adding Functionality to a Button on a Form (cont’d.)</vt:lpstr>
      <vt:lpstr>Adding Functionality to a Button on a Form (cont’d.)</vt:lpstr>
      <vt:lpstr>Adding Functionality to a Button on a Form (cont’d.)</vt:lpstr>
      <vt:lpstr>Adding Labels and TextBoxes to a Form</vt:lpstr>
      <vt:lpstr>Adding Labels and TextBoxes to a Form (cont’d.)</vt:lpstr>
      <vt:lpstr>Adding Labels and TextBoxes to a Form (cont’d.)</vt:lpstr>
      <vt:lpstr>Adding Labels and TextBoxes to a Form (cont’d.)</vt:lpstr>
      <vt:lpstr>Adding Labels and TextBoxes to a Form (cont’d.)</vt:lpstr>
      <vt:lpstr>Adding Labels and TextBoxes to a Form (cont’d.)</vt:lpstr>
      <vt:lpstr>Adding Labels and TextBoxes to a Form (cont’d.)</vt:lpstr>
      <vt:lpstr>Understanding Focus and Tab Control</vt:lpstr>
      <vt:lpstr>Understanding Focus and Tab Control (cont’d.)</vt:lpstr>
      <vt:lpstr>Formatting Data in GUI Applications</vt:lpstr>
      <vt:lpstr>Changing a Label’s Font</vt:lpstr>
      <vt:lpstr>Naming Forms and Controls</vt:lpstr>
      <vt:lpstr>Naming Forms and Controls (cont’d.)</vt:lpstr>
      <vt:lpstr>Naming Forms and Controls (cont’d.)</vt:lpstr>
      <vt:lpstr>Correcting Errors</vt:lpstr>
      <vt:lpstr>Correcting Errors (cont’d.)</vt:lpstr>
      <vt:lpstr>Deleting an Unwanted Event-Handling Method</vt:lpstr>
      <vt:lpstr>Deleting an Unwanted Event-Handling Method (cont’d.)</vt:lpstr>
      <vt:lpstr>Deciding Which Interface to Use</vt:lpstr>
      <vt:lpstr>Summary</vt:lpstr>
      <vt:lpstr>Summary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2012-09-20T14:18:27Z</dcterms:created>
  <dcterms:modified xsi:type="dcterms:W3CDTF">2015-06-07T21:42:05Z</dcterms:modified>
</cp:coreProperties>
</file>