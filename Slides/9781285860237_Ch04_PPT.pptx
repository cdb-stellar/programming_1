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4" r:id="rId1"/>
    <p:sldMasterId id="2147483811" r:id="rId2"/>
  </p:sldMasterIdLst>
  <p:notesMasterIdLst>
    <p:notesMasterId r:id="rId47"/>
  </p:notesMasterIdLst>
  <p:handoutMasterIdLst>
    <p:handoutMasterId r:id="rId48"/>
  </p:handoutMasterIdLst>
  <p:sldIdLst>
    <p:sldId id="639" r:id="rId3"/>
    <p:sldId id="257" r:id="rId4"/>
    <p:sldId id="623" r:id="rId5"/>
    <p:sldId id="476" r:id="rId6"/>
    <p:sldId id="604" r:id="rId7"/>
    <p:sldId id="624" r:id="rId8"/>
    <p:sldId id="605" r:id="rId9"/>
    <p:sldId id="626" r:id="rId10"/>
    <p:sldId id="627" r:id="rId11"/>
    <p:sldId id="628" r:id="rId12"/>
    <p:sldId id="640" r:id="rId13"/>
    <p:sldId id="641" r:id="rId14"/>
    <p:sldId id="642" r:id="rId15"/>
    <p:sldId id="643" r:id="rId16"/>
    <p:sldId id="629" r:id="rId17"/>
    <p:sldId id="655" r:id="rId18"/>
    <p:sldId id="630" r:id="rId19"/>
    <p:sldId id="644" r:id="rId20"/>
    <p:sldId id="606" r:id="rId21"/>
    <p:sldId id="609" r:id="rId22"/>
    <p:sldId id="650" r:id="rId23"/>
    <p:sldId id="587" r:id="rId24"/>
    <p:sldId id="651" r:id="rId25"/>
    <p:sldId id="393" r:id="rId26"/>
    <p:sldId id="610" r:id="rId27"/>
    <p:sldId id="656" r:id="rId28"/>
    <p:sldId id="588" r:id="rId29"/>
    <p:sldId id="652" r:id="rId30"/>
    <p:sldId id="633" r:id="rId31"/>
    <p:sldId id="636" r:id="rId32"/>
    <p:sldId id="645" r:id="rId33"/>
    <p:sldId id="611" r:id="rId34"/>
    <p:sldId id="589" r:id="rId35"/>
    <p:sldId id="590" r:id="rId36"/>
    <p:sldId id="395" r:id="rId37"/>
    <p:sldId id="637" r:id="rId38"/>
    <p:sldId id="591" r:id="rId39"/>
    <p:sldId id="615" r:id="rId40"/>
    <p:sldId id="647" r:id="rId41"/>
    <p:sldId id="648" r:id="rId42"/>
    <p:sldId id="649" r:id="rId43"/>
    <p:sldId id="580" r:id="rId44"/>
    <p:sldId id="472" r:id="rId45"/>
    <p:sldId id="654" r:id="rId46"/>
  </p:sldIdLst>
  <p:sldSz cx="9144000" cy="6858000" type="screen4x3"/>
  <p:notesSz cx="923925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9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0440" autoAdjust="0"/>
    <p:restoredTop sz="94531" autoAdjust="0"/>
  </p:normalViewPr>
  <p:slideViewPr>
    <p:cSldViewPr>
      <p:cViewPr varScale="1">
        <p:scale>
          <a:sx n="74" d="100"/>
          <a:sy n="74" d="100"/>
        </p:scale>
        <p:origin x="16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160"/>
        <p:guide pos="291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3437" y="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91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3437" y="651391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705831C-F38D-43B8-8B0C-C972355612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93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33437" y="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25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3257550"/>
            <a:ext cx="7391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91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3437" y="6513910"/>
            <a:ext cx="40036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5E6709D8-1C3E-415F-834B-9D03C1F47D5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95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63C1E20-8340-46B3-B49D-7D72B24867A0}" type="slidenum">
              <a:rPr lang="en-US" sz="1200" smtClean="0">
                <a:solidFill>
                  <a:schemeClr val="tx1"/>
                </a:solidFill>
              </a:rPr>
              <a:pPr eaLnBrk="1" hangingPunct="1"/>
              <a:t>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66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0E14DD1-FA84-4354-8488-4DCBDAA30B8E}" type="slidenum">
              <a:rPr lang="en-US" sz="1200" smtClean="0">
                <a:solidFill>
                  <a:schemeClr val="tx1"/>
                </a:solidFill>
              </a:rPr>
              <a:pPr eaLnBrk="1" hangingPunct="1"/>
              <a:t>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64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C98C975-7B0B-46D1-9699-3668FE93BC47}" type="slidenum">
              <a:rPr lang="en-US" sz="120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748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899FE81-0EAD-4B12-B6D1-78904E9B07F5}" type="slidenum">
              <a:rPr lang="en-US" sz="120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01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AB7AD2B-9028-4E87-AB45-7A6018E9922C}" type="slidenum">
              <a:rPr lang="en-US" sz="120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947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3F92A18E-28F5-4492-8360-11ED6DB728EA}" type="slidenum">
              <a:rPr lang="en-US" sz="1200" smtClean="0">
                <a:solidFill>
                  <a:schemeClr val="tx1"/>
                </a:solidFill>
              </a:rPr>
              <a:pPr eaLnBrk="1" hangingPunct="1"/>
              <a:t>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259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CF12E6E-8274-42CC-80FA-F4CA49370F75}" type="slidenum">
              <a:rPr lang="en-US" sz="120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887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7575A39-5836-46B4-A52E-721DC6B7CF3A}" type="slidenum">
              <a:rPr lang="en-US" sz="1200" smtClean="0">
                <a:solidFill>
                  <a:schemeClr val="tx1"/>
                </a:solidFill>
              </a:rPr>
              <a:pPr eaLnBrk="1" hangingPunct="1"/>
              <a:t>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603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5673F89-9B5E-42B0-B274-B500A56813A4}" type="slidenum">
              <a:rPr lang="en-US" sz="1200" smtClean="0">
                <a:solidFill>
                  <a:schemeClr val="tx1"/>
                </a:solidFill>
              </a:rPr>
              <a:pPr eaLnBrk="1" hangingPunct="1"/>
              <a:t>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937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44E477B-8BF3-44F7-8D80-AB39C2734B1B}" type="slidenum">
              <a:rPr lang="en-US" sz="1200" smtClean="0">
                <a:solidFill>
                  <a:schemeClr val="tx1"/>
                </a:solidFill>
              </a:rPr>
              <a:pPr eaLnBrk="1" hangingPunct="1"/>
              <a:t>10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540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91E5CC7-A56E-4357-AE8C-C1007F4F0BCE}" type="slidenum">
              <a:rPr lang="en-US" sz="120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780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D803E98-6562-47BC-B46F-3D3512F61D7C}" type="slidenum">
              <a:rPr lang="en-US" sz="120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61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8B85A2D-CE20-4455-8E00-1B4C81B404E3}" type="slidenum">
              <a:rPr lang="en-US" sz="1200" smtClean="0">
                <a:solidFill>
                  <a:schemeClr val="tx1"/>
                </a:solidFill>
              </a:rPr>
              <a:pPr eaLnBrk="1" hangingPunct="1"/>
              <a:t>13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495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349BB1BE-82F4-42B0-B72D-27B237041ACF}" type="slidenum">
              <a:rPr lang="en-US" sz="1200" smtClean="0">
                <a:solidFill>
                  <a:schemeClr val="tx1"/>
                </a:solidFill>
              </a:rPr>
              <a:pPr eaLnBrk="1" hangingPunct="1"/>
              <a:t>14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77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C61903D-F472-4C0D-9F8D-B9FDF9DB74A6}" type="slidenum">
              <a:rPr lang="en-US" sz="1200" smtClean="0">
                <a:solidFill>
                  <a:schemeClr val="tx1"/>
                </a:solidFill>
              </a:rPr>
              <a:pPr eaLnBrk="1" hangingPunct="1"/>
              <a:t>15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535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C61903D-F472-4C0D-9F8D-B9FDF9DB74A6}" type="slidenum">
              <a:rPr lang="en-US" sz="1200" smtClean="0">
                <a:solidFill>
                  <a:schemeClr val="tx1"/>
                </a:solidFill>
              </a:rPr>
              <a:pPr eaLnBrk="1" hangingPunct="1"/>
              <a:t>16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654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BA3083D-7215-4852-A47E-0C874D50B935}" type="slidenum">
              <a:rPr lang="en-US" sz="120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262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A09AA47-5963-4863-A28A-81F0BAEE55FA}" type="slidenum">
              <a:rPr lang="en-US" sz="120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985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A8AF2B1-2D7F-4E8A-9BD7-F1671A2ECB02}" type="slidenum">
              <a:rPr lang="en-US" sz="1200" smtClean="0">
                <a:solidFill>
                  <a:schemeClr val="tx1"/>
                </a:solidFill>
              </a:rPr>
              <a:pPr eaLnBrk="1" hangingPunct="1"/>
              <a:t>19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569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43A1B41-9017-486C-81B0-3B6AD1B69B75}" type="slidenum">
              <a:rPr lang="en-US" sz="120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674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709D8-1C3E-415F-834B-9D03C1F47D5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0560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31275C25-D17A-4F94-B3B6-E041AEC11344}" type="slidenum">
              <a:rPr lang="en-US" sz="1200" smtClean="0">
                <a:solidFill>
                  <a:schemeClr val="tx1"/>
                </a:solidFill>
              </a:rPr>
              <a:pPr eaLnBrk="1" hangingPunct="1"/>
              <a:t>22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500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709D8-1C3E-415F-834B-9D03C1F47D5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7985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709799C-1458-46AA-8574-C4E9679E7BAD}" type="slidenum">
              <a:rPr lang="en-US" sz="1200" smtClean="0">
                <a:solidFill>
                  <a:schemeClr val="tx1"/>
                </a:solidFill>
              </a:rPr>
              <a:pPr eaLnBrk="1" hangingPunct="1"/>
              <a:t>24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3171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8FC841F-02ED-472E-A350-26E6AD11F23D}" type="slidenum">
              <a:rPr lang="en-US" sz="1200" smtClean="0">
                <a:solidFill>
                  <a:schemeClr val="tx1"/>
                </a:solidFill>
              </a:rPr>
              <a:pPr eaLnBrk="1" hangingPunct="1"/>
              <a:t>25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71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8FC841F-02ED-472E-A350-26E6AD11F23D}" type="slidenum">
              <a:rPr lang="en-US" sz="1200" smtClean="0">
                <a:solidFill>
                  <a:schemeClr val="tx1"/>
                </a:solidFill>
              </a:rPr>
              <a:pPr eaLnBrk="1" hangingPunct="1"/>
              <a:t>26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600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8FD450B-3DD4-415A-8027-3AB7BFA923BE}" type="slidenum">
              <a:rPr lang="en-US" sz="120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762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709D8-1C3E-415F-834B-9D03C1F47D5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321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8F965AC-6A9C-443D-9069-F939C0BC1DC7}" type="slidenum">
              <a:rPr lang="en-US" sz="120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5499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7571A08-A134-4766-ADFF-C32AE7E836E4}" type="slidenum">
              <a:rPr lang="en-US" sz="120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5924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709D8-1C3E-415F-834B-9D03C1F47D52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4621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73A14C3-C09C-48AD-98AB-494FC0D158A3}" type="slidenum">
              <a:rPr lang="en-US" sz="120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6698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A1A51A9-681C-43FD-B7A1-E2C583D80520}" type="slidenum">
              <a:rPr lang="en-US" sz="1200" smtClean="0">
                <a:solidFill>
                  <a:schemeClr val="tx1"/>
                </a:solidFill>
              </a:rPr>
              <a:pPr eaLnBrk="1" hangingPunct="1"/>
              <a:t>33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8740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C8D5C9F-B9FF-4408-9B3F-4C9E84CE8DF8}" type="slidenum">
              <a:rPr lang="en-US" sz="1200" smtClean="0">
                <a:solidFill>
                  <a:schemeClr val="tx1"/>
                </a:solidFill>
              </a:rPr>
              <a:pPr eaLnBrk="1" hangingPunct="1"/>
              <a:t>34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3220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A009EC5-57E1-4135-8632-1B3180E7E071}" type="slidenum">
              <a:rPr lang="en-US" sz="1200" smtClean="0">
                <a:solidFill>
                  <a:schemeClr val="tx1"/>
                </a:solidFill>
              </a:rPr>
              <a:pPr eaLnBrk="1" hangingPunct="1"/>
              <a:t>35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434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0F6D9E5D-8210-404F-9045-A59EE8F6130F}" type="slidenum">
              <a:rPr lang="en-US" sz="1200" smtClean="0">
                <a:solidFill>
                  <a:schemeClr val="tx1"/>
                </a:solidFill>
              </a:rPr>
              <a:pPr eaLnBrk="1" hangingPunct="1"/>
              <a:t>36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462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C86FA2F-46C1-4ACD-ACA0-1B7BB8FDC6A2}" type="slidenum">
              <a:rPr lang="en-US" sz="1200" smtClean="0">
                <a:solidFill>
                  <a:schemeClr val="tx1"/>
                </a:solidFill>
              </a:rPr>
              <a:pPr eaLnBrk="1" hangingPunct="1"/>
              <a:t>37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207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8D38957-570D-4FDB-8F66-D1F7563FB89F}" type="slidenum">
              <a:rPr lang="en-US" sz="1200" smtClean="0">
                <a:solidFill>
                  <a:schemeClr val="tx1"/>
                </a:solidFill>
              </a:rPr>
              <a:pPr eaLnBrk="1" hangingPunct="1"/>
              <a:t>38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034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709D8-1C3E-415F-834B-9D03C1F47D52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734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709D8-1C3E-415F-834B-9D03C1F47D52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9800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709D8-1C3E-415F-834B-9D03C1F47D52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061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8734779-42F1-4027-BF72-5CEDAFAC6E6A}" type="slidenum">
              <a:rPr lang="en-US" sz="1200" smtClean="0">
                <a:solidFill>
                  <a:schemeClr val="tx1"/>
                </a:solidFill>
              </a:rPr>
              <a:pPr eaLnBrk="1" hangingPunct="1"/>
              <a:t>42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1624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04146A4-220D-4DA4-9534-0841CE4C9E27}" type="slidenum">
              <a:rPr lang="en-US" sz="1200" smtClean="0">
                <a:solidFill>
                  <a:schemeClr val="tx1"/>
                </a:solidFill>
              </a:rPr>
              <a:pPr eaLnBrk="1" hangingPunct="1"/>
              <a:t>43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7801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04146A4-220D-4DA4-9534-0841CE4C9E27}" type="slidenum">
              <a:rPr lang="en-US" sz="1200" smtClean="0">
                <a:solidFill>
                  <a:schemeClr val="tx1"/>
                </a:solidFill>
              </a:rPr>
              <a:pPr eaLnBrk="1" hangingPunct="1"/>
              <a:t>44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9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F3FE8-AA61-4079-9802-81CB3394BF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5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CC9C2-F83D-4807-BAC0-2017CE71E4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48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5A20D-5FD6-4FDC-A598-643AE2892A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7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AE34A-D047-44D1-8080-682265E6C6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04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A7738-1882-4BD8-AA0D-3E288A21F9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89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93335-FAF4-49FA-8331-8FC97694CB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4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EFBA0-120C-48B1-8057-D27F5DCE82C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5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AFDA4-B04E-4FD9-8138-4D0D8BFCE7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83BB8-D847-4E37-9C37-68D35C934C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64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7E60D-3AE4-4198-A13C-AD2F223365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799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4FF02-1F2C-4D6B-9DE4-7F641ECD6D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689377"/>
            <a:ext cx="5267325" cy="6168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15A20D-5FD6-4FDC-A598-643AE2892A4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AE34A-D047-44D1-8080-682265E6C6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A7738-1882-4BD8-AA0D-3E288A21F9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EFBA0-120C-48B1-8057-D27F5DCE82C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AFDA4-B04E-4FD9-8138-4D0D8BFCE79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83BB8-D847-4E37-9C37-68D35C934CC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7E60D-3AE4-4198-A13C-AD2F2233650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4FF02-1F2C-4D6B-9DE4-7F641ECD6DC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B7E45-276D-49BF-B354-4A4AE09F3DC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solidFill>
                  <a:srgbClr val="222222"/>
                </a:solidFill>
              </a:defRPr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832B7E45-276D-49BF-B354-4A4AE09F3D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2546282-08BB-4F50-B29C-7F6AD310335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3886200" y="6356350"/>
            <a:ext cx="388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4: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Making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Objectives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Understand logic-planning tools and decision making</a:t>
            </a:r>
          </a:p>
          <a:p>
            <a:pPr eaLnBrk="1" hangingPunct="1"/>
            <a:r>
              <a:rPr lang="en-US" dirty="0" smtClean="0"/>
              <a:t>Learn how to make decisions using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if</a:t>
            </a:r>
            <a:r>
              <a:rPr lang="en-US" dirty="0" smtClean="0"/>
              <a:t> statements</a:t>
            </a:r>
          </a:p>
          <a:p>
            <a:pPr eaLnBrk="1" hangingPunct="1"/>
            <a:r>
              <a:rPr lang="en-US" dirty="0" smtClean="0"/>
              <a:t>Learn how to make decisions using </a:t>
            </a:r>
            <a:r>
              <a:rPr lang="en-US" dirty="0" smtClean="0">
                <a:latin typeface="Courier New" pitchFamily="1" charset="0"/>
              </a:rPr>
              <a:t>if-else</a:t>
            </a:r>
            <a:r>
              <a:rPr lang="en-US" dirty="0" smtClean="0"/>
              <a:t> statements</a:t>
            </a:r>
          </a:p>
          <a:p>
            <a:pPr eaLnBrk="1" hangingPunct="1"/>
            <a:r>
              <a:rPr lang="en-US" dirty="0" smtClean="0"/>
              <a:t>Use compound expressions in </a:t>
            </a:r>
            <a:r>
              <a:rPr lang="en-US" dirty="0" smtClean="0">
                <a:latin typeface="Courier New" pitchFamily="1" charset="0"/>
              </a:rPr>
              <a:t>if</a:t>
            </a:r>
            <a:r>
              <a:rPr lang="en-US" dirty="0" smtClean="0"/>
              <a:t> statements</a:t>
            </a:r>
          </a:p>
          <a:p>
            <a:r>
              <a:rPr lang="en-US" dirty="0"/>
              <a:t>Make decisions using </a:t>
            </a:r>
            <a:r>
              <a:rPr lang="en-US" dirty="0" smtClean="0">
                <a:latin typeface="Courier New" pitchFamily="1" charset="0"/>
              </a:rPr>
              <a:t>switch</a:t>
            </a:r>
            <a:r>
              <a:rPr lang="en-US" dirty="0" smtClean="0"/>
              <a:t> statements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Objectives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Use the conditional operator</a:t>
            </a:r>
          </a:p>
          <a:p>
            <a:pPr eaLnBrk="1" hangingPunct="1"/>
            <a:r>
              <a:rPr lang="en-US" dirty="0" smtClean="0"/>
              <a:t>Use the NOT operator</a:t>
            </a:r>
          </a:p>
          <a:p>
            <a:pPr eaLnBrk="1" hangingPunct="1"/>
            <a:r>
              <a:rPr lang="en-US" dirty="0" smtClean="0"/>
              <a:t>Learn to avoid common errors when making decisions</a:t>
            </a:r>
          </a:p>
          <a:p>
            <a:pPr eaLnBrk="1" hangingPunct="1"/>
            <a:r>
              <a:rPr lang="en-US" dirty="0" smtClean="0"/>
              <a:t>Learn about decision-making issues in GUI programs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Understanding Logic-Planning Tools and Decision Making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Pseudocode</a:t>
            </a:r>
          </a:p>
          <a:p>
            <a:pPr lvl="1" eaLnBrk="1" hangingPunct="1"/>
            <a:r>
              <a:rPr lang="en-US" dirty="0" smtClean="0"/>
              <a:t>A tool that helps programmers plan a program’s logic by writing plain English statements</a:t>
            </a:r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Flowchart</a:t>
            </a:r>
            <a:endParaRPr lang="en-US" dirty="0" smtClean="0"/>
          </a:p>
          <a:p>
            <a:pPr lvl="1" eaLnBrk="1" hangingPunct="1"/>
            <a:r>
              <a:rPr lang="en-US" dirty="0" smtClean="0"/>
              <a:t>You write the steps in diagram form as a series of shapes connected by arrows or </a:t>
            </a:r>
            <a:r>
              <a:rPr lang="en-US" i="1" dirty="0" err="1" smtClean="0"/>
              <a:t>flowlines</a:t>
            </a:r>
            <a:endParaRPr lang="en-US" i="1" dirty="0" smtClean="0"/>
          </a:p>
          <a:p>
            <a:pPr eaLnBrk="1" hangingPunct="1"/>
            <a:r>
              <a:rPr lang="en-US" b="1" dirty="0" smtClean="0"/>
              <a:t>Sequence structure</a:t>
            </a:r>
          </a:p>
          <a:p>
            <a:pPr lvl="1" eaLnBrk="1" hangingPunct="1"/>
            <a:r>
              <a:rPr lang="en-US" dirty="0" smtClean="0"/>
              <a:t>One step follows another unconditionally and sequentially</a:t>
            </a:r>
          </a:p>
          <a:p>
            <a:pPr lvl="1" eaLnBrk="1" hangingPunct="1"/>
            <a:r>
              <a:rPr lang="en-US" dirty="0" smtClean="0"/>
              <a:t>Sometimes, logical steps do not follow in an unconditional sequence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Understanding Logic-Planning Tools and Decision Making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04757"/>
            <a:ext cx="4657725" cy="49008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504756"/>
            <a:ext cx="3732954" cy="4880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Understanding Logic-Planning Tools and Decision Making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92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Decision structure</a:t>
            </a:r>
          </a:p>
          <a:p>
            <a:pPr lvl="1" eaLnBrk="1" hangingPunct="1"/>
            <a:r>
              <a:rPr lang="en-US" dirty="0" smtClean="0"/>
              <a:t>Involves choosing between alternative courses of action based on some value within a program</a:t>
            </a:r>
          </a:p>
          <a:p>
            <a:pPr lvl="1" eaLnBrk="1" hangingPunct="1"/>
            <a:r>
              <a:rPr lang="en-US" dirty="0" smtClean="0"/>
              <a:t>All computer decisions are yes-or-no decisions when reduced to their most basic 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Making Decisions Using the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 smtClean="0"/>
              <a:t> </a:t>
            </a:r>
            <a:r>
              <a:rPr lang="en-US" sz="4000" spc="-200" dirty="0"/>
              <a:t>Statement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>
                <a:latin typeface="Courier New" pitchFamily="1" charset="0"/>
              </a:rPr>
              <a:t>if</a:t>
            </a:r>
            <a:r>
              <a:rPr lang="en-US" b="1" dirty="0" smtClean="0"/>
              <a:t> statement</a:t>
            </a:r>
          </a:p>
          <a:p>
            <a:pPr lvl="1" eaLnBrk="1" hangingPunct="1"/>
            <a:r>
              <a:rPr lang="en-US" dirty="0" smtClean="0"/>
              <a:t>Used to make a single-alternative decision</a:t>
            </a:r>
          </a:p>
          <a:p>
            <a:pPr lvl="1" eaLnBrk="1" hangingPunct="1"/>
            <a:r>
              <a:rPr lang="en-US" dirty="0" smtClean="0"/>
              <a:t>Used to determine whether an action will occur</a:t>
            </a:r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Block</a:t>
            </a:r>
          </a:p>
          <a:p>
            <a:pPr lvl="1" eaLnBrk="1" hangingPunct="1"/>
            <a:r>
              <a:rPr lang="en-US" dirty="0" smtClean="0"/>
              <a:t>One or more statements contained within a pair of curly braces  {   }</a:t>
            </a:r>
          </a:p>
          <a:p>
            <a:r>
              <a:rPr lang="en-US" dirty="0" smtClean="0"/>
              <a:t>The </a:t>
            </a:r>
            <a:r>
              <a:rPr lang="en-US" b="1" dirty="0">
                <a:latin typeface="Courier New" pitchFamily="1" charset="0"/>
              </a:rPr>
              <a:t>if</a:t>
            </a:r>
            <a:r>
              <a:rPr lang="en-US" b="1" dirty="0"/>
              <a:t> </a:t>
            </a:r>
            <a:r>
              <a:rPr lang="en-US" dirty="0" smtClean="0"/>
              <a:t>expression that precedes the block is the</a:t>
            </a:r>
            <a:r>
              <a:rPr lang="en-US" b="1" dirty="0" smtClean="0"/>
              <a:t> control statement </a:t>
            </a:r>
            <a:r>
              <a:rPr lang="en-US" dirty="0" smtClean="0"/>
              <a:t>for the decision structure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/>
              <a:t> Statement</a:t>
            </a:r>
            <a:r>
              <a:rPr lang="en-US" sz="4000" dirty="0" smtClean="0"/>
              <a:t> </a:t>
            </a:r>
            <a:r>
              <a:rPr lang="en-US" sz="1200" dirty="0" smtClean="0"/>
              <a:t>(cont’d.)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8125090" cy="475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7353"/>
            <a:ext cx="6900863" cy="4946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7620000" cy="4791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" y="1590675"/>
            <a:ext cx="7381875" cy="4581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Nested </a:t>
            </a:r>
            <a:r>
              <a:rPr lang="en-US" b="1" dirty="0" smtClean="0">
                <a:latin typeface="Courier New" pitchFamily="1" charset="0"/>
              </a:rPr>
              <a:t>if</a:t>
            </a:r>
          </a:p>
          <a:p>
            <a:pPr lvl="1" eaLnBrk="1" hangingPunct="1"/>
            <a:r>
              <a:rPr lang="en-US" dirty="0" smtClean="0"/>
              <a:t>One decision structure, or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/>
              <a:t> statement, is contained within another</a:t>
            </a:r>
          </a:p>
          <a:p>
            <a:pPr lvl="1" eaLnBrk="1" hangingPunct="1"/>
            <a:r>
              <a:rPr lang="en-US" dirty="0" smtClean="0"/>
              <a:t>Decision structures can be nested to multiple levels</a:t>
            </a:r>
          </a:p>
          <a:p>
            <a:pPr lvl="1" eaLnBrk="1" hangingPunct="1"/>
            <a:r>
              <a:rPr lang="en-US" dirty="0" smtClean="0"/>
              <a:t>If an outer level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/>
              <a:t> statement fails or returns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dirty="0" smtClean="0"/>
              <a:t> result, all inner blocks of code are ignored</a:t>
            </a:r>
          </a:p>
          <a:p>
            <a:pPr lvl="1" eaLnBrk="1" hangingPunct="1"/>
            <a:r>
              <a:rPr lang="en-US" dirty="0" smtClean="0"/>
              <a:t>Creating too many levels can result in code that is difficult to understand and maintain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520291"/>
            <a:ext cx="5514975" cy="4880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47047"/>
            <a:ext cx="6172199" cy="44203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524000"/>
            <a:ext cx="4611642" cy="20200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A Note on Equivalency Comparisons</a:t>
            </a:r>
            <a:endParaRPr lang="en-US" sz="4000" spc="-200" dirty="0"/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Single equal sign</a:t>
            </a:r>
          </a:p>
          <a:p>
            <a:pPr lvl="1" eaLnBrk="1" hangingPunct="1"/>
            <a:r>
              <a:rPr lang="en-US" dirty="0" smtClean="0"/>
              <a:t>Used to Assign a value to a variable</a:t>
            </a:r>
          </a:p>
          <a:p>
            <a:pPr lvl="2"/>
            <a:r>
              <a:rPr lang="en-US" dirty="0" smtClean="0"/>
              <a:t>Number </a:t>
            </a:r>
            <a:r>
              <a:rPr lang="en-US" dirty="0"/>
              <a:t>= High </a:t>
            </a:r>
            <a:endParaRPr lang="en-US" dirty="0" smtClean="0"/>
          </a:p>
          <a:p>
            <a:pPr lvl="3"/>
            <a:r>
              <a:rPr lang="en-US" dirty="0"/>
              <a:t>D</a:t>
            </a:r>
            <a:r>
              <a:rPr lang="en-US" dirty="0" smtClean="0"/>
              <a:t>oes </a:t>
            </a:r>
            <a:r>
              <a:rPr lang="en-US" dirty="0"/>
              <a:t>NOT compare </a:t>
            </a:r>
            <a:r>
              <a:rPr lang="en-US" dirty="0" smtClean="0"/>
              <a:t>Number </a:t>
            </a:r>
            <a:r>
              <a:rPr lang="en-US" dirty="0"/>
              <a:t>to </a:t>
            </a:r>
            <a:r>
              <a:rPr lang="en-US" dirty="0" smtClean="0"/>
              <a:t>High </a:t>
            </a:r>
          </a:p>
          <a:p>
            <a:pPr lvl="3"/>
            <a:r>
              <a:rPr lang="en-US" dirty="0" smtClean="0"/>
              <a:t>It </a:t>
            </a:r>
            <a:r>
              <a:rPr lang="en-US" dirty="0"/>
              <a:t>tries to assign the value of High to </a:t>
            </a:r>
            <a:r>
              <a:rPr lang="en-US" dirty="0" smtClean="0"/>
              <a:t>Number</a:t>
            </a:r>
          </a:p>
          <a:p>
            <a:pPr lvl="2"/>
            <a:r>
              <a:rPr lang="en-US" dirty="0"/>
              <a:t>if(number = HIGH</a:t>
            </a:r>
            <a:r>
              <a:rPr lang="en-US" dirty="0" smtClean="0"/>
              <a:t>)</a:t>
            </a:r>
          </a:p>
          <a:p>
            <a:pPr lvl="3"/>
            <a:r>
              <a:rPr lang="en-US" dirty="0" smtClean="0"/>
              <a:t>Illegal assignment … Generates an error</a:t>
            </a:r>
          </a:p>
          <a:p>
            <a:pPr eaLnBrk="1" hangingPunct="1">
              <a:spcBef>
                <a:spcPct val="0"/>
              </a:spcBef>
            </a:pPr>
            <a:r>
              <a:rPr lang="en-US" b="1" dirty="0"/>
              <a:t>Double Equal Sign</a:t>
            </a:r>
          </a:p>
          <a:p>
            <a:pPr lvl="1" eaLnBrk="1" hangingPunct="1"/>
            <a:r>
              <a:rPr lang="en-US" dirty="0" smtClean="0"/>
              <a:t>Used to test for equality</a:t>
            </a:r>
          </a:p>
          <a:p>
            <a:pPr lvl="2"/>
            <a:r>
              <a:rPr lang="en-US" sz="1800" dirty="0" smtClean="0"/>
              <a:t>Correct:  if(</a:t>
            </a:r>
            <a:r>
              <a:rPr lang="en-US" sz="1800" dirty="0" err="1" smtClean="0"/>
              <a:t>doesEmployeeHaveDependents</a:t>
            </a:r>
            <a:r>
              <a:rPr lang="en-US" sz="1800" dirty="0" smtClean="0"/>
              <a:t> </a:t>
            </a:r>
            <a:r>
              <a:rPr lang="en-US" sz="1800" dirty="0"/>
              <a:t>== </a:t>
            </a:r>
            <a:r>
              <a:rPr lang="en-US" sz="1800" dirty="0" err="1"/>
              <a:t>numDependents</a:t>
            </a:r>
            <a:r>
              <a:rPr lang="en-US" sz="1800" dirty="0"/>
              <a:t> &gt; 0)...</a:t>
            </a:r>
            <a:r>
              <a:rPr lang="en-US" sz="1800" dirty="0" smtClean="0"/>
              <a:t>  </a:t>
            </a:r>
          </a:p>
          <a:p>
            <a:pPr lvl="2"/>
            <a:r>
              <a:rPr lang="en-US" sz="1800" dirty="0" smtClean="0"/>
              <a:t>Incorrect:  if(</a:t>
            </a:r>
            <a:r>
              <a:rPr lang="en-US" sz="1800" dirty="0" err="1" smtClean="0"/>
              <a:t>doesEmployeeHaveDependents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err="1"/>
              <a:t>numDependents</a:t>
            </a:r>
            <a:r>
              <a:rPr lang="en-US" sz="1800" dirty="0"/>
              <a:t> &gt; 0)...</a:t>
            </a:r>
            <a:endParaRPr lang="en-US" sz="1800" dirty="0" smtClean="0"/>
          </a:p>
          <a:p>
            <a:pPr lvl="1" eaLnBrk="1" hangingPunct="1"/>
            <a:endParaRPr lang="en-US" dirty="0">
              <a:latin typeface="Courier New" pitchFamily="1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Making Decisions Using the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if-else</a:t>
            </a:r>
            <a:r>
              <a:rPr lang="en-US" sz="4000" spc="-200" dirty="0" smtClean="0"/>
              <a:t> </a:t>
            </a:r>
            <a:r>
              <a:rPr lang="en-US" sz="4000" spc="-200" dirty="0"/>
              <a:t>Statement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Dual-alternative decisions</a:t>
            </a:r>
          </a:p>
          <a:p>
            <a:pPr lvl="1" eaLnBrk="1" hangingPunct="1"/>
            <a:r>
              <a:rPr lang="en-US" dirty="0" smtClean="0"/>
              <a:t>Have two possible resulting actions</a:t>
            </a:r>
          </a:p>
          <a:p>
            <a:pPr eaLnBrk="1" hangingPunct="1">
              <a:spcBef>
                <a:spcPct val="0"/>
              </a:spcBef>
            </a:pPr>
            <a:r>
              <a:rPr lang="en-US" b="1" dirty="0" smtClean="0">
                <a:latin typeface="Courier New" pitchFamily="1" charset="0"/>
              </a:rPr>
              <a:t>if-else</a:t>
            </a:r>
            <a:r>
              <a:rPr lang="en-US" b="1" dirty="0" smtClean="0"/>
              <a:t> statement</a:t>
            </a:r>
          </a:p>
          <a:p>
            <a:pPr lvl="1" eaLnBrk="1" hangingPunct="1"/>
            <a:r>
              <a:rPr lang="en-US" dirty="0" smtClean="0"/>
              <a:t>Used to perform one action when a Boolean expression evaluates as </a:t>
            </a:r>
            <a:r>
              <a:rPr lang="en-US" dirty="0" smtClean="0">
                <a:latin typeface="Courier New" pitchFamily="1" charset="0"/>
              </a:rPr>
              <a:t>true</a:t>
            </a:r>
            <a:r>
              <a:rPr lang="en-US" dirty="0" smtClean="0"/>
              <a:t>, </a:t>
            </a:r>
            <a:r>
              <a:rPr lang="en-US" dirty="0"/>
              <a:t>a</a:t>
            </a:r>
            <a:r>
              <a:rPr lang="en-US" dirty="0" smtClean="0"/>
              <a:t>nd an alternate action when it evaluates as </a:t>
            </a:r>
            <a:r>
              <a:rPr lang="en-US" dirty="0" smtClean="0">
                <a:latin typeface="Courier New" pitchFamily="1" charset="0"/>
              </a:rPr>
              <a:t>false</a:t>
            </a:r>
          </a:p>
          <a:p>
            <a:pPr lvl="1" eaLnBrk="1" hangingPunct="1"/>
            <a:r>
              <a:rPr lang="en-US" dirty="0"/>
              <a:t>Example: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198144"/>
            <a:ext cx="5559804" cy="220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0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if-else</a:t>
            </a:r>
            <a:r>
              <a:rPr lang="en-US" sz="4000" spc="-200" dirty="0"/>
              <a:t> Statement</a:t>
            </a:r>
            <a:r>
              <a:rPr lang="en-US" sz="4000" dirty="0" smtClean="0"/>
              <a:t>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24000"/>
            <a:ext cx="6593511" cy="4841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if-else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57212"/>
            <a:ext cx="5753100" cy="4906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050" y="1524000"/>
            <a:ext cx="4876800" cy="21507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Using Compound Expressions in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spc="-200" dirty="0" smtClean="0"/>
              <a:t> </a:t>
            </a:r>
            <a:r>
              <a:rPr lang="en-US" sz="4000" spc="-200" dirty="0"/>
              <a:t>Statements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You can combine multiple decisions into a single </a:t>
            </a:r>
            <a:r>
              <a:rPr lang="en-US" dirty="0" smtClean="0">
                <a:latin typeface="Courier New" pitchFamily="1" charset="0"/>
              </a:rPr>
              <a:t>if</a:t>
            </a:r>
            <a:r>
              <a:rPr lang="en-US" dirty="0" smtClean="0"/>
              <a:t> statement</a:t>
            </a:r>
          </a:p>
          <a:p>
            <a:pPr lvl="1" eaLnBrk="1" hangingPunct="1"/>
            <a:r>
              <a:rPr lang="en-US" dirty="0" smtClean="0"/>
              <a:t>Use a combination of </a:t>
            </a:r>
            <a:r>
              <a:rPr lang="en-US" b="1" dirty="0" smtClean="0"/>
              <a:t>AND </a:t>
            </a:r>
            <a:r>
              <a:rPr lang="en-US" dirty="0" smtClean="0"/>
              <a:t>and</a:t>
            </a:r>
            <a:r>
              <a:rPr lang="en-US" b="1" dirty="0" smtClean="0"/>
              <a:t> OR operators</a:t>
            </a:r>
          </a:p>
          <a:p>
            <a:pPr lvl="1">
              <a:spcBef>
                <a:spcPts val="0"/>
              </a:spcBef>
            </a:pPr>
            <a:r>
              <a:rPr lang="en-US" dirty="0"/>
              <a:t>For convenience and </a:t>
            </a:r>
            <a:r>
              <a:rPr lang="en-US" dirty="0" smtClean="0"/>
              <a:t>clarity:</a:t>
            </a:r>
          </a:p>
          <a:p>
            <a:pPr lvl="2">
              <a:spcBef>
                <a:spcPts val="0"/>
              </a:spcBef>
            </a:pPr>
            <a:r>
              <a:rPr lang="en-US" dirty="0" smtClean="0"/>
              <a:t>Combine </a:t>
            </a:r>
            <a:r>
              <a:rPr lang="en-US" dirty="0"/>
              <a:t>multiple </a:t>
            </a:r>
            <a:r>
              <a:rPr lang="en-US" dirty="0" smtClean="0"/>
              <a:t>decisions into </a:t>
            </a:r>
            <a:r>
              <a:rPr lang="en-US" dirty="0"/>
              <a:t>a single, compound Boolean expression using a combination of conditional AND </a:t>
            </a:r>
            <a:r>
              <a:rPr lang="en-US" dirty="0" err="1"/>
              <a:t>and</a:t>
            </a:r>
            <a:r>
              <a:rPr lang="en-US" dirty="0"/>
              <a:t> </a:t>
            </a:r>
            <a:r>
              <a:rPr lang="en-US" dirty="0" smtClean="0"/>
              <a:t>OR operators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Using the Conditional AND Operator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Conditional AND operator</a:t>
            </a:r>
          </a:p>
          <a:p>
            <a:pPr lvl="1" eaLnBrk="1" hangingPunct="1"/>
            <a:r>
              <a:rPr lang="en-US" dirty="0" smtClean="0"/>
              <a:t>Determines whether two expressions are both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true</a:t>
            </a:r>
          </a:p>
          <a:p>
            <a:pPr lvl="1" eaLnBrk="1" hangingPunct="1"/>
            <a:r>
              <a:rPr lang="en-US" dirty="0" smtClean="0"/>
              <a:t>Uses two ampersands (</a:t>
            </a:r>
            <a:r>
              <a:rPr lang="en-US" dirty="0" smtClean="0">
                <a:latin typeface="Courier New" pitchFamily="1" charset="0"/>
              </a:rPr>
              <a:t>&amp;&amp;</a:t>
            </a:r>
            <a:r>
              <a:rPr lang="en-US" dirty="0" smtClean="0"/>
              <a:t>) and  </a:t>
            </a:r>
            <a:r>
              <a:rPr lang="en-US" dirty="0" err="1" smtClean="0"/>
              <a:t>ust</a:t>
            </a:r>
            <a:r>
              <a:rPr lang="en-US" dirty="0" smtClean="0"/>
              <a:t> include a complete Boolean expression on each side of the operator</a:t>
            </a:r>
          </a:p>
          <a:p>
            <a:r>
              <a:rPr lang="en-US" b="1" dirty="0"/>
              <a:t>Truth tables </a:t>
            </a:r>
            <a:r>
              <a:rPr lang="en-US" dirty="0"/>
              <a:t>are diagrams used in mathematics and logic to help describe the truth of an entire expression based on the truth of its </a:t>
            </a:r>
            <a:r>
              <a:rPr lang="en-US" dirty="0" smtClean="0"/>
              <a:t>parts</a:t>
            </a:r>
          </a:p>
          <a:p>
            <a:pPr eaLnBrk="1" hangingPunct="1"/>
            <a:r>
              <a:rPr lang="en-US" b="1" dirty="0" smtClean="0"/>
              <a:t>Short-circuit evaluation</a:t>
            </a:r>
          </a:p>
          <a:p>
            <a:pPr lvl="1" eaLnBrk="1" hangingPunct="1"/>
            <a:r>
              <a:rPr lang="en-US" dirty="0" smtClean="0"/>
              <a:t>Expressions in each part of an AND expression are evaluated only as much as necessary to determine whether the entire expression is </a:t>
            </a:r>
            <a:r>
              <a:rPr lang="en-US" dirty="0" smtClean="0">
                <a:latin typeface="Courier New" pitchFamily="1" charset="0"/>
              </a:rPr>
              <a:t>true</a:t>
            </a:r>
            <a:r>
              <a:rPr lang="en-US" dirty="0" smtClean="0"/>
              <a:t> or </a:t>
            </a:r>
            <a:r>
              <a:rPr lang="en-US" dirty="0" smtClean="0">
                <a:latin typeface="Courier New" pitchFamily="1" charset="0"/>
              </a:rPr>
              <a:t>false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Using the Conditional AND </a:t>
            </a:r>
            <a:r>
              <a:rPr lang="en-US" sz="4000" spc="-200" dirty="0" smtClean="0"/>
              <a:t>Operator</a:t>
            </a:r>
            <a:r>
              <a:rPr lang="en-US" sz="4000" spc="-200" dirty="0"/>
              <a:t>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23500"/>
            <a:ext cx="5089740" cy="27805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886200"/>
            <a:ext cx="5943600" cy="256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9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Conditional OR Operator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Conditional OR operator</a:t>
            </a:r>
          </a:p>
          <a:p>
            <a:pPr lvl="1" eaLnBrk="1" hangingPunct="1"/>
            <a:r>
              <a:rPr lang="en-US" dirty="0" smtClean="0"/>
              <a:t>Used when you want some action to occur even if only one of two conditions is </a:t>
            </a:r>
            <a:r>
              <a:rPr lang="en-US" dirty="0" smtClean="0">
                <a:latin typeface="Courier New" pitchFamily="1" charset="0"/>
              </a:rPr>
              <a:t>true</a:t>
            </a:r>
          </a:p>
          <a:p>
            <a:pPr lvl="1" eaLnBrk="1" hangingPunct="1"/>
            <a:r>
              <a:rPr lang="en-US" dirty="0" smtClean="0"/>
              <a:t>Written as two pipes </a:t>
            </a:r>
            <a:r>
              <a:rPr lang="en-US" dirty="0" smtClean="0">
                <a:latin typeface="Courier New" pitchFamily="1" charset="0"/>
              </a:rPr>
              <a:t>||</a:t>
            </a:r>
          </a:p>
          <a:p>
            <a:pPr lvl="1"/>
            <a:r>
              <a:rPr lang="en-US" dirty="0"/>
              <a:t>You must include a complete Boolean expression on each side of the </a:t>
            </a:r>
            <a:r>
              <a:rPr lang="en-US" dirty="0" smtClean="0"/>
              <a:t>operator</a:t>
            </a:r>
          </a:p>
          <a:p>
            <a:r>
              <a:rPr lang="en-US" b="1" dirty="0"/>
              <a:t>Short-circuit evaluation</a:t>
            </a:r>
          </a:p>
          <a:p>
            <a:pPr lvl="1"/>
            <a:r>
              <a:rPr lang="en-US" dirty="0"/>
              <a:t>Expressions in each part of an </a:t>
            </a:r>
            <a:r>
              <a:rPr lang="en-US" dirty="0" smtClean="0"/>
              <a:t>OR </a:t>
            </a:r>
            <a:r>
              <a:rPr lang="en-US" dirty="0"/>
              <a:t>expression are evaluated only as much as necessary to determine whether the entire expression is </a:t>
            </a:r>
            <a:r>
              <a:rPr lang="en-US" dirty="0">
                <a:latin typeface="Courier New" pitchFamily="1" charset="0"/>
              </a:rPr>
              <a:t>true</a:t>
            </a:r>
            <a:r>
              <a:rPr lang="en-US" dirty="0"/>
              <a:t> or </a:t>
            </a:r>
            <a:r>
              <a:rPr lang="en-US" dirty="0" smtClean="0">
                <a:latin typeface="Courier New" pitchFamily="1" charset="0"/>
              </a:rPr>
              <a:t>false</a:t>
            </a:r>
            <a:endParaRPr lang="en-US" dirty="0"/>
          </a:p>
          <a:p>
            <a:pPr marL="0" indent="0">
              <a:buNone/>
            </a:pPr>
            <a:endParaRPr lang="en-US" dirty="0" smtClean="0">
              <a:latin typeface="Courier New" pitchFamily="1" charset="0"/>
            </a:endParaRPr>
          </a:p>
        </p:txBody>
      </p:sp>
      <p:sp>
        <p:nvSpPr>
          <p:cNvPr id="25603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the Conditional OR Operator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6946"/>
            <a:ext cx="4572000" cy="26708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958519"/>
            <a:ext cx="5705475" cy="274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97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Logical AND and OR Operators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/>
              <a:t>Boolean logical AND operator</a:t>
            </a:r>
            <a:r>
              <a:rPr lang="en-US" dirty="0" smtClean="0"/>
              <a:t> (</a:t>
            </a:r>
            <a:r>
              <a:rPr lang="en-US" dirty="0" smtClean="0">
                <a:latin typeface="Courier New" pitchFamily="1" charset="0"/>
              </a:rPr>
              <a:t>&amp;</a:t>
            </a:r>
            <a:r>
              <a:rPr lang="en-US" dirty="0" smtClean="0"/>
              <a:t>) and </a:t>
            </a:r>
            <a:r>
              <a:rPr lang="en-US" b="1" dirty="0" smtClean="0"/>
              <a:t>Boolean logical inclusive OR operator</a:t>
            </a:r>
            <a:r>
              <a:rPr lang="en-US" dirty="0" smtClean="0"/>
              <a:t> (</a:t>
            </a:r>
            <a:r>
              <a:rPr lang="en-US" dirty="0" smtClean="0">
                <a:latin typeface="Courier New" pitchFamily="1" charset="0"/>
              </a:rPr>
              <a:t>|</a:t>
            </a:r>
            <a:r>
              <a:rPr lang="en-US" dirty="0" smtClean="0"/>
              <a:t>)</a:t>
            </a:r>
          </a:p>
          <a:p>
            <a:pPr lvl="1" eaLnBrk="1" hangingPunct="1"/>
            <a:r>
              <a:rPr lang="en-US" dirty="0" smtClean="0"/>
              <a:t>Work just like their </a:t>
            </a:r>
            <a:r>
              <a:rPr lang="en-US" dirty="0" smtClean="0">
                <a:latin typeface="Courier New" pitchFamily="1" charset="0"/>
              </a:rPr>
              <a:t>&amp;&amp;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1" charset="0"/>
              </a:rPr>
              <a:t>||</a:t>
            </a:r>
            <a:r>
              <a:rPr lang="en-US" dirty="0" smtClean="0"/>
              <a:t> (</a:t>
            </a:r>
            <a:r>
              <a:rPr lang="en-US" i="1" dirty="0" smtClean="0"/>
              <a:t>conditional </a:t>
            </a:r>
            <a:r>
              <a:rPr lang="en-US" dirty="0" smtClean="0"/>
              <a:t>AND and OR) counterparts</a:t>
            </a:r>
          </a:p>
          <a:p>
            <a:pPr lvl="1" eaLnBrk="1" hangingPunct="1"/>
            <a:r>
              <a:rPr lang="en-US" dirty="0" smtClean="0"/>
              <a:t>Do not support short-circuit evaluation</a:t>
            </a:r>
          </a:p>
          <a:p>
            <a:pPr lvl="1" eaLnBrk="1" hangingPunct="1"/>
            <a:r>
              <a:rPr lang="en-US" dirty="0" smtClean="0"/>
              <a:t>Can lead to a </a:t>
            </a:r>
            <a:r>
              <a:rPr lang="en-US" b="1" dirty="0" smtClean="0"/>
              <a:t>side effect</a:t>
            </a:r>
            <a:r>
              <a:rPr lang="en-US" dirty="0" smtClean="0"/>
              <a:t> (unintended consequence)</a:t>
            </a:r>
          </a:p>
          <a:p>
            <a:pPr eaLnBrk="1" hangingPunct="1"/>
            <a:r>
              <a:rPr lang="en-US" dirty="0" smtClean="0"/>
              <a:t>Avoid writing expressions that contain side effects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Combining AND and OR </a:t>
            </a:r>
            <a:r>
              <a:rPr lang="en-US" sz="4000" spc="-200" dirty="0" smtClean="0"/>
              <a:t>Operators </a:t>
            </a:r>
            <a:r>
              <a:rPr lang="en-US" sz="1200" dirty="0"/>
              <a:t>(cont’d.)</a:t>
            </a:r>
            <a:endParaRPr lang="en-US" sz="4000" spc="-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7894340" cy="475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Combining AND and OR </a:t>
            </a:r>
            <a:r>
              <a:rPr lang="en-US" sz="4000" spc="-200" dirty="0" smtClean="0"/>
              <a:t>Operators </a:t>
            </a:r>
            <a:r>
              <a:rPr lang="en-US" sz="1200" dirty="0"/>
              <a:t>(cont’d.)</a:t>
            </a:r>
            <a:endParaRPr lang="en-US" sz="4000" spc="-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0"/>
            <a:ext cx="6886126" cy="2438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4117975"/>
            <a:ext cx="7324725" cy="22383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2756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/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4000" spc="-200" dirty="0"/>
              <a:t> Statement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Courier New" pitchFamily="1" charset="0"/>
              </a:rPr>
              <a:t>switch</a:t>
            </a:r>
            <a:r>
              <a:rPr lang="en-US" b="1" dirty="0" smtClean="0"/>
              <a:t> structure</a:t>
            </a:r>
            <a:endParaRPr lang="en-US" dirty="0" smtClean="0"/>
          </a:p>
          <a:p>
            <a:pPr lvl="1" eaLnBrk="1" hangingPunct="1"/>
            <a:r>
              <a:rPr lang="en-US" dirty="0" smtClean="0"/>
              <a:t>Tests a single variable against a series of exact matches</a:t>
            </a:r>
          </a:p>
          <a:p>
            <a:pPr eaLnBrk="1" hangingPunct="1"/>
            <a:r>
              <a:rPr lang="en-US" dirty="0" smtClean="0"/>
              <a:t>Keywords</a:t>
            </a:r>
          </a:p>
          <a:p>
            <a:pPr lvl="1" eaLnBrk="1" hangingPunct="1"/>
            <a:r>
              <a:rPr lang="en-US" b="1" dirty="0" smtClean="0">
                <a:latin typeface="Courier New" pitchFamily="1" charset="0"/>
              </a:rPr>
              <a:t>switch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</a:rPr>
              <a:t>case</a:t>
            </a:r>
            <a:r>
              <a:rPr lang="en-US" dirty="0" smtClean="0"/>
              <a:t>, </a:t>
            </a:r>
            <a:r>
              <a:rPr lang="en-US" b="1" dirty="0" smtClean="0">
                <a:latin typeface="Courier New" pitchFamily="1" charset="0"/>
              </a:rPr>
              <a:t>break</a:t>
            </a:r>
            <a:r>
              <a:rPr lang="en-US" dirty="0" smtClean="0"/>
              <a:t>, and </a:t>
            </a:r>
            <a:r>
              <a:rPr lang="en-US" b="1" dirty="0" smtClean="0">
                <a:latin typeface="Courier New" pitchFamily="1" charset="0"/>
              </a:rPr>
              <a:t>default</a:t>
            </a:r>
          </a:p>
          <a:p>
            <a:r>
              <a:rPr lang="en-US" b="1" dirty="0" smtClean="0"/>
              <a:t>Governing types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sbyte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byte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short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ushort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uint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ulong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/>
              <a:t>,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enum</a:t>
            </a:r>
          </a:p>
          <a:p>
            <a:r>
              <a:rPr lang="en-US" dirty="0"/>
              <a:t>A </a:t>
            </a:r>
            <a:r>
              <a:rPr lang="en-US" dirty="0">
                <a:latin typeface="Courier New" pitchFamily="1" charset="0"/>
              </a:rPr>
              <a:t>switch</a:t>
            </a:r>
            <a:r>
              <a:rPr lang="en-US" dirty="0"/>
              <a:t> does not need a </a:t>
            </a:r>
            <a:r>
              <a:rPr lang="en-US" dirty="0">
                <a:latin typeface="Courier New" pitchFamily="1" charset="0"/>
              </a:rPr>
              <a:t>default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case</a:t>
            </a:r>
          </a:p>
          <a:p>
            <a:pPr lvl="1"/>
            <a:r>
              <a:rPr lang="en-US" dirty="0"/>
              <a:t>Good programming practice to include </a:t>
            </a:r>
            <a:r>
              <a:rPr lang="en-US" dirty="0" smtClean="0"/>
              <a:t>one</a:t>
            </a:r>
            <a:endParaRPr lang="en-US" dirty="0"/>
          </a:p>
        </p:txBody>
      </p:sp>
      <p:sp>
        <p:nvSpPr>
          <p:cNvPr id="29699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4000" spc="-200" dirty="0"/>
              <a:t> Statement</a:t>
            </a:r>
            <a:r>
              <a:rPr lang="en-US" sz="4000" dirty="0" smtClean="0"/>
              <a:t> </a:t>
            </a:r>
            <a:r>
              <a:rPr lang="en-US" sz="1200" dirty="0" smtClean="0"/>
              <a:t>(cont’d.)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“No fall through rule”</a:t>
            </a:r>
          </a:p>
          <a:p>
            <a:pPr lvl="1"/>
            <a:r>
              <a:rPr lang="en-US" dirty="0"/>
              <a:t>Not allowing code to reach the end of a </a:t>
            </a:r>
            <a:r>
              <a:rPr lang="en-US" dirty="0">
                <a:latin typeface="Courier New" pitchFamily="1" charset="0"/>
              </a:rPr>
              <a:t>case</a:t>
            </a:r>
          </a:p>
          <a:p>
            <a:pPr lvl="1"/>
            <a:r>
              <a:rPr lang="en-US" dirty="0"/>
              <a:t>Not allowed in C#</a:t>
            </a:r>
          </a:p>
          <a:p>
            <a:pPr lvl="1"/>
            <a:r>
              <a:rPr lang="en-US" dirty="0"/>
              <a:t>Use a </a:t>
            </a:r>
            <a:r>
              <a:rPr lang="en-US" dirty="0">
                <a:latin typeface="Courier New" pitchFamily="1" charset="0"/>
              </a:rPr>
              <a:t>break</a:t>
            </a:r>
            <a:r>
              <a:rPr lang="en-US" dirty="0"/>
              <a:t> statement at the end of each </a:t>
            </a:r>
            <a:r>
              <a:rPr lang="en-US" dirty="0">
                <a:latin typeface="Courier New" pitchFamily="1" charset="0"/>
              </a:rPr>
              <a:t>case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81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75" y="1588476"/>
            <a:ext cx="3819525" cy="45040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588476"/>
            <a:ext cx="4599197" cy="35931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Making Decisions 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4000" spc="-200" dirty="0"/>
              <a:t> Statement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327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You can use multiple labels to govern a list of statements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2508250"/>
            <a:ext cx="7210425" cy="384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an Enumeration with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sz="4000" spc="-200" dirty="0"/>
              <a:t> Statement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3733800" cy="4525963"/>
          </a:xfrm>
        </p:spPr>
        <p:txBody>
          <a:bodyPr/>
          <a:lstStyle/>
          <a:p>
            <a:r>
              <a:rPr lang="en-US" dirty="0" smtClean="0"/>
              <a:t>Using an enumeration with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dirty="0" smtClean="0"/>
              <a:t> structure is often convenient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1" y="1600199"/>
            <a:ext cx="4724400" cy="481213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3863181"/>
            <a:ext cx="4152900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Conditional Operator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Conditional operator</a:t>
            </a:r>
            <a:endParaRPr lang="en-US" dirty="0" smtClean="0"/>
          </a:p>
          <a:p>
            <a:pPr lvl="1" eaLnBrk="1" hangingPunct="1"/>
            <a:r>
              <a:rPr lang="en-US" dirty="0" smtClean="0"/>
              <a:t>Used as an abbreviated version of the </a:t>
            </a:r>
            <a:r>
              <a:rPr lang="en-US" dirty="0" smtClean="0">
                <a:latin typeface="Courier New" pitchFamily="1" charset="0"/>
              </a:rPr>
              <a:t>if-else</a:t>
            </a:r>
            <a:r>
              <a:rPr lang="en-US" dirty="0" smtClean="0"/>
              <a:t> statement</a:t>
            </a:r>
          </a:p>
          <a:p>
            <a:pPr lvl="1" eaLnBrk="1" hangingPunct="1"/>
            <a:r>
              <a:rPr lang="en-US" dirty="0" smtClean="0"/>
              <a:t>A </a:t>
            </a:r>
            <a:r>
              <a:rPr lang="en-US" b="1" dirty="0" smtClean="0"/>
              <a:t>ternary</a:t>
            </a:r>
            <a:r>
              <a:rPr lang="en-US" dirty="0" smtClean="0"/>
              <a:t> operator that takes three parameters</a:t>
            </a:r>
          </a:p>
          <a:p>
            <a:pPr eaLnBrk="1" hangingPunct="1"/>
            <a:r>
              <a:rPr lang="en-US" dirty="0" smtClean="0"/>
              <a:t>Syntax</a:t>
            </a:r>
          </a:p>
          <a:p>
            <a:pPr lvl="1"/>
            <a:r>
              <a:rPr lang="en-US" sz="1800" dirty="0" smtClean="0">
                <a:latin typeface="Courier New" pitchFamily="1" charset="0"/>
              </a:rPr>
              <a:t>testExpression ? trueResult : falseResult;</a:t>
            </a:r>
            <a:endParaRPr lang="en-US" sz="1600" dirty="0" smtClean="0">
              <a:latin typeface="Courier New" pitchFamily="1" charset="0"/>
            </a:endParaRPr>
          </a:p>
          <a:p>
            <a:r>
              <a:rPr lang="en-US" dirty="0" smtClean="0"/>
              <a:t>Example</a:t>
            </a:r>
          </a:p>
          <a:p>
            <a:pPr lvl="1"/>
            <a:r>
              <a:rPr lang="en-US" sz="1600" dirty="0" err="1" smtClean="0">
                <a:latin typeface="Courier New" pitchFamily="1" charset="0"/>
              </a:rPr>
              <a:t>WriteLine</a:t>
            </a:r>
            <a:r>
              <a:rPr lang="en-US" sz="1600" dirty="0" smtClean="0">
                <a:latin typeface="Courier New" pitchFamily="1" charset="0"/>
              </a:rPr>
              <a:t>((testScore &gt;= 60) ? </a:t>
            </a:r>
            <a:r>
              <a:rPr lang="en-US" sz="1600" dirty="0" smtClean="0"/>
              <a:t>"</a:t>
            </a:r>
            <a:r>
              <a:rPr lang="en-US" sz="1600" dirty="0" smtClean="0">
                <a:latin typeface="Courier New" pitchFamily="1" charset="0"/>
              </a:rPr>
              <a:t>Pass</a:t>
            </a:r>
            <a:r>
              <a:rPr lang="en-US" sz="1600" dirty="0" smtClean="0"/>
              <a:t>"</a:t>
            </a:r>
            <a:r>
              <a:rPr lang="en-US" sz="1600" dirty="0" smtClean="0">
                <a:latin typeface="Courier New" pitchFamily="1" charset="0"/>
              </a:rPr>
              <a:t> : </a:t>
            </a:r>
            <a:r>
              <a:rPr lang="en-US" sz="1600" dirty="0"/>
              <a:t>" </a:t>
            </a:r>
            <a:r>
              <a:rPr lang="en-US" sz="1600" dirty="0" smtClean="0">
                <a:latin typeface="Courier New" pitchFamily="1" charset="0"/>
              </a:rPr>
              <a:t>Fail</a:t>
            </a:r>
            <a:r>
              <a:rPr lang="en-US" sz="1600" dirty="0" smtClean="0"/>
              <a:t>"</a:t>
            </a:r>
            <a:r>
              <a:rPr lang="en-US" sz="1600" dirty="0" smtClean="0">
                <a:latin typeface="Courier New" pitchFamily="1" charset="0"/>
              </a:rPr>
              <a:t>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NOT Operator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/>
              <a:t>NOT operator</a:t>
            </a:r>
          </a:p>
          <a:p>
            <a:pPr lvl="1" eaLnBrk="1" hangingPunct="1"/>
            <a:r>
              <a:rPr lang="en-US" dirty="0" smtClean="0"/>
              <a:t>Written as an exclamation point (</a:t>
            </a:r>
            <a:r>
              <a:rPr lang="en-US" dirty="0" smtClean="0">
                <a:latin typeface="Courier New" pitchFamily="1" charset="0"/>
              </a:rPr>
              <a:t>!</a:t>
            </a:r>
            <a:r>
              <a:rPr lang="en-US" dirty="0" smtClean="0"/>
              <a:t>)</a:t>
            </a:r>
          </a:p>
          <a:p>
            <a:pPr lvl="1" eaLnBrk="1" hangingPunct="1"/>
            <a:r>
              <a:rPr lang="en-US" dirty="0" smtClean="0"/>
              <a:t>Negates the result of any Boolean expression</a:t>
            </a:r>
          </a:p>
          <a:p>
            <a:pPr lvl="2"/>
            <a:r>
              <a:rPr lang="en-US" dirty="0" smtClean="0"/>
              <a:t>If the Boolean expression is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/>
              <a:t> makes it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false</a:t>
            </a:r>
          </a:p>
          <a:p>
            <a:pPr lvl="2"/>
            <a:r>
              <a:rPr lang="en-US" dirty="0"/>
              <a:t>If the Boolean expression is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/>
              <a:t> </a:t>
            </a:r>
            <a:r>
              <a:rPr lang="en-US" dirty="0"/>
              <a:t>makes it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true</a:t>
            </a:r>
          </a:p>
          <a:p>
            <a:pPr lvl="1"/>
            <a:r>
              <a:rPr lang="en-US" dirty="0" smtClean="0"/>
              <a:t>Logic using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/>
              <a:t> operator can be difficult to read and analyze</a:t>
            </a:r>
          </a:p>
          <a:p>
            <a:pPr lvl="1"/>
            <a:r>
              <a:rPr lang="en-US" dirty="0" smtClean="0"/>
              <a:t>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/>
              <a:t> </a:t>
            </a:r>
            <a:r>
              <a:rPr lang="en-US" dirty="0"/>
              <a:t>o</a:t>
            </a:r>
            <a:r>
              <a:rPr lang="en-US" dirty="0" smtClean="0"/>
              <a:t>perator has a higher precedence than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dirty="0" smtClean="0"/>
              <a:t> 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||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Avoiding Common Errors When Making Decisions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Most frequent errors include:</a:t>
            </a:r>
          </a:p>
          <a:p>
            <a:pPr lvl="1" eaLnBrk="1" hangingPunct="1"/>
            <a:r>
              <a:rPr lang="en-US" dirty="0" smtClean="0"/>
              <a:t>Using the assignment operator 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smtClean="0"/>
              <a:t>) instead of the comparison operator 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==</a:t>
            </a:r>
            <a:r>
              <a:rPr lang="en-US" dirty="0" smtClean="0"/>
              <a:t>)</a:t>
            </a:r>
          </a:p>
          <a:p>
            <a:pPr lvl="1" eaLnBrk="1" hangingPunct="1"/>
            <a:r>
              <a:rPr lang="en-US" dirty="0" smtClean="0"/>
              <a:t>Inserting a semicolon after the Boolean expression in an </a:t>
            </a:r>
            <a:r>
              <a:rPr lang="en-US" dirty="0" smtClean="0">
                <a:latin typeface="Courier New" pitchFamily="1" charset="0"/>
              </a:rPr>
              <a:t>if</a:t>
            </a:r>
            <a:r>
              <a:rPr lang="en-US" dirty="0" smtClean="0"/>
              <a:t> statement</a:t>
            </a:r>
          </a:p>
          <a:p>
            <a:pPr lvl="1" eaLnBrk="1" hangingPunct="1"/>
            <a:r>
              <a:rPr lang="en-US" dirty="0" smtClean="0"/>
              <a:t>Failing to block a set of statements with curly braces</a:t>
            </a:r>
          </a:p>
          <a:p>
            <a:pPr lvl="1" eaLnBrk="1" hangingPunct="1"/>
            <a:r>
              <a:rPr lang="en-US" dirty="0" smtClean="0"/>
              <a:t>Failing to include a complete Boolean expression on each side of an </a:t>
            </a:r>
            <a:r>
              <a:rPr lang="en-US" dirty="0" smtClean="0">
                <a:latin typeface="Courier New" pitchFamily="1" charset="0"/>
              </a:rPr>
              <a:t>&amp;&amp;</a:t>
            </a:r>
            <a:r>
              <a:rPr lang="en-US" dirty="0" smtClean="0"/>
              <a:t> or </a:t>
            </a:r>
            <a:r>
              <a:rPr lang="en-US" dirty="0" smtClean="0">
                <a:latin typeface="Courier New" pitchFamily="1" charset="0"/>
              </a:rPr>
              <a:t>||</a:t>
            </a:r>
            <a:r>
              <a:rPr lang="en-US" dirty="0" smtClean="0"/>
              <a:t> operator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Performing Accurate and Efficient Range Checks</a:t>
            </a:r>
          </a:p>
        </p:txBody>
      </p:sp>
      <p:sp>
        <p:nvSpPr>
          <p:cNvPr id="39942" name="Rectangle 7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 smtClean="0"/>
              <a:t>Range check</a:t>
            </a:r>
          </a:p>
          <a:p>
            <a:pPr lvl="1" eaLnBrk="1" hangingPunct="1"/>
            <a:r>
              <a:rPr lang="en-US" dirty="0" smtClean="0"/>
              <a:t>A series of </a:t>
            </a:r>
            <a:r>
              <a:rPr lang="en-US" dirty="0" smtClean="0">
                <a:latin typeface="Courier New" pitchFamily="1" charset="0"/>
              </a:rPr>
              <a:t>if</a:t>
            </a:r>
            <a:r>
              <a:rPr lang="en-US" dirty="0" smtClean="0"/>
              <a:t> statements that determine whether a value falls within a specified range</a:t>
            </a:r>
            <a:endParaRPr lang="en-US" dirty="0" smtClean="0">
              <a:latin typeface="Courier New" pitchFamily="1" charset="0"/>
            </a:endParaRPr>
          </a:p>
          <a:p>
            <a:pPr eaLnBrk="1" hangingPunct="1"/>
            <a:r>
              <a:rPr lang="en-US" dirty="0" smtClean="0"/>
              <a:t>Problem</a:t>
            </a:r>
          </a:p>
          <a:p>
            <a:pPr lvl="2" eaLnBrk="1" hangingPunct="1">
              <a:buFontTx/>
              <a:buNone/>
            </a:pPr>
            <a:endParaRPr lang="en-US" sz="2000" dirty="0" smtClean="0">
              <a:latin typeface="Courier New" pitchFamily="1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57600"/>
            <a:ext cx="8204020" cy="1640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Performing Accurate and Efficient Range Checks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40966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smtClean="0"/>
              <a:t>Solution</a:t>
            </a:r>
          </a:p>
          <a:p>
            <a:pPr lvl="2" eaLnBrk="1" hangingPunct="1">
              <a:buFontTx/>
              <a:buNone/>
            </a:pPr>
            <a:r>
              <a:rPr lang="en-US" sz="2000" dirty="0" smtClean="0">
                <a:latin typeface="Courier New" pitchFamily="1" charset="0"/>
              </a:rPr>
              <a:t>if(saleAmount &gt;= 1000)</a:t>
            </a:r>
          </a:p>
          <a:p>
            <a:pPr lvl="2" eaLnBrk="1" hangingPunct="1">
              <a:buFontTx/>
              <a:buNone/>
            </a:pPr>
            <a:r>
              <a:rPr lang="en-US" sz="2000" dirty="0" smtClean="0">
                <a:latin typeface="Courier New" pitchFamily="1" charset="0"/>
              </a:rPr>
              <a:t>   commissionRate = 0.08;</a:t>
            </a:r>
          </a:p>
          <a:p>
            <a:pPr lvl="2" eaLnBrk="1" hangingPunct="1">
              <a:buFontTx/>
              <a:buNone/>
            </a:pPr>
            <a:r>
              <a:rPr lang="en-US" sz="2000" dirty="0" smtClean="0">
                <a:latin typeface="Courier New" pitchFamily="1" charset="0"/>
              </a:rPr>
              <a:t>else if(saleAmount &gt;= 500)</a:t>
            </a:r>
          </a:p>
          <a:p>
            <a:pPr lvl="2" eaLnBrk="1" hangingPunct="1">
              <a:buFontTx/>
              <a:buNone/>
            </a:pPr>
            <a:r>
              <a:rPr lang="en-US" sz="2000" dirty="0" smtClean="0">
                <a:latin typeface="Courier New" pitchFamily="1" charset="0"/>
              </a:rPr>
              <a:t>   commissionRate = 0.06;</a:t>
            </a:r>
          </a:p>
          <a:p>
            <a:pPr lvl="2" eaLnBrk="1" hangingPunct="1">
              <a:buFontTx/>
              <a:buNone/>
            </a:pPr>
            <a:r>
              <a:rPr lang="en-US" sz="2000" dirty="0" smtClean="0">
                <a:latin typeface="Courier New" pitchFamily="1" charset="0"/>
              </a:rPr>
              <a:t>else commissionRate = 0.05;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Using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sz="4000" spc="-200" dirty="0"/>
              <a:t> and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||</a:t>
            </a:r>
            <a:r>
              <a:rPr lang="en-US" sz="4000" spc="-200" dirty="0"/>
              <a:t> Appropriately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smtClean="0"/>
              <a:t>Problem</a:t>
            </a:r>
          </a:p>
          <a:p>
            <a:pPr lvl="1" eaLnBrk="1" hangingPunct="1"/>
            <a:r>
              <a:rPr lang="en-US" dirty="0" smtClean="0"/>
              <a:t>Print an error message when an employee’s hourly pay rate is less than $5.65 </a:t>
            </a:r>
            <a:r>
              <a:rPr lang="en-US" b="1" i="1" dirty="0" smtClean="0">
                <a:solidFill>
                  <a:srgbClr val="FF0000"/>
                </a:solidFill>
              </a:rPr>
              <a:t>and</a:t>
            </a:r>
            <a:r>
              <a:rPr lang="en-US" dirty="0" smtClean="0"/>
              <a:t> when an employee’s hourly pay rate is greater than $60</a:t>
            </a:r>
          </a:p>
          <a:p>
            <a:pPr eaLnBrk="1" hangingPunct="1"/>
            <a:r>
              <a:rPr lang="en-US" dirty="0" smtClean="0"/>
              <a:t>Solution</a:t>
            </a:r>
          </a:p>
          <a:p>
            <a:pPr lvl="2" eaLnBrk="1" hangingPunct="1">
              <a:buFontTx/>
              <a:buNone/>
            </a:pPr>
            <a:r>
              <a:rPr lang="en-US" sz="1800" dirty="0" smtClean="0">
                <a:latin typeface="Courier New" pitchFamily="1" charset="0"/>
              </a:rPr>
              <a:t>if(payRate &lt; 5.65 </a:t>
            </a:r>
            <a:r>
              <a:rPr lang="en-US" sz="1800" b="1" dirty="0" smtClean="0">
                <a:solidFill>
                  <a:srgbClr val="FF0000"/>
                </a:solidFill>
                <a:latin typeface="Courier New" pitchFamily="1" charset="0"/>
              </a:rPr>
              <a:t>||</a:t>
            </a:r>
            <a:r>
              <a:rPr lang="en-US" sz="1800" dirty="0" smtClean="0">
                <a:latin typeface="Courier New" pitchFamily="1" charset="0"/>
              </a:rPr>
              <a:t> payRate &gt; 60)</a:t>
            </a:r>
          </a:p>
          <a:p>
            <a:pPr lvl="2">
              <a:buNone/>
            </a:pPr>
            <a:r>
              <a:rPr lang="en-US" sz="1800" dirty="0" err="1" smtClean="0">
                <a:latin typeface="Courier New" pitchFamily="1" charset="0"/>
              </a:rPr>
              <a:t>WriteLine</a:t>
            </a:r>
            <a:r>
              <a:rPr lang="en-US" sz="1800" dirty="0" smtClean="0">
                <a:latin typeface="Courier New" pitchFamily="1" charset="0"/>
              </a:rPr>
              <a:t> ("Error in pay rate");</a:t>
            </a:r>
          </a:p>
          <a:p>
            <a:pPr lvl="1" eaLnBrk="1" hangingPunct="1"/>
            <a:endParaRPr lang="en-US" sz="1800" dirty="0" smtClean="0">
              <a:latin typeface="Courier New" pitchFamily="1" charset="0"/>
            </a:endParaRPr>
          </a:p>
          <a:p>
            <a:pPr lvl="1"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sz="4000" spc="-200" dirty="0"/>
              <a:t> Operator Correctly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smtClean="0"/>
              <a:t>Problem</a:t>
            </a:r>
          </a:p>
          <a:p>
            <a:pPr lvl="1" eaLnBrk="1" hangingPunct="1"/>
            <a:r>
              <a:rPr lang="en-US" dirty="0" smtClean="0"/>
              <a:t>Make sure that if the sales code is not ‘A’ or ‘B’, the customer gets a 10% discount</a:t>
            </a:r>
          </a:p>
          <a:p>
            <a:pPr eaLnBrk="1" hangingPunct="1"/>
            <a:r>
              <a:rPr lang="en-US" dirty="0" smtClean="0"/>
              <a:t>Solutions</a:t>
            </a:r>
          </a:p>
          <a:p>
            <a:pPr lvl="2">
              <a:buNone/>
            </a:pPr>
            <a:r>
              <a:rPr lang="en-US" sz="1800" dirty="0" smtClean="0">
                <a:latin typeface="Courier New" pitchFamily="1" charset="0"/>
              </a:rPr>
              <a:t>if(salesCode != 'A' &amp;&amp; salesCode != 'B')</a:t>
            </a:r>
          </a:p>
          <a:p>
            <a:pPr lvl="2" eaLnBrk="1" hangingPunct="1">
              <a:buFontTx/>
              <a:buNone/>
            </a:pPr>
            <a:r>
              <a:rPr lang="en-US" sz="1800" dirty="0" smtClean="0">
                <a:latin typeface="Courier New" pitchFamily="1" charset="0"/>
              </a:rPr>
              <a:t>   discount = 0.10;</a:t>
            </a:r>
          </a:p>
          <a:p>
            <a:pPr lvl="2" eaLnBrk="1" hangingPunct="1">
              <a:buFontTx/>
              <a:buNone/>
            </a:pPr>
            <a:endParaRPr lang="en-US" sz="1800" dirty="0" smtClean="0">
              <a:latin typeface="Courier New" pitchFamily="1" charset="0"/>
            </a:endParaRPr>
          </a:p>
          <a:p>
            <a:pPr lvl="2">
              <a:buNone/>
            </a:pPr>
            <a:r>
              <a:rPr lang="en-US" sz="1800" dirty="0" smtClean="0">
                <a:latin typeface="Courier New" pitchFamily="1" charset="0"/>
              </a:rPr>
              <a:t>if(!(salesCode == 'A' || salesCode == 'B'))</a:t>
            </a:r>
          </a:p>
          <a:p>
            <a:pPr lvl="2" eaLnBrk="1" hangingPunct="1">
              <a:buFontTx/>
              <a:buNone/>
            </a:pPr>
            <a:r>
              <a:rPr lang="en-US" sz="1800" dirty="0" smtClean="0">
                <a:latin typeface="Courier New" pitchFamily="1" charset="0"/>
              </a:rPr>
              <a:t>   discount = 0.10;</a:t>
            </a:r>
          </a:p>
          <a:p>
            <a:pPr lvl="2" eaLnBrk="1" hangingPunct="1">
              <a:buFontTx/>
              <a:buNone/>
            </a:pPr>
            <a:endParaRPr lang="en-US" sz="1800" dirty="0">
              <a:latin typeface="Courier New" pitchFamily="1" charset="0"/>
            </a:endParaRPr>
          </a:p>
          <a:p>
            <a:pPr lvl="2" eaLnBrk="1" hangingPunct="1">
              <a:buFontTx/>
              <a:buNone/>
            </a:pPr>
            <a:endParaRPr lang="en-US" sz="1800" dirty="0" smtClean="0">
              <a:latin typeface="Courier New" pitchFamily="1" charset="0"/>
            </a:endParaRPr>
          </a:p>
          <a:p>
            <a:pPr lvl="1" eaLnBrk="1" hangingPunct="1">
              <a:buFontTx/>
              <a:buNone/>
            </a:pPr>
            <a:endParaRPr lang="en-US" sz="1800" dirty="0" smtClean="0">
              <a:latin typeface="Courier New" pitchFamily="1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3" y="5155407"/>
            <a:ext cx="7515225" cy="72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Decision-Making Issues in </a:t>
            </a:r>
            <a:r>
              <a:rPr lang="en-US" sz="4000" spc="-200" dirty="0" smtClean="0"/>
              <a:t>GUI </a:t>
            </a:r>
            <a:r>
              <a:rPr lang="en-US" sz="4000" spc="-200" dirty="0"/>
              <a:t>Programs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Making a decision within a method in a GUI application is no different from making one in a console application</a:t>
            </a:r>
          </a:p>
          <a:p>
            <a:r>
              <a:rPr lang="en-US" dirty="0" smtClean="0"/>
              <a:t>You can use </a:t>
            </a:r>
            <a:r>
              <a:rPr lang="en-US" dirty="0" smtClean="0">
                <a:latin typeface="Courier New" pitchFamily="1" charset="0"/>
              </a:rPr>
              <a:t>if</a:t>
            </a:r>
            <a:r>
              <a:rPr lang="en-US" dirty="0" smtClean="0">
                <a:cs typeface="Times New Roman" pitchFamily="1" charset="0"/>
              </a:rPr>
              <a:t>, </a:t>
            </a:r>
            <a:r>
              <a:rPr lang="en-US" dirty="0" smtClean="0">
                <a:latin typeface="Courier New" pitchFamily="1" charset="0"/>
              </a:rPr>
              <a:t>if…else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1" charset="0"/>
              </a:rPr>
              <a:t>switch</a:t>
            </a:r>
            <a:r>
              <a:rPr lang="en-US" dirty="0" smtClean="0"/>
              <a:t> statements in the same ways</a:t>
            </a:r>
          </a:p>
          <a:p>
            <a:r>
              <a:rPr lang="en-US" dirty="0" smtClean="0"/>
              <a:t>GUI programs use controls to make decisions</a:t>
            </a:r>
          </a:p>
          <a:p>
            <a:pPr lvl="1"/>
            <a:r>
              <a:rPr lang="en-US" dirty="0" smtClean="0"/>
              <a:t>The user clicks on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dirty="0" smtClean="0"/>
              <a:t>, which causes an event to fire</a:t>
            </a:r>
          </a:p>
          <a:p>
            <a:pPr lvl="1"/>
            <a:r>
              <a:rPr lang="en-US" dirty="0" smtClean="0"/>
              <a:t>The user chooses one of several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RadioButtons</a:t>
            </a:r>
          </a:p>
          <a:p>
            <a:pPr lvl="1"/>
            <a:r>
              <a:rPr lang="en-US" dirty="0" smtClean="0"/>
              <a:t>The user chooses an item from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ListBox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Decision-Making Issues in </a:t>
            </a:r>
            <a:r>
              <a:rPr lang="en-US" sz="4000" spc="-200" dirty="0" smtClean="0"/>
              <a:t>GUI </a:t>
            </a:r>
            <a:r>
              <a:rPr lang="en-US" sz="4000" spc="-200" dirty="0"/>
              <a:t>Programs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447801"/>
            <a:ext cx="4572000" cy="48994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Decision-Making Issues in </a:t>
            </a:r>
            <a:r>
              <a:rPr lang="en-US" sz="4000" spc="-200" dirty="0" smtClean="0"/>
              <a:t>GUI </a:t>
            </a:r>
            <a:r>
              <a:rPr lang="en-US" sz="4000" spc="-200" dirty="0"/>
              <a:t>Programs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93335-FAF4-49FA-8331-8FC97694CB41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69" y="1555624"/>
            <a:ext cx="8532462" cy="47096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Summary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 flowchart is a pictorial tool that helps you understand a program’s logic</a:t>
            </a:r>
          </a:p>
          <a:p>
            <a:pPr eaLnBrk="1" hangingPunct="1"/>
            <a:r>
              <a:rPr lang="en-US" dirty="0" smtClean="0"/>
              <a:t>You use an </a:t>
            </a:r>
            <a:r>
              <a:rPr lang="en-US" dirty="0" smtClean="0">
                <a:latin typeface="Courier New" pitchFamily="1" charset="0"/>
              </a:rPr>
              <a:t>if</a:t>
            </a:r>
            <a:r>
              <a:rPr lang="en-US" dirty="0" smtClean="0"/>
              <a:t> statement to make a single-alternative decision</a:t>
            </a:r>
          </a:p>
          <a:p>
            <a:pPr eaLnBrk="1" hangingPunct="1"/>
            <a:r>
              <a:rPr lang="en-US" dirty="0" smtClean="0"/>
              <a:t>When you make a dual-alternative decision, you can use an </a:t>
            </a:r>
            <a:r>
              <a:rPr lang="en-US" dirty="0" smtClean="0">
                <a:latin typeface="Courier New" pitchFamily="1" charset="0"/>
              </a:rPr>
              <a:t>if-else</a:t>
            </a:r>
            <a:r>
              <a:rPr lang="en-US" dirty="0" smtClean="0"/>
              <a:t> statement</a:t>
            </a:r>
          </a:p>
          <a:p>
            <a:pPr eaLnBrk="1" hangingPunct="1"/>
            <a:r>
              <a:rPr lang="en-US" dirty="0" smtClean="0"/>
              <a:t>The conditional AND operator determines whether two expressions are both </a:t>
            </a:r>
            <a:r>
              <a:rPr lang="en-US" dirty="0" smtClean="0">
                <a:latin typeface="Courier New" pitchFamily="1" charset="0"/>
              </a:rPr>
              <a:t>true</a:t>
            </a:r>
          </a:p>
        </p:txBody>
      </p:sp>
      <p:sp>
        <p:nvSpPr>
          <p:cNvPr id="48131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/>
              <a:t>Summary </a:t>
            </a:r>
            <a:r>
              <a:rPr lang="en-US" sz="1200"/>
              <a:t>(cont’d.)</a:t>
            </a:r>
            <a:endParaRPr lang="en-US" sz="1200" spc="-200" dirty="0"/>
          </a:p>
        </p:txBody>
      </p:sp>
      <p:sp>
        <p:nvSpPr>
          <p:cNvPr id="491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the conditional OR operator when you want some action to occur when one or both of two conditions are </a:t>
            </a:r>
            <a:r>
              <a:rPr lang="en-US" dirty="0" smtClean="0">
                <a:latin typeface="Courier New" pitchFamily="1" charset="0"/>
              </a:rPr>
              <a:t>true</a:t>
            </a:r>
            <a:endParaRPr lang="en-US" dirty="0" smtClean="0"/>
          </a:p>
          <a:p>
            <a:pPr eaLnBrk="1" hangingPunct="1"/>
            <a:r>
              <a:rPr lang="en-US" dirty="0" smtClean="0"/>
              <a:t>AND operators take precedence</a:t>
            </a:r>
          </a:p>
          <a:p>
            <a:pPr eaLnBrk="1" hangingPunct="1"/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switch</a:t>
            </a:r>
            <a:r>
              <a:rPr lang="en-US" dirty="0" smtClean="0"/>
              <a:t> statement tests a single variable against a series of exact matches</a:t>
            </a:r>
          </a:p>
          <a:p>
            <a:pPr eaLnBrk="1" hangingPunct="1"/>
            <a:r>
              <a:rPr lang="en-US" dirty="0" smtClean="0"/>
              <a:t>The conditional operator is used as an abbreviated version of the </a:t>
            </a:r>
            <a:r>
              <a:rPr lang="en-US" dirty="0" smtClean="0">
                <a:latin typeface="Courier New" pitchFamily="1" charset="0"/>
              </a:rPr>
              <a:t>if-else</a:t>
            </a:r>
            <a:r>
              <a:rPr lang="en-US" dirty="0" smtClean="0"/>
              <a:t> statement</a:t>
            </a:r>
          </a:p>
        </p:txBody>
      </p:sp>
      <p:sp>
        <p:nvSpPr>
          <p:cNvPr id="49155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Summary </a:t>
            </a:r>
            <a:r>
              <a:rPr lang="en-US" sz="1200" dirty="0"/>
              <a:t>(cont’d.)</a:t>
            </a:r>
            <a:endParaRPr lang="en-US" sz="1200" spc="-200" dirty="0"/>
          </a:p>
        </p:txBody>
      </p:sp>
      <p:sp>
        <p:nvSpPr>
          <p:cNvPr id="491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the NOT operator to negate the result of any Boolean expression</a:t>
            </a:r>
          </a:p>
          <a:p>
            <a:r>
              <a:rPr lang="en-US" dirty="0" smtClean="0"/>
              <a:t>Errors are common when making decisions</a:t>
            </a:r>
          </a:p>
          <a:p>
            <a:r>
              <a:rPr lang="en-US" dirty="0" smtClean="0"/>
              <a:t>Decisions within GUI methods are just like decisions in console applications</a:t>
            </a:r>
          </a:p>
        </p:txBody>
      </p:sp>
      <p:sp>
        <p:nvSpPr>
          <p:cNvPr id="49155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4CC9C2-F83D-4807-BAC0-2017CE71E461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3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9780538479516_PPT_ch04</Template>
  <TotalTime>0</TotalTime>
  <Words>1814</Words>
  <Application>Microsoft Office PowerPoint</Application>
  <PresentationFormat>On-screen Show (4:3)</PresentationFormat>
  <Paragraphs>315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Courier New</vt:lpstr>
      <vt:lpstr>Times New Roman</vt:lpstr>
      <vt:lpstr>3_Default Design</vt:lpstr>
      <vt:lpstr>1_Farrell_PLD</vt:lpstr>
      <vt:lpstr>PowerPoint Presentation</vt:lpstr>
      <vt:lpstr>Objectives</vt:lpstr>
      <vt:lpstr>Objectives (cont’d.)</vt:lpstr>
      <vt:lpstr>Understanding Logic-Planning Tools and Decision Making</vt:lpstr>
      <vt:lpstr>Understanding Logic-Planning Tools and Decision Making (cont’d.)</vt:lpstr>
      <vt:lpstr>Understanding Logic-Planning Tools and Decision Making (cont’d.)</vt:lpstr>
      <vt:lpstr>Making Decisions Using the if Statement</vt:lpstr>
      <vt:lpstr>Making Decisions Using the if Statement (cont’d.)</vt:lpstr>
      <vt:lpstr>Making Decisions Using the if Statement (cont’d.)</vt:lpstr>
      <vt:lpstr>Making Decisions Using the if Statement (cont’d.)</vt:lpstr>
      <vt:lpstr>Making Decisions Using the if Statement (cont’d.)</vt:lpstr>
      <vt:lpstr>Making Decisions Using the if Statement (cont’d.)</vt:lpstr>
      <vt:lpstr>Making Decisions Using the if Statement (cont’d.)</vt:lpstr>
      <vt:lpstr>Making Decisions Using the if Statement (cont’d.)</vt:lpstr>
      <vt:lpstr>A Note on Equivalency Comparisons</vt:lpstr>
      <vt:lpstr>Making Decisions Using the if-else Statement</vt:lpstr>
      <vt:lpstr>Making Decisions Using the if-else Statement (cont’d.)</vt:lpstr>
      <vt:lpstr>Making Decisions Using the if-else Statement (cont’d.)</vt:lpstr>
      <vt:lpstr>Using Compound Expressions in if Statements</vt:lpstr>
      <vt:lpstr>Using the Conditional AND Operator</vt:lpstr>
      <vt:lpstr>Using the Conditional AND Operator (cont’d.)</vt:lpstr>
      <vt:lpstr>Using the Conditional OR Operator</vt:lpstr>
      <vt:lpstr>Using the Conditional OR Operator (cont’d.)</vt:lpstr>
      <vt:lpstr>Using the Logical AND and OR Operators</vt:lpstr>
      <vt:lpstr>Combining AND and OR Operators (cont’d.)</vt:lpstr>
      <vt:lpstr>Combining AND and OR Operators (cont’d.)</vt:lpstr>
      <vt:lpstr>Making Decisions Using the switch Statement</vt:lpstr>
      <vt:lpstr>Making Decisions Using the switch Statement (cont’d.)</vt:lpstr>
      <vt:lpstr>Making Decisions Using the switch Statement (cont’d.)</vt:lpstr>
      <vt:lpstr>Making Decisions Using the switch Statement (cont’d.)</vt:lpstr>
      <vt:lpstr>Using an Enumeration with a switch Statement</vt:lpstr>
      <vt:lpstr>Using the Conditional Operator</vt:lpstr>
      <vt:lpstr>Using the NOT Operator</vt:lpstr>
      <vt:lpstr>Avoiding Common Errors When Making Decisions</vt:lpstr>
      <vt:lpstr>Performing Accurate and Efficient Range Checks</vt:lpstr>
      <vt:lpstr>Performing Accurate and Efficient Range Checks (cont’d.)</vt:lpstr>
      <vt:lpstr>Using &amp;&amp; and || Appropriately</vt:lpstr>
      <vt:lpstr>Using the ! Operator Correctly</vt:lpstr>
      <vt:lpstr>Decision-Making Issues in GUI Programs</vt:lpstr>
      <vt:lpstr>Decision-Making Issues in GUI Programs (cont’d.)</vt:lpstr>
      <vt:lpstr>Decision-Making Issues in GUI Programs (cont’d.)</vt:lpstr>
      <vt:lpstr>Summary</vt:lpstr>
      <vt:lpstr>Summary (cont’d.)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2012-09-20T21:07:58Z</dcterms:created>
  <dcterms:modified xsi:type="dcterms:W3CDTF">2015-06-07T21:45:02Z</dcterms:modified>
</cp:coreProperties>
</file>