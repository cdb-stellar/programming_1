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4" r:id="rId1"/>
    <p:sldMasterId id="2147483834" r:id="rId2"/>
  </p:sldMasterIdLst>
  <p:notesMasterIdLst>
    <p:notesMasterId r:id="rId35"/>
  </p:notesMasterIdLst>
  <p:handoutMasterIdLst>
    <p:handoutMasterId r:id="rId36"/>
  </p:handoutMasterIdLst>
  <p:sldIdLst>
    <p:sldId id="652" r:id="rId3"/>
    <p:sldId id="257" r:id="rId4"/>
    <p:sldId id="476" r:id="rId5"/>
    <p:sldId id="639" r:id="rId6"/>
    <p:sldId id="624" r:id="rId7"/>
    <p:sldId id="671" r:id="rId8"/>
    <p:sldId id="640" r:id="rId9"/>
    <p:sldId id="654" r:id="rId10"/>
    <p:sldId id="658" r:id="rId11"/>
    <p:sldId id="641" r:id="rId12"/>
    <p:sldId id="625" r:id="rId13"/>
    <p:sldId id="605" r:id="rId14"/>
    <p:sldId id="642" r:id="rId15"/>
    <p:sldId id="629" r:id="rId16"/>
    <p:sldId id="659" r:id="rId17"/>
    <p:sldId id="672" r:id="rId18"/>
    <p:sldId id="606" r:id="rId19"/>
    <p:sldId id="646" r:id="rId20"/>
    <p:sldId id="673" r:id="rId21"/>
    <p:sldId id="609" r:id="rId22"/>
    <p:sldId id="649" r:id="rId23"/>
    <p:sldId id="674" r:id="rId24"/>
    <p:sldId id="587" r:id="rId25"/>
    <p:sldId id="675" r:id="rId26"/>
    <p:sldId id="677" r:id="rId27"/>
    <p:sldId id="676" r:id="rId28"/>
    <p:sldId id="678" r:id="rId29"/>
    <p:sldId id="655" r:id="rId30"/>
    <p:sldId id="656" r:id="rId31"/>
    <p:sldId id="679" r:id="rId32"/>
    <p:sldId id="580" r:id="rId33"/>
    <p:sldId id="472" r:id="rId34"/>
  </p:sldIdLst>
  <p:sldSz cx="9144000" cy="6858000" type="screen4x3"/>
  <p:notesSz cx="6858000" cy="9239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0440" autoAdjust="0"/>
    <p:restoredTop sz="94500" autoAdjust="0"/>
  </p:normalViewPr>
  <p:slideViewPr>
    <p:cSldViewPr>
      <p:cViewPr varScale="1">
        <p:scale>
          <a:sx n="74" d="100"/>
          <a:sy n="74" d="100"/>
        </p:scale>
        <p:origin x="16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91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81C70B16-4510-4362-BC49-325172F649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415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0775" y="693738"/>
            <a:ext cx="4616450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88644"/>
            <a:ext cx="5486400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554E795-73AE-48CD-A97F-5B4183B59C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704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D091ED1-4966-47F1-97FD-4CADFF0C9951}" type="slidenum">
              <a:rPr lang="en-US" sz="1200" smtClean="0">
                <a:solidFill>
                  <a:schemeClr val="tx1"/>
                </a:solidFill>
              </a:rPr>
              <a:pPr eaLnBrk="1" hangingPunct="1"/>
              <a:t>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33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1BBF51E-D8FC-4AC0-AD6D-645BF658012B}" type="slidenum">
              <a:rPr lang="en-US" sz="1200" smtClean="0">
                <a:solidFill>
                  <a:schemeClr val="tx1"/>
                </a:solidFill>
              </a:rPr>
              <a:pPr eaLnBrk="1" hangingPunct="1"/>
              <a:t>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530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DC70E2C-0A33-4AC8-8F4B-76E4EC6F71EC}" type="slidenum">
              <a:rPr lang="en-US" sz="120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479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8E860DC-5966-45C3-8373-CE211F221E9F}" type="slidenum">
              <a:rPr lang="en-US" sz="120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835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E413605-7FF2-4276-B7F1-8C2295D7A2E6}" type="slidenum">
              <a:rPr lang="en-US" sz="120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0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E413605-7FF2-4276-B7F1-8C2295D7A2E6}" type="slidenum">
              <a:rPr lang="en-US" sz="1200" smtClean="0">
                <a:solidFill>
                  <a:schemeClr val="tx1"/>
                </a:solidFill>
              </a:rPr>
              <a:pPr eaLnBrk="1" hangingPunct="1"/>
              <a:t>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722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F98FE08-F17C-4E9B-B804-7199EFD302B4}" type="slidenum">
              <a:rPr lang="en-US" sz="120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333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C8582B2-C081-4A15-99EA-B8F751D99130}" type="slidenum">
              <a:rPr lang="en-US" sz="1200" smtClean="0">
                <a:solidFill>
                  <a:schemeClr val="tx1"/>
                </a:solidFill>
              </a:rPr>
              <a:pPr eaLnBrk="1" hangingPunct="1"/>
              <a:t>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074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54E795-73AE-48CD-A97F-5B4183B59CC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07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7D8185D-A9F1-4FFC-AA91-415C0968149A}" type="slidenum">
              <a:rPr lang="en-US" sz="1200" smtClean="0">
                <a:solidFill>
                  <a:schemeClr val="tx1"/>
                </a:solidFill>
              </a:rPr>
              <a:pPr eaLnBrk="1" hangingPunct="1"/>
              <a:t>10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52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217A29C-C0EB-45D8-BA79-8BB348B0DCE3}" type="slidenum">
              <a:rPr lang="en-US" sz="120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673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0A5904DD-C2DA-4BCE-A3E6-489A5859A958}" type="slidenum">
              <a:rPr lang="en-US" sz="120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340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22FAF43-1E07-4C4E-82D0-4C86A61FBC39}" type="slidenum">
              <a:rPr lang="en-US" sz="1200" smtClean="0">
                <a:solidFill>
                  <a:schemeClr val="tx1"/>
                </a:solidFill>
              </a:rPr>
              <a:pPr eaLnBrk="1" hangingPunct="1"/>
              <a:t>13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94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9A3C358-0107-4D6A-B38B-D0DE531C6D94}" type="slidenum">
              <a:rPr lang="en-US" sz="1200" smtClean="0">
                <a:solidFill>
                  <a:schemeClr val="tx1"/>
                </a:solidFill>
              </a:rPr>
              <a:pPr eaLnBrk="1" hangingPunct="1"/>
              <a:t>14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577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54E795-73AE-48CD-A97F-5B4183B59CC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598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54E795-73AE-48CD-A97F-5B4183B59CC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416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EBD035B-ED48-40FC-A5BD-46FD0F09B1EF}" type="slidenum">
              <a:rPr lang="en-US" sz="120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53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F15C998-1C9B-4DE0-BE3B-09B0D878709D}" type="slidenum">
              <a:rPr lang="en-US" sz="120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908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F15C998-1C9B-4DE0-BE3B-09B0D878709D}" type="slidenum">
              <a:rPr lang="en-US" sz="1200" smtClean="0">
                <a:solidFill>
                  <a:schemeClr val="tx1"/>
                </a:solidFill>
              </a:rPr>
              <a:pPr eaLnBrk="1" hangingPunct="1"/>
              <a:t>19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342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08E3ECD0-B081-4670-A86D-7BAF9E967843}" type="slidenum">
              <a:rPr lang="en-US" sz="120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713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E05D4B5-29FF-40D6-844C-E86ADC374B28}" type="slidenum">
              <a:rPr lang="en-US" sz="1200" smtClean="0">
                <a:solidFill>
                  <a:schemeClr val="tx1"/>
                </a:solidFill>
              </a:rPr>
              <a:pPr eaLnBrk="1" hangingPunct="1"/>
              <a:t>21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491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4FB88CE-C622-4CA6-87EC-5A380A6E89E3}" type="slidenum">
              <a:rPr lang="en-US" sz="1200" smtClean="0">
                <a:solidFill>
                  <a:schemeClr val="tx1"/>
                </a:solidFill>
              </a:rPr>
              <a:pPr eaLnBrk="1" hangingPunct="1"/>
              <a:t>22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8517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4FB88CE-C622-4CA6-87EC-5A380A6E89E3}" type="slidenum">
              <a:rPr lang="en-US" sz="1200" smtClean="0">
                <a:solidFill>
                  <a:schemeClr val="tx1"/>
                </a:solidFill>
              </a:rPr>
              <a:pPr eaLnBrk="1" hangingPunct="1"/>
              <a:t>23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539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4FB88CE-C622-4CA6-87EC-5A380A6E89E3}" type="slidenum">
              <a:rPr lang="en-US" sz="1200" smtClean="0">
                <a:solidFill>
                  <a:schemeClr val="tx1"/>
                </a:solidFill>
              </a:rPr>
              <a:pPr eaLnBrk="1" hangingPunct="1"/>
              <a:t>24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0186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4FB88CE-C622-4CA6-87EC-5A380A6E89E3}" type="slidenum">
              <a:rPr lang="en-US" sz="1200" smtClean="0">
                <a:solidFill>
                  <a:schemeClr val="tx1"/>
                </a:solidFill>
              </a:rPr>
              <a:pPr eaLnBrk="1" hangingPunct="1"/>
              <a:t>25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2798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4FB88CE-C622-4CA6-87EC-5A380A6E89E3}" type="slidenum">
              <a:rPr lang="en-US" sz="1200" smtClean="0">
                <a:solidFill>
                  <a:schemeClr val="tx1"/>
                </a:solidFill>
              </a:rPr>
              <a:pPr eaLnBrk="1" hangingPunct="1"/>
              <a:t>26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461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4FB88CE-C622-4CA6-87EC-5A380A6E89E3}" type="slidenum">
              <a:rPr lang="en-US" sz="120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9495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D18FBC5-8E81-4B64-8353-5B4ED441CC6F}" type="slidenum">
              <a:rPr lang="en-US" sz="1200" smtClean="0">
                <a:solidFill>
                  <a:schemeClr val="tx1"/>
                </a:solidFill>
              </a:rPr>
              <a:pPr eaLnBrk="1" hangingPunct="1"/>
              <a:t>28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7835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7B5C0A1-CF53-4BAD-9D70-82E31C121F9A}" type="slidenum">
              <a:rPr lang="en-US" sz="120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99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7B5C0A1-CF53-4BAD-9D70-82E31C121F9A}" type="slidenum">
              <a:rPr lang="en-US" sz="120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5007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B0F6853-8FFE-4E08-B3E4-BA30286BAF37}" type="slidenum">
              <a:rPr lang="en-US" sz="1200" smtClean="0">
                <a:solidFill>
                  <a:schemeClr val="tx1"/>
                </a:solidFill>
              </a:rPr>
              <a:pPr eaLnBrk="1" hangingPunct="1"/>
              <a:t>31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4385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F9B1543-A8E6-4CF5-AC6F-B54BCE5F9BEB}" type="slidenum">
              <a:rPr lang="en-US" sz="120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45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7DB42-3F39-43EF-BCB7-F98062006A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88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7D7B5-FDF4-4568-9061-BF566D4F701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95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9CE34-47FD-4F53-A47B-2DFF593F5E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19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519661-2DA0-43C0-BD85-9A5BF901E3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31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96226-5A21-4FEE-85CE-01EB0F8CFD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63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549EA-C693-451E-A84C-37817A5925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57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47BE6-1D29-4137-88C1-D6194D367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36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25BD9-615E-4694-AC66-6480481233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22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BFBE0-A33C-43D7-B36F-EABE324FEA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97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83947-B463-4D9F-89E8-C632449E69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2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FDFCF-81F8-41AF-B406-2A17FDB777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654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184"/>
            <a:ext cx="5648325" cy="6614816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80028-3D8C-42DF-903D-225152DB0E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B91922-D51A-4D54-84E7-21DEC17CEE1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55ED4-3BB5-4198-8560-297B8FDCEB8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F64F9-96CC-4979-871D-3EA5C4A2A04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3D641-F675-45C4-AD82-FD19538BDD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58FB9-A53C-48C1-9628-70537BC60FC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AC5D9-AC78-42BB-A776-1AD40DF0AD6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0FE71-8E4B-4543-866F-B62D332DE1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34656-62CA-4DE7-8D51-A76B9010AA2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FC00D-46DC-4012-AFF5-D57F4AFB719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79269-C2CF-476D-BB52-710F9B9F1A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6031760-50F3-4D8B-B2A7-176A6C8CF3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479269-C2CF-476D-BB52-710F9B9F1A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3886200" y="6356350"/>
            <a:ext cx="388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5: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Looping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Objectives</a:t>
            </a:r>
            <a:endParaRPr lang="en-US" spc="-200" dirty="0" smtClean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Learn how to create loops using the </a:t>
            </a:r>
            <a:r>
              <a:rPr lang="en-US" dirty="0" smtClean="0">
                <a:latin typeface="Courier New" pitchFamily="1" charset="0"/>
              </a:rPr>
              <a:t>while</a:t>
            </a:r>
            <a:r>
              <a:rPr lang="en-US" dirty="0" smtClean="0"/>
              <a:t> statement</a:t>
            </a:r>
          </a:p>
          <a:p>
            <a:pPr eaLnBrk="1" hangingPunct="1"/>
            <a:r>
              <a:rPr lang="en-US" dirty="0" smtClean="0"/>
              <a:t>Learn how to create loops using the </a:t>
            </a:r>
            <a:r>
              <a:rPr lang="en-US" dirty="0" smtClean="0">
                <a:latin typeface="Courier New" pitchFamily="1" charset="0"/>
              </a:rPr>
              <a:t>for</a:t>
            </a:r>
            <a:r>
              <a:rPr lang="en-US" dirty="0" smtClean="0"/>
              <a:t> statement</a:t>
            </a:r>
          </a:p>
          <a:p>
            <a:pPr eaLnBrk="1" hangingPunct="1"/>
            <a:r>
              <a:rPr lang="en-US" dirty="0" smtClean="0"/>
              <a:t>Learn how to create loops using the </a:t>
            </a:r>
            <a:r>
              <a:rPr lang="en-US" dirty="0" smtClean="0">
                <a:latin typeface="Courier New" pitchFamily="1" charset="0"/>
              </a:rPr>
              <a:t>do</a:t>
            </a:r>
            <a:r>
              <a:rPr lang="en-US" dirty="0" smtClean="0"/>
              <a:t> statement</a:t>
            </a:r>
          </a:p>
          <a:p>
            <a:pPr eaLnBrk="1" hangingPunct="1"/>
            <a:r>
              <a:rPr lang="en-US" dirty="0" smtClean="0"/>
              <a:t>Use nested loops</a:t>
            </a:r>
          </a:p>
          <a:p>
            <a:pPr eaLnBrk="1" hangingPunct="1"/>
            <a:r>
              <a:rPr lang="en-US" dirty="0" smtClean="0"/>
              <a:t>Accumulate totals</a:t>
            </a:r>
          </a:p>
          <a:p>
            <a:pPr eaLnBrk="1" hangingPunct="1"/>
            <a:r>
              <a:rPr lang="en-US" dirty="0" smtClean="0"/>
              <a:t>Understand how to improve loop performance</a:t>
            </a:r>
          </a:p>
          <a:p>
            <a:pPr eaLnBrk="1" hangingPunct="1"/>
            <a:r>
              <a:rPr lang="en-US" dirty="0" smtClean="0"/>
              <a:t>Learn about looping issues in GUI programs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0C5326-AE07-4C50-9619-572BEE643D94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</a:t>
            </a:r>
            <a:r>
              <a:rPr lang="en-US" sz="4000" spc="-200" dirty="0" smtClean="0"/>
              <a:t>Statement</a:t>
            </a:r>
            <a:endParaRPr lang="en-US" sz="4000" spc="-200" dirty="0"/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Loop</a:t>
            </a:r>
          </a:p>
          <a:p>
            <a:pPr lvl="1" eaLnBrk="1" hangingPunct="1"/>
            <a:r>
              <a:rPr lang="en-US" dirty="0" smtClean="0"/>
              <a:t>A structure that allows repeated execution of a block of statements</a:t>
            </a:r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Loop body</a:t>
            </a:r>
            <a:endParaRPr lang="en-US" dirty="0" smtClean="0"/>
          </a:p>
          <a:p>
            <a:pPr lvl="1" eaLnBrk="1" hangingPunct="1"/>
            <a:r>
              <a:rPr lang="en-US" dirty="0" smtClean="0"/>
              <a:t>A block of statements within a looping structure</a:t>
            </a:r>
          </a:p>
          <a:p>
            <a:pPr lvl="1" eaLnBrk="1" hangingPunct="1"/>
            <a:r>
              <a:rPr lang="en-US" dirty="0" smtClean="0"/>
              <a:t>Executes the Boolean expression to determine whether to continue to execute the loop or exit</a:t>
            </a:r>
          </a:p>
          <a:p>
            <a:pPr lvl="1" eaLnBrk="1" hangingPunct="1"/>
            <a:r>
              <a:rPr lang="en-US" dirty="0" smtClean="0"/>
              <a:t>Each execution is an </a:t>
            </a:r>
            <a:r>
              <a:rPr lang="en-US" b="1" dirty="0" smtClean="0"/>
              <a:t>Iteration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AB14CF-3F0F-4897-9EFA-EDEA97E40D94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</a:t>
            </a:r>
            <a:r>
              <a:rPr lang="en-US" sz="4000" spc="-200" dirty="0" smtClean="0"/>
              <a:t>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7E9D4-5B5E-4C1D-9541-E05A11E1E93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69" y="1524000"/>
            <a:ext cx="8085859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dirty="0" smtClean="0"/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>
                <a:latin typeface="Courier New" pitchFamily="1" charset="0"/>
              </a:rPr>
              <a:t>while</a:t>
            </a:r>
            <a:r>
              <a:rPr lang="en-US" b="1" dirty="0" smtClean="0"/>
              <a:t> loop</a:t>
            </a:r>
          </a:p>
          <a:p>
            <a:pPr lvl="1" eaLnBrk="1" hangingPunct="1"/>
            <a:r>
              <a:rPr lang="en-US" dirty="0" smtClean="0"/>
              <a:t>Used to execute a body of statements continuously as long as some condition continues to be </a:t>
            </a:r>
            <a:r>
              <a:rPr lang="en-US" dirty="0" smtClean="0">
                <a:latin typeface="Courier New" pitchFamily="1" charset="0"/>
              </a:rPr>
              <a:t>true</a:t>
            </a:r>
          </a:p>
          <a:p>
            <a:pPr lvl="1" eaLnBrk="1" hangingPunct="1"/>
            <a:r>
              <a:rPr lang="en-US" sz="2800" dirty="0"/>
              <a:t>Consists of:</a:t>
            </a:r>
          </a:p>
          <a:p>
            <a:pPr lvl="2"/>
            <a:r>
              <a:rPr lang="en-US" sz="2800" dirty="0"/>
              <a:t>The keyword while</a:t>
            </a:r>
          </a:p>
          <a:p>
            <a:pPr lvl="2"/>
            <a:r>
              <a:rPr lang="en-US" sz="2800" dirty="0"/>
              <a:t>A Boolean expression within parenthesis</a:t>
            </a:r>
          </a:p>
          <a:p>
            <a:pPr lvl="2"/>
            <a:r>
              <a:rPr lang="en-US" sz="2800" dirty="0"/>
              <a:t>The loop body</a:t>
            </a:r>
          </a:p>
          <a:p>
            <a:pPr eaLnBrk="1" hangingPunct="1"/>
            <a:r>
              <a:rPr lang="en-US" b="1" dirty="0" smtClean="0"/>
              <a:t>Infinite loop</a:t>
            </a:r>
          </a:p>
          <a:p>
            <a:pPr lvl="1" eaLnBrk="1" hangingPunct="1"/>
            <a:r>
              <a:rPr lang="en-US" dirty="0" smtClean="0"/>
              <a:t>A loop that never ends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ADCC6-CAA5-47DE-8C07-EDD45F72E155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dirty="0" smtClean="0"/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b="1" dirty="0"/>
              <a:t>Making a while loop end correctly</a:t>
            </a:r>
          </a:p>
          <a:p>
            <a:pPr lvl="1">
              <a:spcBef>
                <a:spcPct val="0"/>
              </a:spcBef>
            </a:pPr>
            <a:r>
              <a:rPr lang="en-US" dirty="0"/>
              <a:t>Initialize the loop control variable</a:t>
            </a:r>
          </a:p>
          <a:p>
            <a:pPr lvl="1">
              <a:spcBef>
                <a:spcPct val="0"/>
              </a:spcBef>
            </a:pPr>
            <a:r>
              <a:rPr lang="en-US" dirty="0"/>
              <a:t>Test the control variable in the while expression</a:t>
            </a:r>
          </a:p>
          <a:p>
            <a:pPr lvl="1">
              <a:spcBef>
                <a:spcPct val="0"/>
              </a:spcBef>
            </a:pPr>
            <a:r>
              <a:rPr lang="en-US" dirty="0"/>
              <a:t>Alter the value of the control variable in the code block</a:t>
            </a:r>
          </a:p>
          <a:p>
            <a:pPr eaLnBrk="1" hangingPunct="1"/>
            <a:r>
              <a:rPr lang="en-US" b="1" dirty="0" smtClean="0"/>
              <a:t>Loop Control Variable</a:t>
            </a:r>
          </a:p>
          <a:p>
            <a:pPr lvl="1" eaLnBrk="1" hangingPunct="1"/>
            <a:r>
              <a:rPr lang="en-US" dirty="0" smtClean="0"/>
              <a:t>A variable initialized before entering the loop</a:t>
            </a:r>
          </a:p>
          <a:p>
            <a:pPr lvl="1" eaLnBrk="1" hangingPunct="1"/>
            <a:r>
              <a:rPr lang="en-US" dirty="0" smtClean="0"/>
              <a:t>Tested in the while expression</a:t>
            </a:r>
          </a:p>
          <a:p>
            <a:pPr lvl="1" eaLnBrk="1" hangingPunct="1"/>
            <a:r>
              <a:rPr lang="en-US" dirty="0" smtClean="0"/>
              <a:t>Body of the loop alters the value of the variable to eventually exit the loop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EADCC6-CAA5-47DE-8C07-EDD45F72E155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415547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600703-424B-47D4-94AC-FD3E502C83DB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81998"/>
            <a:ext cx="7967662" cy="51802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050" y="1168242"/>
            <a:ext cx="3176274" cy="16511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FA7297-E090-4ADE-A2AC-21EA004F5B00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702971"/>
            <a:ext cx="7048500" cy="465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43D641-F675-45C4-AD82-FD19538BDDF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300" y="1479550"/>
            <a:ext cx="5637500" cy="4933768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676400"/>
            <a:ext cx="8305800" cy="45720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b="1" dirty="0" smtClean="0"/>
              <a:t>Empty body</a:t>
            </a:r>
          </a:p>
          <a:p>
            <a:pPr lvl="1">
              <a:spcBef>
                <a:spcPct val="0"/>
              </a:spcBef>
            </a:pPr>
            <a:r>
              <a:rPr lang="en-US" dirty="0" smtClean="0"/>
              <a:t>A loop with</a:t>
            </a:r>
            <a:br>
              <a:rPr lang="en-US" dirty="0" smtClean="0"/>
            </a:br>
            <a:r>
              <a:rPr lang="en-US" dirty="0" smtClean="0"/>
              <a:t>no statements</a:t>
            </a:r>
          </a:p>
          <a:p>
            <a:r>
              <a:rPr lang="en-US" b="1" dirty="0" smtClean="0"/>
              <a:t>Incrementing</a:t>
            </a:r>
          </a:p>
          <a:p>
            <a:pPr lvl="1"/>
            <a:r>
              <a:rPr lang="en-US" dirty="0" smtClean="0"/>
              <a:t>Adding to the </a:t>
            </a:r>
            <a:br>
              <a:rPr lang="en-US" dirty="0" smtClean="0"/>
            </a:br>
            <a:r>
              <a:rPr lang="en-US" dirty="0" smtClean="0"/>
              <a:t>loop control</a:t>
            </a:r>
            <a:br>
              <a:rPr lang="en-US" dirty="0" smtClean="0"/>
            </a:br>
            <a:r>
              <a:rPr lang="en-US" dirty="0" smtClean="0"/>
              <a:t>variable</a:t>
            </a:r>
          </a:p>
          <a:p>
            <a:r>
              <a:rPr lang="en-US" b="1" dirty="0" smtClean="0"/>
              <a:t>Decrementing</a:t>
            </a:r>
            <a:endParaRPr lang="en-US" b="1" dirty="0"/>
          </a:p>
          <a:p>
            <a:pPr lvl="1"/>
            <a:r>
              <a:rPr lang="en-US" dirty="0" smtClean="0"/>
              <a:t>Subtracting from </a:t>
            </a:r>
            <a:br>
              <a:rPr lang="en-US" dirty="0" smtClean="0"/>
            </a:br>
            <a:r>
              <a:rPr lang="en-US" dirty="0" smtClean="0"/>
              <a:t>the loop </a:t>
            </a:r>
            <a:r>
              <a:rPr lang="en-US" dirty="0"/>
              <a:t>control</a:t>
            </a:r>
            <a:br>
              <a:rPr lang="en-US" dirty="0"/>
            </a:br>
            <a:r>
              <a:rPr lang="en-US" dirty="0"/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87675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dirty="0" smtClean="0"/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Definite loop</a:t>
            </a:r>
            <a:r>
              <a:rPr lang="en-US" dirty="0" smtClean="0"/>
              <a:t> or </a:t>
            </a:r>
            <a:r>
              <a:rPr lang="en-US" b="1" dirty="0" smtClean="0"/>
              <a:t>counted loop</a:t>
            </a:r>
          </a:p>
          <a:p>
            <a:pPr lvl="1" eaLnBrk="1" hangingPunct="1"/>
            <a:r>
              <a:rPr lang="en-US" dirty="0" smtClean="0"/>
              <a:t>A loop for which the number of iterations is predetermined</a:t>
            </a:r>
          </a:p>
          <a:p>
            <a:pPr eaLnBrk="1" hangingPunct="1"/>
            <a:r>
              <a:rPr lang="en-US" b="1" dirty="0" smtClean="0"/>
              <a:t>Indefinite loop</a:t>
            </a:r>
          </a:p>
          <a:p>
            <a:pPr lvl="1" eaLnBrk="1" hangingPunct="1"/>
            <a:r>
              <a:rPr lang="en-US" dirty="0" smtClean="0"/>
              <a:t>The value of a loop control variable is not altered by arithmetic, but instead is altered by user input</a:t>
            </a:r>
          </a:p>
          <a:p>
            <a:r>
              <a:rPr lang="en-US" b="1" dirty="0" smtClean="0"/>
              <a:t>Sentinel value</a:t>
            </a:r>
            <a:endParaRPr lang="en-US" b="1" dirty="0"/>
          </a:p>
          <a:p>
            <a:pPr lvl="1"/>
            <a:r>
              <a:rPr lang="en-US" dirty="0"/>
              <a:t>The value </a:t>
            </a:r>
            <a:r>
              <a:rPr lang="en-US" dirty="0" smtClean="0"/>
              <a:t>such as ‘Y’ or ‘N’ that a user must supply to </a:t>
            </a:r>
            <a:r>
              <a:rPr lang="en-US" smtClean="0"/>
              <a:t>stop the loop</a:t>
            </a:r>
            <a:endParaRPr lang="en-US" dirty="0"/>
          </a:p>
          <a:p>
            <a:pPr lvl="1" eaLnBrk="1" hangingPunct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73F23C-2776-462A-9F20-5B74FADD9B8F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/>
              <a:t> Statement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dirty="0" smtClean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6D3360-4F0F-41B5-B7A5-22F30951CA62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2030"/>
            <a:ext cx="6417468" cy="4714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521380"/>
            <a:ext cx="4267200" cy="1878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 smtClean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4000" spc="-200" dirty="0"/>
              <a:t> </a:t>
            </a:r>
            <a:r>
              <a:rPr lang="en-US" sz="4000" spc="-200" dirty="0" smtClean="0"/>
              <a:t>Statement</a:t>
            </a:r>
            <a:endParaRPr lang="en-US" sz="1200" spc="-200" dirty="0"/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05800" cy="4572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>
                <a:latin typeface="Courier New" pitchFamily="1" charset="0"/>
              </a:rPr>
              <a:t>for</a:t>
            </a:r>
            <a:r>
              <a:rPr lang="en-US" b="1" dirty="0" smtClean="0"/>
              <a:t> loop</a:t>
            </a:r>
          </a:p>
          <a:p>
            <a:pPr lvl="1" eaLnBrk="1" hangingPunct="1"/>
            <a:r>
              <a:rPr lang="en-US" dirty="0" smtClean="0"/>
              <a:t>Used to create definite loops</a:t>
            </a:r>
          </a:p>
          <a:p>
            <a:pPr lvl="1" eaLnBrk="1" hangingPunct="1"/>
            <a:r>
              <a:rPr lang="en-US" dirty="0" smtClean="0"/>
              <a:t>Indicate the starting value for the loop control variable </a:t>
            </a:r>
          </a:p>
          <a:p>
            <a:pPr lvl="1" eaLnBrk="1" hangingPunct="1"/>
            <a:r>
              <a:rPr lang="en-US" dirty="0" smtClean="0"/>
              <a:t>Test the condition that controls loop entry</a:t>
            </a:r>
          </a:p>
          <a:p>
            <a:pPr lvl="1" eaLnBrk="1" hangingPunct="1"/>
            <a:r>
              <a:rPr lang="en-US" dirty="0" smtClean="0"/>
              <a:t>Allow the expression to alter the loop control variable</a:t>
            </a:r>
          </a:p>
          <a:p>
            <a:pPr lvl="2"/>
            <a:r>
              <a:rPr lang="en-US" dirty="0" smtClean="0"/>
              <a:t>Known as the </a:t>
            </a:r>
            <a:r>
              <a:rPr lang="en-US" b="1" dirty="0" smtClean="0"/>
              <a:t>step value</a:t>
            </a:r>
          </a:p>
          <a:p>
            <a:pPr eaLnBrk="1" hangingPunct="1"/>
            <a:r>
              <a:rPr lang="en-US" dirty="0" smtClean="0"/>
              <a:t>Sections of the loop</a:t>
            </a:r>
          </a:p>
          <a:p>
            <a:pPr lvl="1" eaLnBrk="1" hangingPunct="1"/>
            <a:r>
              <a:rPr lang="en-US" dirty="0" smtClean="0"/>
              <a:t>Control variable initialization, testing and updating</a:t>
            </a:r>
          </a:p>
          <a:p>
            <a:pPr lvl="1"/>
            <a:r>
              <a:rPr lang="en-US" dirty="0" smtClean="0"/>
              <a:t>Variables created inside the loop cease to exist when the loop ends </a:t>
            </a:r>
          </a:p>
          <a:p>
            <a:pPr lvl="2"/>
            <a:r>
              <a:rPr lang="en-US" dirty="0" smtClean="0"/>
              <a:t>Knows as </a:t>
            </a:r>
            <a:r>
              <a:rPr lang="en-US" b="1" dirty="0" smtClean="0"/>
              <a:t>out of scope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54878A-6486-45ED-B8AF-ED0AAC1F88FC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4000" spc="-200" dirty="0"/>
              <a:t> Statement 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4000" spc="-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F99910-7D66-4D67-9FD3-07A5DDD4AFB5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9" y="1600200"/>
            <a:ext cx="7498623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01000" cy="1143000"/>
          </a:xfrm>
        </p:spPr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do</a:t>
            </a:r>
            <a:r>
              <a:rPr lang="en-US" sz="4000" spc="-200" dirty="0" smtClean="0">
                <a:latin typeface="Calibri" panose="020F0502020204030204" pitchFamily="34" charset="0"/>
                <a:cs typeface="Courier New" pitchFamily="49" charset="0"/>
              </a:rPr>
              <a:t> </a:t>
            </a:r>
            <a:r>
              <a:rPr lang="en-US" sz="4000" spc="-200" dirty="0" smtClean="0"/>
              <a:t>Statement</a:t>
            </a:r>
            <a:endParaRPr lang="en-US" sz="4000" spc="-200" dirty="0" smtClean="0"/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>
                <a:latin typeface="Courier New" pitchFamily="1" charset="0"/>
              </a:rPr>
              <a:t>do</a:t>
            </a:r>
            <a:r>
              <a:rPr lang="en-US" b="1" dirty="0" smtClean="0"/>
              <a:t> loop</a:t>
            </a:r>
          </a:p>
          <a:p>
            <a:pPr lvl="1" eaLnBrk="1" hangingPunct="1"/>
            <a:r>
              <a:rPr lang="en-US" dirty="0" smtClean="0"/>
              <a:t>Always </a:t>
            </a:r>
            <a:r>
              <a:rPr lang="en-US" i="1" dirty="0" smtClean="0"/>
              <a:t>enters</a:t>
            </a:r>
            <a:r>
              <a:rPr lang="en-US" dirty="0" smtClean="0"/>
              <a:t> the loop without testing</a:t>
            </a:r>
          </a:p>
          <a:p>
            <a:pPr lvl="1" eaLnBrk="1" hangingPunct="1"/>
            <a:r>
              <a:rPr lang="en-US" dirty="0" smtClean="0"/>
              <a:t>Checks at the “bottom” of the loop after one repetition has occurred</a:t>
            </a:r>
          </a:p>
          <a:p>
            <a:pPr lvl="1"/>
            <a:r>
              <a:rPr lang="en-US" dirty="0" smtClean="0"/>
              <a:t>Convenient when you know you want to perform some task at least one time</a:t>
            </a:r>
          </a:p>
          <a:p>
            <a:pPr lvl="1"/>
            <a:r>
              <a:rPr lang="en-US" dirty="0" smtClean="0"/>
              <a:t>Also called a </a:t>
            </a:r>
            <a:r>
              <a:rPr lang="en-US" b="1" dirty="0" smtClean="0"/>
              <a:t>do…while loop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latin typeface="Courier New" pitchFamily="1" charset="0"/>
              </a:rPr>
              <a:t>while</a:t>
            </a:r>
            <a:r>
              <a:rPr lang="en-US" sz="2000" dirty="0"/>
              <a:t> loop and </a:t>
            </a:r>
            <a:r>
              <a:rPr lang="en-US" sz="2000" b="1" dirty="0">
                <a:latin typeface="Courier New" pitchFamily="1" charset="0"/>
              </a:rPr>
              <a:t>for</a:t>
            </a:r>
            <a:r>
              <a:rPr lang="en-US" sz="2000" dirty="0"/>
              <a:t> loop are </a:t>
            </a:r>
            <a:r>
              <a:rPr lang="en-US" sz="2000" b="1" dirty="0"/>
              <a:t>pretest loops</a:t>
            </a:r>
            <a:r>
              <a:rPr lang="en-US" sz="2000" dirty="0"/>
              <a:t>—ones in which the loop control variable is tested </a:t>
            </a:r>
            <a:r>
              <a:rPr lang="en-US" sz="2000" dirty="0" smtClean="0"/>
              <a:t>before the </a:t>
            </a:r>
            <a:r>
              <a:rPr lang="en-US" sz="2000" dirty="0"/>
              <a:t>loop body </a:t>
            </a:r>
            <a:r>
              <a:rPr lang="en-US" sz="2000" dirty="0" smtClean="0"/>
              <a:t>executes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b="1" dirty="0">
                <a:latin typeface="Courier New" pitchFamily="1" charset="0"/>
              </a:rPr>
              <a:t>do</a:t>
            </a:r>
            <a:r>
              <a:rPr lang="en-US" sz="2000" dirty="0"/>
              <a:t> loop is a </a:t>
            </a:r>
            <a:r>
              <a:rPr lang="en-US" sz="2000" b="1" dirty="0"/>
              <a:t>posttest loop</a:t>
            </a:r>
            <a:r>
              <a:rPr lang="en-US" sz="2000" dirty="0"/>
              <a:t>—one in which the loop control variable is </a:t>
            </a:r>
            <a:r>
              <a:rPr lang="en-US" sz="2000" dirty="0" smtClean="0"/>
              <a:t>tested after </a:t>
            </a:r>
            <a:r>
              <a:rPr lang="en-US" sz="2000" dirty="0"/>
              <a:t>the loop body </a:t>
            </a:r>
            <a:r>
              <a:rPr lang="en-US" sz="2000" dirty="0" smtClean="0"/>
              <a:t>executes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02C2D3-C66D-4850-A3B1-EA0F1272A77D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do</a:t>
            </a:r>
            <a:r>
              <a:rPr lang="en-US" sz="4000" spc="-200" dirty="0">
                <a:latin typeface="Calibri" panose="020F0502020204030204" pitchFamily="34" charset="0"/>
                <a:cs typeface="Courier New" pitchFamily="49" charset="0"/>
              </a:rPr>
              <a:t> </a:t>
            </a:r>
            <a:r>
              <a:rPr lang="en-US" sz="4000" spc="-200" dirty="0"/>
              <a:t>Statement 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pc="-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43D641-F675-45C4-AD82-FD19538BDDF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" y="1371600"/>
            <a:ext cx="7096125" cy="2962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276600"/>
            <a:ext cx="3138163" cy="31552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Creating Loops with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do</a:t>
            </a:r>
            <a:r>
              <a:rPr lang="en-US" sz="4000" spc="-200" dirty="0">
                <a:latin typeface="Calibri" panose="020F0502020204030204" pitchFamily="34" charset="0"/>
                <a:cs typeface="Courier New" pitchFamily="49" charset="0"/>
              </a:rPr>
              <a:t> </a:t>
            </a:r>
            <a:r>
              <a:rPr lang="en-US" sz="4000" spc="-200" dirty="0"/>
              <a:t>Statement 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pc="-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43D641-F675-45C4-AD82-FD19538BDDF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285302"/>
            <a:ext cx="4707705" cy="557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33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Using Nested Loops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When loops are nested, each pair contains an </a:t>
            </a:r>
            <a:r>
              <a:rPr lang="en-US" b="1" dirty="0" smtClean="0"/>
              <a:t>inner loop </a:t>
            </a:r>
            <a:r>
              <a:rPr lang="en-US" dirty="0" smtClean="0"/>
              <a:t>and an </a:t>
            </a:r>
            <a:r>
              <a:rPr lang="en-US" b="1" dirty="0" smtClean="0"/>
              <a:t>outer loop</a:t>
            </a:r>
          </a:p>
          <a:p>
            <a:pPr lvl="1" eaLnBrk="1" hangingPunct="1"/>
            <a:r>
              <a:rPr lang="en-US" dirty="0" smtClean="0"/>
              <a:t>The inner loop must be entirely contained within the outer loop</a:t>
            </a:r>
          </a:p>
          <a:p>
            <a:pPr lvl="1" eaLnBrk="1" hangingPunct="1"/>
            <a:r>
              <a:rPr lang="en-US" dirty="0" smtClean="0"/>
              <a:t>Loops can never overlap</a:t>
            </a:r>
            <a:endParaRPr lang="en-US" b="1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BAC24B-3BAE-4203-8F0F-D666C363D661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Using Nested Loops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7411F8-F8DB-4CFC-B1E2-DEC8ADDB1CF4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52600"/>
            <a:ext cx="8184626" cy="41558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Using Nested Loops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7411F8-F8DB-4CFC-B1E2-DEC8ADDB1CF4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1788"/>
            <a:ext cx="5568642" cy="46604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5" y="1526441"/>
            <a:ext cx="3667125" cy="311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6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Accumulating Totals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Totals are </a:t>
            </a:r>
            <a:r>
              <a:rPr lang="en-US" b="1" dirty="0" smtClean="0"/>
              <a:t>accumulated</a:t>
            </a:r>
          </a:p>
          <a:p>
            <a:pPr lvl="1" eaLnBrk="1" hangingPunct="1"/>
            <a:r>
              <a:rPr lang="en-US" dirty="0" smtClean="0"/>
              <a:t>Gathered together and added into a final sum by processing individual records one at a time in a loop</a:t>
            </a:r>
          </a:p>
          <a:p>
            <a:pPr eaLnBrk="1" hangingPunct="1"/>
            <a:r>
              <a:rPr lang="en-US" b="1" dirty="0" smtClean="0"/>
              <a:t>Garbage</a:t>
            </a:r>
          </a:p>
          <a:p>
            <a:pPr lvl="1" eaLnBrk="1" hangingPunct="1"/>
            <a:r>
              <a:rPr lang="en-US" dirty="0" smtClean="0"/>
              <a:t>An unknown value</a:t>
            </a:r>
          </a:p>
          <a:p>
            <a:pPr lvl="1" eaLnBrk="1" hangingPunct="1"/>
            <a:r>
              <a:rPr lang="en-US" dirty="0" smtClean="0"/>
              <a:t>The C# compiler helps to prevent seeing an incorrect total by requiring you to provide a starting value</a:t>
            </a:r>
          </a:p>
          <a:p>
            <a:pPr lvl="1" eaLnBrk="1" hangingPunct="1"/>
            <a:r>
              <a:rPr lang="en-US" dirty="0" smtClean="0"/>
              <a:t>C# will not use the garbage value that happens to be stored at an uninitialized memory location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88501-961B-4276-9A4D-B0CEDE659062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Accumulating Totals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6BE990-7903-4198-ACA6-49FD3FC580AE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0"/>
            <a:ext cx="5889013" cy="4984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447800"/>
            <a:ext cx="4876800" cy="1790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Improving Loop </a:t>
            </a:r>
            <a:r>
              <a:rPr lang="en-US" sz="4000" spc="-200" dirty="0" smtClean="0"/>
              <a:t>Performance </a:t>
            </a:r>
            <a:endParaRPr lang="en-US" sz="4000" spc="-200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Make sure the loop avoids unnecessary operations</a:t>
            </a:r>
          </a:p>
          <a:p>
            <a:pPr eaLnBrk="1" hangingPunct="1"/>
            <a:r>
              <a:rPr lang="en-US" dirty="0" smtClean="0"/>
              <a:t>Consider the order of evaluation for short-circuit operators</a:t>
            </a:r>
          </a:p>
          <a:p>
            <a:pPr eaLnBrk="1" hangingPunct="1"/>
            <a:r>
              <a:rPr lang="en-US" dirty="0" smtClean="0"/>
              <a:t>Employ loop fusion</a:t>
            </a:r>
          </a:p>
          <a:p>
            <a:pPr eaLnBrk="1" hangingPunct="1"/>
            <a:r>
              <a:rPr lang="en-US" dirty="0" smtClean="0"/>
              <a:t>Use prefix incrementing rather than postfix incrementing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8AD16-D092-41CB-9CF4-823D6A167849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235284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Improving Loop </a:t>
            </a:r>
            <a:r>
              <a:rPr lang="en-US" sz="4000" spc="-200" dirty="0" smtClean="0"/>
              <a:t>Performance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Avoiding Unnecessary Operations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loop should execute while </a:t>
            </a:r>
            <a:r>
              <a:rPr lang="en-US" sz="2000" dirty="0"/>
              <a:t>x </a:t>
            </a:r>
            <a:r>
              <a:rPr lang="en-US" dirty="0"/>
              <a:t>is less </a:t>
            </a:r>
            <a:r>
              <a:rPr lang="en-US" dirty="0" smtClean="0"/>
              <a:t>than the </a:t>
            </a:r>
            <a:r>
              <a:rPr lang="en-US" dirty="0"/>
              <a:t>sum of two integers </a:t>
            </a:r>
            <a:r>
              <a:rPr lang="en-US" sz="2000" dirty="0"/>
              <a:t>a </a:t>
            </a:r>
            <a:r>
              <a:rPr lang="en-US" dirty="0"/>
              <a:t>and </a:t>
            </a:r>
            <a:r>
              <a:rPr lang="en-US" sz="2000" dirty="0"/>
              <a:t>b</a:t>
            </a:r>
            <a:r>
              <a:rPr lang="en-US" dirty="0"/>
              <a:t>, and that neither </a:t>
            </a:r>
            <a:r>
              <a:rPr lang="en-US" sz="2000" dirty="0"/>
              <a:t>a </a:t>
            </a:r>
            <a:r>
              <a:rPr lang="en-US" dirty="0"/>
              <a:t>nor </a:t>
            </a:r>
            <a:r>
              <a:rPr lang="en-US" sz="2000" dirty="0"/>
              <a:t>b </a:t>
            </a:r>
            <a:r>
              <a:rPr lang="en-US" dirty="0"/>
              <a:t>is altered in the loop body. The </a:t>
            </a:r>
            <a:r>
              <a:rPr lang="en-US" dirty="0" smtClean="0"/>
              <a:t>loop could </a:t>
            </a:r>
            <a:r>
              <a:rPr lang="en-US" dirty="0"/>
              <a:t>be written as:</a:t>
            </a:r>
          </a:p>
          <a:p>
            <a:pPr marL="800100" lvl="2" indent="0">
              <a:buNone/>
            </a:pPr>
            <a:r>
              <a:rPr lang="en-US" sz="1800" spc="-200" dirty="0">
                <a:latin typeface="Courier New" pitchFamily="49" charset="0"/>
                <a:ea typeface="+mj-ea"/>
                <a:cs typeface="Courier New" pitchFamily="49" charset="0"/>
              </a:rPr>
              <a:t>while(x &lt; a + b</a:t>
            </a:r>
            <a:r>
              <a:rPr lang="en-US" sz="1800" spc="-200" dirty="0" smtClean="0">
                <a:latin typeface="Courier New" pitchFamily="49" charset="0"/>
                <a:ea typeface="+mj-ea"/>
                <a:cs typeface="Courier New" pitchFamily="49" charset="0"/>
              </a:rPr>
              <a:t>) 		</a:t>
            </a:r>
            <a:r>
              <a:rPr lang="en-US" sz="1800" dirty="0" smtClean="0"/>
              <a:t>- or - 	</a:t>
            </a:r>
            <a:r>
              <a:rPr lang="en-US" sz="1800" dirty="0"/>
              <a:t> </a:t>
            </a: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sum = a + b;</a:t>
            </a:r>
            <a:endParaRPr lang="en-US" sz="1800" spc="-200" dirty="0">
              <a:latin typeface="Courier New" pitchFamily="49" charset="0"/>
              <a:ea typeface="+mj-ea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800" spc="-200" dirty="0">
                <a:latin typeface="Courier New" pitchFamily="49" charset="0"/>
                <a:ea typeface="+mj-ea"/>
                <a:cs typeface="Courier New" pitchFamily="49" charset="0"/>
              </a:rPr>
              <a:t>	</a:t>
            </a:r>
            <a:r>
              <a:rPr lang="en-US" sz="1800" spc="-200" dirty="0" smtClean="0">
                <a:latin typeface="Courier New" pitchFamily="49" charset="0"/>
                <a:ea typeface="+mj-ea"/>
                <a:cs typeface="Courier New" pitchFamily="49" charset="0"/>
              </a:rPr>
              <a:t>// </a:t>
            </a:r>
            <a:r>
              <a:rPr lang="en-US" sz="1800" spc="-200" dirty="0">
                <a:latin typeface="Courier New" pitchFamily="49" charset="0"/>
                <a:ea typeface="+mj-ea"/>
                <a:cs typeface="Courier New" pitchFamily="49" charset="0"/>
              </a:rPr>
              <a:t>loop </a:t>
            </a:r>
            <a:r>
              <a:rPr lang="en-US" sz="1800" spc="-200" dirty="0" smtClean="0">
                <a:latin typeface="Courier New" pitchFamily="49" charset="0"/>
                <a:ea typeface="+mj-ea"/>
                <a:cs typeface="Courier New" pitchFamily="49" charset="0"/>
              </a:rPr>
              <a:t>body			</a:t>
            </a:r>
            <a:r>
              <a:rPr lang="en-US" sz="1800" spc="-200" dirty="0">
                <a:latin typeface="Courier New" pitchFamily="49" charset="0"/>
                <a:ea typeface="+mj-ea"/>
                <a:cs typeface="Courier New" pitchFamily="49" charset="0"/>
              </a:rPr>
              <a:t> </a:t>
            </a:r>
            <a:r>
              <a:rPr lang="en-US" sz="1800" spc="-200" dirty="0" smtClean="0">
                <a:latin typeface="Courier New" pitchFamily="49" charset="0"/>
                <a:ea typeface="+mj-ea"/>
                <a:cs typeface="Courier New" pitchFamily="49" charset="0"/>
              </a:rPr>
              <a:t>	while(x </a:t>
            </a:r>
            <a:r>
              <a:rPr lang="en-US" sz="1800" spc="-200" dirty="0">
                <a:latin typeface="Courier New" pitchFamily="49" charset="0"/>
                <a:ea typeface="+mj-ea"/>
                <a:cs typeface="Courier New" pitchFamily="49" charset="0"/>
              </a:rPr>
              <a:t>&lt; sum)</a:t>
            </a:r>
          </a:p>
          <a:p>
            <a:pPr marL="0" indent="0">
              <a:buNone/>
            </a:pPr>
            <a:r>
              <a:rPr lang="en-US" sz="1800" spc="-200" dirty="0" smtClean="0">
                <a:latin typeface="Courier New" pitchFamily="49" charset="0"/>
                <a:ea typeface="+mj-ea"/>
                <a:cs typeface="Courier New" pitchFamily="49" charset="0"/>
              </a:rPr>
              <a:t>						// </a:t>
            </a:r>
            <a:r>
              <a:rPr lang="en-US" sz="1800" spc="-200" dirty="0">
                <a:latin typeface="Courier New" pitchFamily="49" charset="0"/>
                <a:ea typeface="+mj-ea"/>
                <a:cs typeface="Courier New" pitchFamily="49" charset="0"/>
              </a:rPr>
              <a:t>loop </a:t>
            </a:r>
            <a:r>
              <a:rPr lang="en-US" sz="1800" spc="-200" dirty="0" smtClean="0">
                <a:latin typeface="Courier New" pitchFamily="49" charset="0"/>
                <a:ea typeface="+mj-ea"/>
                <a:cs typeface="Courier New" pitchFamily="49" charset="0"/>
              </a:rPr>
              <a:t>body</a:t>
            </a:r>
          </a:p>
          <a:p>
            <a:pPr marL="0" indent="0">
              <a:buNone/>
            </a:pPr>
            <a:endParaRPr lang="en-US" sz="1800" spc="-200" dirty="0">
              <a:latin typeface="Courier New" pitchFamily="49" charset="0"/>
              <a:ea typeface="+mj-ea"/>
              <a:cs typeface="Courier New" pitchFamily="49" charset="0"/>
            </a:endParaRPr>
          </a:p>
          <a:p>
            <a:pPr lvl="1"/>
            <a:r>
              <a:rPr lang="en-US" sz="2000" dirty="0" smtClean="0"/>
              <a:t>In the code on the left this </a:t>
            </a:r>
            <a:r>
              <a:rPr lang="en-US" sz="2000" dirty="0"/>
              <a:t>loop executes 1,000 </a:t>
            </a:r>
            <a:r>
              <a:rPr lang="en-US" sz="2000" dirty="0" smtClean="0"/>
              <a:t>times and the </a:t>
            </a:r>
            <a:r>
              <a:rPr lang="en-US" sz="2000" dirty="0"/>
              <a:t>expression a + b is calculated 1,000 </a:t>
            </a:r>
            <a:r>
              <a:rPr lang="en-US" sz="2000" dirty="0" smtClean="0"/>
              <a:t>times </a:t>
            </a:r>
          </a:p>
          <a:p>
            <a:pPr lvl="1"/>
            <a:r>
              <a:rPr lang="en-US" sz="2000" dirty="0" smtClean="0"/>
              <a:t>In the code on the right, </a:t>
            </a:r>
            <a:r>
              <a:rPr lang="en-US" sz="2000" dirty="0"/>
              <a:t>the results are the same, but the arithmetic is performed only once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8AD16-D092-41CB-9CF4-823D6A167849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Improving Loop </a:t>
            </a:r>
            <a:r>
              <a:rPr lang="en-US" sz="4000" spc="-200" dirty="0" smtClean="0"/>
              <a:t>Performance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Considering the Order of Evaluation of Short-Circuit Operators</a:t>
            </a:r>
          </a:p>
          <a:p>
            <a:pPr lvl="1"/>
            <a:r>
              <a:rPr lang="en-US" dirty="0" smtClean="0"/>
              <a:t>Remember that </a:t>
            </a:r>
            <a:r>
              <a:rPr lang="en-US" dirty="0"/>
              <a:t>the expressions in each part of an AND or </a:t>
            </a:r>
            <a:r>
              <a:rPr lang="en-US" dirty="0" err="1"/>
              <a:t>OR</a:t>
            </a:r>
            <a:r>
              <a:rPr lang="en-US" dirty="0"/>
              <a:t> expression </a:t>
            </a:r>
            <a:r>
              <a:rPr lang="en-US" dirty="0" smtClean="0"/>
              <a:t>use short-circuit evaluation 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a loop might execute many times, </a:t>
            </a:r>
            <a:r>
              <a:rPr lang="en-US" dirty="0" smtClean="0"/>
              <a:t>it becomes </a:t>
            </a:r>
            <a:r>
              <a:rPr lang="en-US" dirty="0"/>
              <a:t>increasingly important to consider the number of evaluations that take </a:t>
            </a:r>
            <a:r>
              <a:rPr lang="en-US" dirty="0" smtClean="0"/>
              <a:t>place </a:t>
            </a:r>
          </a:p>
          <a:p>
            <a:pPr lvl="1"/>
            <a:r>
              <a:rPr lang="en-US" dirty="0" smtClean="0"/>
              <a:t>If you </a:t>
            </a:r>
            <a:r>
              <a:rPr lang="en-US" dirty="0"/>
              <a:t>believe that the first Boolean expression is more likely to be true than the </a:t>
            </a:r>
            <a:r>
              <a:rPr lang="en-US" dirty="0" smtClean="0"/>
              <a:t>second one</a:t>
            </a:r>
            <a:r>
              <a:rPr lang="en-US" dirty="0"/>
              <a:t>, you can eliminate testing the second one on more occasions</a:t>
            </a:r>
            <a:endParaRPr lang="en-US" sz="269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8AD16-D092-41CB-9CF4-823D6A167849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393941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Improving Loop </a:t>
            </a:r>
            <a:r>
              <a:rPr lang="en-US" sz="4000" spc="-200" dirty="0" smtClean="0"/>
              <a:t>Performance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Employing Loop Fusion</a:t>
            </a:r>
          </a:p>
          <a:p>
            <a:pPr lvl="1"/>
            <a:r>
              <a:rPr lang="en-US" b="1" dirty="0" smtClean="0"/>
              <a:t>Loop Fusion </a:t>
            </a:r>
            <a:r>
              <a:rPr lang="en-US" dirty="0" smtClean="0"/>
              <a:t>is the technique of combining two loops into one</a:t>
            </a:r>
          </a:p>
          <a:p>
            <a:pPr marL="457200" lvl="1" indent="0">
              <a:buNone/>
            </a:pPr>
            <a:r>
              <a:rPr lang="en-US" sz="2000" dirty="0" smtClean="0"/>
              <a:t>for(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x = 0; x &lt; TIMES; ++x</a:t>
            </a:r>
            <a:r>
              <a:rPr lang="en-US" sz="2000" dirty="0" smtClean="0"/>
              <a:t>)		</a:t>
            </a:r>
            <a:r>
              <a:rPr lang="en-US" sz="2000" dirty="0"/>
              <a:t>for(</a:t>
            </a:r>
            <a:r>
              <a:rPr lang="en-US" sz="2000" dirty="0" err="1"/>
              <a:t>int</a:t>
            </a:r>
            <a:r>
              <a:rPr lang="en-US" sz="2000" dirty="0"/>
              <a:t> x = 0; x &lt; TIMES; ++x</a:t>
            </a:r>
            <a:r>
              <a:rPr lang="en-US" sz="2000" dirty="0" smtClean="0"/>
              <a:t>)</a:t>
            </a:r>
          </a:p>
          <a:p>
            <a:pPr marL="457200" lvl="1" indent="0">
              <a:buNone/>
            </a:pPr>
            <a:r>
              <a:rPr lang="en-US" sz="2000" dirty="0" smtClean="0"/>
              <a:t>    method1();			  {  method1</a:t>
            </a:r>
            <a:r>
              <a:rPr lang="en-US" sz="2000" dirty="0"/>
              <a:t>();</a:t>
            </a:r>
          </a:p>
          <a:p>
            <a:pPr marL="457200" lvl="1" indent="0">
              <a:buNone/>
            </a:pPr>
            <a:r>
              <a:rPr lang="en-US" sz="2000" dirty="0" smtClean="0"/>
              <a:t>for(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x = 0; x &lt; TIMES; ++x</a:t>
            </a:r>
            <a:r>
              <a:rPr lang="en-US" sz="2000" dirty="0" smtClean="0"/>
              <a:t>)		     method2</a:t>
            </a:r>
            <a:r>
              <a:rPr lang="en-US" sz="2000" dirty="0"/>
              <a:t>();</a:t>
            </a:r>
          </a:p>
          <a:p>
            <a:pPr marL="457200" lvl="1" indent="0">
              <a:buNone/>
            </a:pPr>
            <a:r>
              <a:rPr lang="en-US" sz="2000" dirty="0" smtClean="0"/>
              <a:t>    method2();			  }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8AD16-D092-41CB-9CF4-823D6A167849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2" name="Right Arrow 1"/>
          <p:cNvSpPr/>
          <p:nvPr/>
        </p:nvSpPr>
        <p:spPr>
          <a:xfrm>
            <a:off x="4114800" y="3429000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4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Improving Loop </a:t>
            </a:r>
            <a:r>
              <a:rPr lang="en-US" sz="4000" spc="-200" dirty="0" smtClean="0"/>
              <a:t>Performance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Using Prefix Incrementing Rather Than Postfix Incrementing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Example: 		for(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x = 0; x &lt; LIMIT; x++)</a:t>
            </a:r>
          </a:p>
          <a:p>
            <a:pPr lvl="1"/>
            <a:r>
              <a:rPr lang="en-US" dirty="0"/>
              <a:t>Because incrementing </a:t>
            </a:r>
            <a:r>
              <a:rPr lang="en-US" sz="2000" dirty="0"/>
              <a:t>x </a:t>
            </a:r>
            <a:r>
              <a:rPr lang="en-US" dirty="0"/>
              <a:t>is a stand-alone statement in the </a:t>
            </a:r>
            <a:r>
              <a:rPr lang="en-US" sz="2000" dirty="0"/>
              <a:t>for </a:t>
            </a:r>
            <a:r>
              <a:rPr lang="en-US" dirty="0"/>
              <a:t>loop, the result is </a:t>
            </a:r>
            <a:r>
              <a:rPr lang="en-US" dirty="0" smtClean="0"/>
              <a:t>identical whether </a:t>
            </a:r>
            <a:r>
              <a:rPr lang="en-US" dirty="0"/>
              <a:t>you use </a:t>
            </a:r>
            <a:r>
              <a:rPr lang="en-US" sz="2000" dirty="0"/>
              <a:t>x++ </a:t>
            </a:r>
            <a:r>
              <a:rPr lang="en-US" dirty="0"/>
              <a:t>or </a:t>
            </a:r>
            <a:r>
              <a:rPr lang="en-US" sz="2000" dirty="0"/>
              <a:t>++</a:t>
            </a:r>
            <a:r>
              <a:rPr lang="en-US" sz="2000" dirty="0" smtClean="0"/>
              <a:t>x</a:t>
            </a:r>
          </a:p>
          <a:p>
            <a:pPr lvl="1"/>
            <a:r>
              <a:rPr lang="en-US" sz="2000" dirty="0" smtClean="0"/>
              <a:t>++x runs faster than x++</a:t>
            </a:r>
          </a:p>
          <a:p>
            <a:pPr lvl="1"/>
            <a:r>
              <a:rPr lang="en-US" dirty="0"/>
              <a:t>A timing </a:t>
            </a:r>
            <a:r>
              <a:rPr lang="en-US" dirty="0" smtClean="0"/>
              <a:t>compared the loops: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8AD16-D092-41CB-9CF4-823D6A167849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318352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Improving Loop </a:t>
            </a:r>
            <a:r>
              <a:rPr lang="en-US" sz="4000" spc="-200" dirty="0" smtClean="0"/>
              <a:t>Performance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pPr eaLnBrk="1" hangingPunct="1"/>
            <a:r>
              <a:rPr lang="en-US" b="1" dirty="0" smtClean="0"/>
              <a:t>Using Prefix Incrementing Rather Than Postfix Incrementing </a:t>
            </a:r>
            <a:r>
              <a:rPr lang="en-US" sz="1200" b="1" dirty="0" smtClean="0"/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8AD16-D092-41CB-9CF4-823D6A167849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38425"/>
            <a:ext cx="4876800" cy="37797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638425"/>
            <a:ext cx="47625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2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Looping Issues in GUI Programs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 dirty="0" smtClean="0"/>
              <a:t>Using a loop within a method in a GUI application is no different from using one in a console application</a:t>
            </a:r>
          </a:p>
          <a:p>
            <a:pPr eaLnBrk="1" hangingPunct="1"/>
            <a:r>
              <a:rPr lang="en-US" dirty="0" smtClean="0"/>
              <a:t>Event-driven programs sometimes require fewer coded loops</a:t>
            </a:r>
          </a:p>
          <a:p>
            <a:pPr lvl="1"/>
            <a:r>
              <a:rPr lang="en-US" dirty="0" smtClean="0"/>
              <a:t>Some events are determined by the user’s actions when the program is running, rather than by the programmer’s coding</a:t>
            </a:r>
          </a:p>
          <a:p>
            <a:pPr lvl="1"/>
            <a:r>
              <a:rPr lang="en-US" dirty="0" smtClean="0"/>
              <a:t>You can write an event-driven program so that an action continues as long as the user continues to make an appropriate selection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705D9A-A2A5-4694-AD42-0A671D759B86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77C53E-A198-432E-8D8E-247724C9FDB3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Looping Issues in GUI Programs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1352550"/>
            <a:ext cx="6057900" cy="4972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77C53E-A198-432E-8D8E-247724C9FDB3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Looping Issues in GUI Programs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67760"/>
            <a:ext cx="4919662" cy="527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8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Summary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0772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Use a </a:t>
            </a:r>
            <a:r>
              <a:rPr lang="en-US" dirty="0" smtClean="0">
                <a:latin typeface="Courier New" pitchFamily="1" charset="0"/>
              </a:rPr>
              <a:t>while</a:t>
            </a:r>
            <a:r>
              <a:rPr lang="en-US" dirty="0" smtClean="0"/>
              <a:t> loop to execute a body of statements continuously while some condition continues to be </a:t>
            </a:r>
            <a:r>
              <a:rPr lang="en-US" dirty="0" smtClean="0">
                <a:latin typeface="Courier New" pitchFamily="1" charset="0"/>
              </a:rPr>
              <a:t>true</a:t>
            </a:r>
          </a:p>
          <a:p>
            <a:pPr eaLnBrk="1" hangingPunct="1"/>
            <a:r>
              <a:rPr lang="en-US" dirty="0" smtClean="0"/>
              <a:t>When using a </a:t>
            </a:r>
            <a:r>
              <a:rPr lang="en-US" dirty="0" smtClean="0">
                <a:latin typeface="Courier New" pitchFamily="1" charset="0"/>
              </a:rPr>
              <a:t>for</a:t>
            </a:r>
            <a:r>
              <a:rPr lang="en-US" dirty="0" smtClean="0"/>
              <a:t> statement, you can indicate in one place:</a:t>
            </a:r>
          </a:p>
          <a:p>
            <a:pPr lvl="1" eaLnBrk="1" hangingPunct="1"/>
            <a:r>
              <a:rPr lang="en-US" dirty="0" smtClean="0"/>
              <a:t>The starting value for the loop control variable </a:t>
            </a:r>
          </a:p>
          <a:p>
            <a:pPr lvl="1" eaLnBrk="1" hangingPunct="1"/>
            <a:r>
              <a:rPr lang="en-US" dirty="0" smtClean="0"/>
              <a:t>The test condition that controls loop entry </a:t>
            </a:r>
          </a:p>
          <a:p>
            <a:pPr lvl="1" eaLnBrk="1" hangingPunct="1"/>
            <a:r>
              <a:rPr lang="en-US" dirty="0" smtClean="0"/>
              <a:t>The expression that alters the loop control variable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F9246-447B-4C5D-839D-27F0EC9C1C12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 sz="4000" spc="-200" dirty="0"/>
              <a:t>Summary </a:t>
            </a:r>
            <a:r>
              <a:rPr lang="en-US" sz="1200" spc="-200" dirty="0">
                <a:latin typeface="Courier New" pitchFamily="49" charset="0"/>
                <a:cs typeface="Courier New" pitchFamily="49" charset="0"/>
              </a:rPr>
              <a:t>(cont’d.)</a:t>
            </a:r>
            <a:endParaRPr lang="en-US" sz="1200" spc="-200" dirty="0"/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077200" cy="4572000"/>
          </a:xfrm>
        </p:spPr>
        <p:txBody>
          <a:bodyPr/>
          <a:lstStyle/>
          <a:p>
            <a:pPr eaLnBrk="1" hangingPunct="1"/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do</a:t>
            </a:r>
            <a:r>
              <a:rPr lang="en-US" dirty="0" smtClean="0"/>
              <a:t> loop checks the “bottom” of the loop after one repetition has occurred</a:t>
            </a:r>
          </a:p>
          <a:p>
            <a:pPr eaLnBrk="1" hangingPunct="1"/>
            <a:r>
              <a:rPr lang="en-US" dirty="0" smtClean="0"/>
              <a:t>You can nest any combination of loops to achieve the desired results</a:t>
            </a:r>
          </a:p>
          <a:p>
            <a:pPr eaLnBrk="1" hangingPunct="1"/>
            <a:r>
              <a:rPr lang="en-US" dirty="0" smtClean="0"/>
              <a:t>In computer programs, totals frequently are accumulated</a:t>
            </a:r>
          </a:p>
          <a:p>
            <a:pPr eaLnBrk="1" hangingPunct="1"/>
            <a:r>
              <a:rPr lang="en-US" dirty="0" smtClean="0"/>
              <a:t>Improve loop performance by making sure the loop does not include unnecessary operations</a:t>
            </a:r>
          </a:p>
          <a:p>
            <a:r>
              <a:rPr lang="en-US" dirty="0" smtClean="0"/>
              <a:t>You can use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while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for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do...while</a:t>
            </a:r>
            <a:r>
              <a:rPr lang="en-US" dirty="0" smtClean="0"/>
              <a:t> loops in the same ways as in console and GUI programs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804B3D-B45D-43D9-BED9-8F506B9F08B6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3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1330</Words>
  <Application>Microsoft Office PowerPoint</Application>
  <PresentationFormat>On-screen Show (4:3)</PresentationFormat>
  <Paragraphs>236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 Unicode MS</vt:lpstr>
      <vt:lpstr>Arial</vt:lpstr>
      <vt:lpstr>Calibri</vt:lpstr>
      <vt:lpstr>Courier New</vt:lpstr>
      <vt:lpstr>Times New Roman</vt:lpstr>
      <vt:lpstr>3_Default Design</vt:lpstr>
      <vt:lpstr>1_Farrell_PLD</vt:lpstr>
      <vt:lpstr>PowerPoint Presentation</vt:lpstr>
      <vt:lpstr>Objectives</vt:lpstr>
      <vt:lpstr>Creating Loops with the while Statement</vt:lpstr>
      <vt:lpstr>Creating Loops with the while Statement (cont’d.)</vt:lpstr>
      <vt:lpstr>Creating Loops with the while Statement (cont’d.)</vt:lpstr>
      <vt:lpstr>Creating Loops with the while Statement (cont’d.)</vt:lpstr>
      <vt:lpstr>Creating Loops with the while Statement (cont’d.)</vt:lpstr>
      <vt:lpstr>Creating Loops with the while Statement (cont’d.)</vt:lpstr>
      <vt:lpstr>Creating Loops with the while Statement (cont’d.)</vt:lpstr>
      <vt:lpstr>Creating Loops with the while Statement (cont’d.)</vt:lpstr>
      <vt:lpstr>Creating Loops with the while Statement (cont’d.)</vt:lpstr>
      <vt:lpstr>Creating Loops with the for Statement</vt:lpstr>
      <vt:lpstr>Creating Loops with the for Statement  (cont’d.)</vt:lpstr>
      <vt:lpstr>Creating Loops with the do Statement</vt:lpstr>
      <vt:lpstr>Creating Loops with the do Statement  (cont’d.)</vt:lpstr>
      <vt:lpstr>Creating Loops with the do Statement  (cont’d.)</vt:lpstr>
      <vt:lpstr>Using Nested Loops</vt:lpstr>
      <vt:lpstr>Using Nested Loops (cont’d.)</vt:lpstr>
      <vt:lpstr>Using Nested Loops (cont’d.)</vt:lpstr>
      <vt:lpstr>Accumulating Totals</vt:lpstr>
      <vt:lpstr>Accumulating Totals (cont’d.)</vt:lpstr>
      <vt:lpstr>Improving Loop Performance </vt:lpstr>
      <vt:lpstr>Improving Loop Performance (cont’d.)</vt:lpstr>
      <vt:lpstr>Improving Loop Performance (cont’d.)</vt:lpstr>
      <vt:lpstr>Improving Loop Performance (cont’d.)</vt:lpstr>
      <vt:lpstr>Improving Loop Performance (cont’d.)</vt:lpstr>
      <vt:lpstr>Improving Loop Performance (cont’d.)</vt:lpstr>
      <vt:lpstr>Looping Issues in GUI Programs</vt:lpstr>
      <vt:lpstr>Looping Issues in GUI Programs (cont’d.)</vt:lpstr>
      <vt:lpstr>Looping Issues in GUI Programs (cont’d.)</vt:lpstr>
      <vt:lpstr>Summary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803</cp:revision>
  <dcterms:created xsi:type="dcterms:W3CDTF">2002-09-27T23:29:22Z</dcterms:created>
  <dcterms:modified xsi:type="dcterms:W3CDTF">2015-06-07T22:05:37Z</dcterms:modified>
</cp:coreProperties>
</file>