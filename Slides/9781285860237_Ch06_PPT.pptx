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84" r:id="rId1"/>
    <p:sldMasterId id="2147483857" r:id="rId2"/>
  </p:sldMasterIdLst>
  <p:notesMasterIdLst>
    <p:notesMasterId r:id="rId43"/>
  </p:notesMasterIdLst>
  <p:handoutMasterIdLst>
    <p:handoutMasterId r:id="rId44"/>
  </p:handoutMasterIdLst>
  <p:sldIdLst>
    <p:sldId id="673" r:id="rId3"/>
    <p:sldId id="257" r:id="rId4"/>
    <p:sldId id="476" r:id="rId5"/>
    <p:sldId id="651" r:id="rId6"/>
    <p:sldId id="652" r:id="rId7"/>
    <p:sldId id="624" r:id="rId8"/>
    <p:sldId id="654" r:id="rId9"/>
    <p:sldId id="641" r:id="rId10"/>
    <p:sldId id="605" r:id="rId11"/>
    <p:sldId id="642" r:id="rId12"/>
    <p:sldId id="655" r:id="rId13"/>
    <p:sldId id="629" r:id="rId14"/>
    <p:sldId id="606" r:id="rId15"/>
    <p:sldId id="683" r:id="rId16"/>
    <p:sldId id="684" r:id="rId17"/>
    <p:sldId id="676" r:id="rId18"/>
    <p:sldId id="675" r:id="rId19"/>
    <p:sldId id="609" r:id="rId20"/>
    <p:sldId id="659" r:id="rId21"/>
    <p:sldId id="587" r:id="rId22"/>
    <p:sldId id="678" r:id="rId23"/>
    <p:sldId id="660" r:id="rId24"/>
    <p:sldId id="686" r:id="rId25"/>
    <p:sldId id="661" r:id="rId26"/>
    <p:sldId id="662" r:id="rId27"/>
    <p:sldId id="679" r:id="rId28"/>
    <p:sldId id="663" r:id="rId29"/>
    <p:sldId id="691" r:id="rId30"/>
    <p:sldId id="664" r:id="rId31"/>
    <p:sldId id="665" r:id="rId32"/>
    <p:sldId id="666" r:id="rId33"/>
    <p:sldId id="667" r:id="rId34"/>
    <p:sldId id="668" r:id="rId35"/>
    <p:sldId id="671" r:id="rId36"/>
    <p:sldId id="499" r:id="rId37"/>
    <p:sldId id="690" r:id="rId38"/>
    <p:sldId id="681" r:id="rId39"/>
    <p:sldId id="580" r:id="rId40"/>
    <p:sldId id="472" r:id="rId41"/>
    <p:sldId id="670" r:id="rId42"/>
  </p:sldIdLst>
  <p:sldSz cx="9144000" cy="6858000" type="screen4x3"/>
  <p:notesSz cx="6858000" cy="9239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1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3300"/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07" autoAdjust="0"/>
    <p:restoredTop sz="94531" autoAdjust="0"/>
  </p:normalViewPr>
  <p:slideViewPr>
    <p:cSldViewPr>
      <p:cViewPr varScale="1">
        <p:scale>
          <a:sx n="74" d="100"/>
          <a:sy n="74" d="100"/>
        </p:scale>
        <p:origin x="126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91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5684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775684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450E4A6B-7E68-45B9-85BC-3F9C8C3284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0684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20775" y="693738"/>
            <a:ext cx="4616450" cy="3463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88644"/>
            <a:ext cx="5486400" cy="415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5684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775684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6A88722C-83EB-4D61-9B1B-734C99C46D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6101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65E7DC45-C975-4D06-A118-C915ECD1EE95}" type="slidenum">
              <a:rPr lang="en-US" sz="1200" smtClean="0">
                <a:solidFill>
                  <a:schemeClr val="tx1"/>
                </a:solidFill>
              </a:rPr>
              <a:pPr eaLnBrk="1" hangingPunct="1"/>
              <a:t>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019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46F1AF6-6352-4FC9-91B2-A3DD47FE4598}" type="slidenum">
              <a:rPr lang="en-US" sz="1200" smtClean="0">
                <a:solidFill>
                  <a:schemeClr val="tx1"/>
                </a:solidFill>
              </a:rPr>
              <a:pPr eaLnBrk="1" hangingPunct="1"/>
              <a:t>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639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49B5D984-42DF-45A4-9E9D-50F8FEEDE8AE}" type="slidenum">
              <a:rPr lang="en-US" sz="1200" smtClean="0">
                <a:solidFill>
                  <a:schemeClr val="tx1"/>
                </a:solidFill>
              </a:rPr>
              <a:pPr eaLnBrk="1" hangingPunct="1"/>
              <a:t>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427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568A2FE8-DCF5-4C68-B49D-61DC27F93DC6}" type="slidenum">
              <a:rPr lang="en-US" sz="1200" smtClean="0">
                <a:solidFill>
                  <a:schemeClr val="tx1"/>
                </a:solidFill>
              </a:rPr>
              <a:pPr eaLnBrk="1" hangingPunct="1"/>
              <a:t>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549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20B22FF4-FE0B-4264-AB1A-B13565D7814E}" type="slidenum">
              <a:rPr lang="en-US" sz="1200" smtClean="0">
                <a:solidFill>
                  <a:schemeClr val="tx1"/>
                </a:solidFill>
              </a:rPr>
              <a:pPr eaLnBrk="1" hangingPunct="1"/>
              <a:t>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020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1D3BD4D2-0B92-45B3-A981-519B374545BC}" type="slidenum">
              <a:rPr lang="en-US" sz="1200" smtClean="0">
                <a:solidFill>
                  <a:schemeClr val="tx1"/>
                </a:solidFill>
              </a:rPr>
              <a:pPr eaLnBrk="1" hangingPunct="1"/>
              <a:t>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077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69E80656-E2F9-4D2E-98D4-ED880C76BC2E}" type="slidenum">
              <a:rPr lang="en-US" sz="1200" smtClean="0">
                <a:solidFill>
                  <a:schemeClr val="tx1"/>
                </a:solidFill>
              </a:rPr>
              <a:pPr eaLnBrk="1" hangingPunct="1"/>
              <a:t>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603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934B4EA9-C187-4C93-9C92-FC40CD473739}" type="slidenum">
              <a:rPr lang="en-US" sz="1200" smtClean="0">
                <a:solidFill>
                  <a:schemeClr val="tx1"/>
                </a:solidFill>
              </a:rPr>
              <a:pPr eaLnBrk="1" hangingPunct="1"/>
              <a:t>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645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108DCEA9-C0FA-4DB0-A6B5-9B913A78B974}" type="slidenum">
              <a:rPr lang="en-US" sz="1200" smtClean="0">
                <a:solidFill>
                  <a:schemeClr val="tx1"/>
                </a:solidFill>
              </a:rPr>
              <a:pPr eaLnBrk="1" hangingPunct="1"/>
              <a:t>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148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BD3DBB1C-D805-4523-B3FC-13CEE66DAA8D}" type="slidenum">
              <a:rPr lang="en-US" sz="1200" smtClean="0">
                <a:solidFill>
                  <a:schemeClr val="tx1"/>
                </a:solidFill>
              </a:rPr>
              <a:pPr eaLnBrk="1" hangingPunct="1"/>
              <a:t>10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002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683AC703-3C82-44CE-BC83-0DA46CDD8629}" type="slidenum">
              <a:rPr lang="en-US" sz="1200" smtClean="0">
                <a:solidFill>
                  <a:schemeClr val="tx1"/>
                </a:solidFill>
              </a:rPr>
              <a:pPr eaLnBrk="1" hangingPunct="1"/>
              <a:t>11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733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4E843593-756E-4C3A-99D7-07E63728BC13}" type="slidenum">
              <a:rPr lang="en-US" sz="1200" smtClean="0">
                <a:solidFill>
                  <a:schemeClr val="tx1"/>
                </a:solidFill>
              </a:rPr>
              <a:pPr eaLnBrk="1" hangingPunct="1"/>
              <a:t>12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9058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C8FCE6B9-A23B-4CE5-9610-1CEAD33557D0}" type="slidenum">
              <a:rPr lang="en-US" sz="1200" smtClean="0">
                <a:solidFill>
                  <a:schemeClr val="tx1"/>
                </a:solidFill>
              </a:rPr>
              <a:pPr eaLnBrk="1" hangingPunct="1"/>
              <a:t>13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030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88722C-83EB-4D61-9B1B-734C99C46D9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937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88722C-83EB-4D61-9B1B-734C99C46D9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4700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EC57A79E-0611-4BE3-8551-0383F38D6CEF}" type="slidenum">
              <a:rPr lang="en-US" sz="1200" smtClean="0">
                <a:solidFill>
                  <a:schemeClr val="tx1"/>
                </a:solidFill>
              </a:rPr>
              <a:pPr eaLnBrk="1" hangingPunct="1"/>
              <a:t>16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1751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520CF0A6-864E-484F-A825-31B73C8CACB3}" type="slidenum">
              <a:rPr lang="en-US" sz="1200" smtClean="0">
                <a:solidFill>
                  <a:schemeClr val="tx1"/>
                </a:solidFill>
              </a:rPr>
              <a:pPr eaLnBrk="1" hangingPunct="1"/>
              <a:t>17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0501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89713F2C-5B43-4C87-B5AB-32416CE4AD9E}" type="slidenum">
              <a:rPr lang="en-US" sz="1200" smtClean="0">
                <a:solidFill>
                  <a:schemeClr val="tx1"/>
                </a:solidFill>
              </a:rPr>
              <a:pPr eaLnBrk="1" hangingPunct="1"/>
              <a:t>18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7069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B6637C4C-5C12-41C9-AD02-C8386769EB3F}" type="slidenum">
              <a:rPr lang="en-US" sz="1200" smtClean="0">
                <a:solidFill>
                  <a:schemeClr val="tx1"/>
                </a:solidFill>
              </a:rPr>
              <a:pPr eaLnBrk="1" hangingPunct="1"/>
              <a:t>19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6905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6A144DAA-621A-42B7-8EA9-39BA729E5F14}" type="slidenum">
              <a:rPr lang="en-US" sz="1200" smtClean="0">
                <a:solidFill>
                  <a:schemeClr val="tx1"/>
                </a:solidFill>
              </a:rPr>
              <a:pPr eaLnBrk="1" hangingPunct="1"/>
              <a:t>20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414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748FAD12-E142-4E74-9CAB-045D31D1FB53}" type="slidenum">
              <a:rPr lang="en-US" sz="1200" smtClean="0">
                <a:solidFill>
                  <a:schemeClr val="tx1"/>
                </a:solidFill>
              </a:rPr>
              <a:pPr eaLnBrk="1" hangingPunct="1"/>
              <a:t>21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8382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ABFA4ED8-F7F7-401B-A8C1-754B1369BDAA}" type="slidenum">
              <a:rPr lang="en-US" sz="1200" smtClean="0">
                <a:solidFill>
                  <a:schemeClr val="tx1"/>
                </a:solidFill>
              </a:rPr>
              <a:pPr eaLnBrk="1" hangingPunct="1"/>
              <a:t>22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9163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88722C-83EB-4D61-9B1B-734C99C46D9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6575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FE0D470B-85E1-48AD-BAC5-A876D0159FE4}" type="slidenum">
              <a:rPr lang="en-US" sz="1200" smtClean="0">
                <a:solidFill>
                  <a:schemeClr val="tx1"/>
                </a:solidFill>
              </a:rPr>
              <a:pPr eaLnBrk="1" hangingPunct="1"/>
              <a:t>24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3346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9EB91854-9A2A-449A-A729-8FE10F710876}" type="slidenum">
              <a:rPr lang="en-US" sz="1200" smtClean="0">
                <a:solidFill>
                  <a:schemeClr val="tx1"/>
                </a:solidFill>
              </a:rPr>
              <a:pPr eaLnBrk="1" hangingPunct="1"/>
              <a:t>25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9340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77848F94-DB80-4C8F-A881-73875BDCD9AB}" type="slidenum">
              <a:rPr lang="en-US" sz="1200" smtClean="0">
                <a:solidFill>
                  <a:schemeClr val="tx1"/>
                </a:solidFill>
              </a:rPr>
              <a:pPr eaLnBrk="1" hangingPunct="1"/>
              <a:t>26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6478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EB93643E-B9A6-41D6-9D1B-1350F05F5BB6}" type="slidenum">
              <a:rPr lang="en-US" sz="1200" smtClean="0">
                <a:solidFill>
                  <a:schemeClr val="tx1"/>
                </a:solidFill>
              </a:rPr>
              <a:pPr eaLnBrk="1" hangingPunct="1"/>
              <a:t>27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0400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EB93643E-B9A6-41D6-9D1B-1350F05F5BB6}" type="slidenum">
              <a:rPr lang="en-US" sz="1200" smtClean="0">
                <a:solidFill>
                  <a:schemeClr val="tx1"/>
                </a:solidFill>
              </a:rPr>
              <a:pPr eaLnBrk="1" hangingPunct="1"/>
              <a:t>28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4575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F3FB2878-6975-4314-BF87-B57916E75A32}" type="slidenum">
              <a:rPr lang="en-US" sz="1200" smtClean="0">
                <a:solidFill>
                  <a:schemeClr val="tx1"/>
                </a:solidFill>
              </a:rPr>
              <a:pPr eaLnBrk="1" hangingPunct="1"/>
              <a:t>29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0636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F9F7D691-34E0-4217-B591-8617BCB5C780}" type="slidenum">
              <a:rPr lang="en-US" sz="1200" smtClean="0">
                <a:solidFill>
                  <a:schemeClr val="tx1"/>
                </a:solidFill>
              </a:rPr>
              <a:pPr eaLnBrk="1" hangingPunct="1"/>
              <a:t>30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3887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2F5C8FB2-B7BF-4C6A-B605-23D8CE019DDA}" type="slidenum">
              <a:rPr lang="en-US" sz="1200" smtClean="0">
                <a:solidFill>
                  <a:schemeClr val="tx1"/>
                </a:solidFill>
              </a:rPr>
              <a:pPr eaLnBrk="1" hangingPunct="1"/>
              <a:t>31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2621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6103F14C-6CC0-44D0-9FE1-CF45F41F5354}" type="slidenum">
              <a:rPr lang="en-US" sz="1200" smtClean="0">
                <a:solidFill>
                  <a:schemeClr val="tx1"/>
                </a:solidFill>
              </a:rPr>
              <a:pPr eaLnBrk="1" hangingPunct="1"/>
              <a:t>32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0900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C6B790B6-1D51-4563-853D-ACEEFCB71D9C}" type="slidenum">
              <a:rPr lang="en-US" sz="1200" smtClean="0">
                <a:solidFill>
                  <a:schemeClr val="tx1"/>
                </a:solidFill>
              </a:rPr>
              <a:pPr eaLnBrk="1" hangingPunct="1"/>
              <a:t>33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1915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47DFB76A-57FD-490D-8705-4D328DFA97DF}" type="slidenum">
              <a:rPr lang="en-US" sz="1200" smtClean="0">
                <a:solidFill>
                  <a:schemeClr val="tx1"/>
                </a:solidFill>
              </a:rPr>
              <a:pPr eaLnBrk="1" hangingPunct="1"/>
              <a:t>34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9407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A362728C-9BA2-45F3-AFA2-C213A7BEEA79}" type="slidenum">
              <a:rPr lang="en-US" sz="1200" smtClean="0">
                <a:solidFill>
                  <a:schemeClr val="tx1"/>
                </a:solidFill>
              </a:rPr>
              <a:pPr eaLnBrk="1" hangingPunct="1"/>
              <a:t>35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5657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88722C-83EB-4D61-9B1B-734C99C46D93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5844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0C56506-53C0-42BE-A9D9-F5C75686AF29}" type="slidenum">
              <a:rPr lang="en-US" sz="1200" smtClean="0">
                <a:solidFill>
                  <a:schemeClr val="tx1"/>
                </a:solidFill>
              </a:rPr>
              <a:pPr eaLnBrk="1" hangingPunct="1"/>
              <a:t>37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2007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FDFC8C41-0EA3-413D-9736-106BC4140598}" type="slidenum">
              <a:rPr lang="en-US" sz="1200" smtClean="0">
                <a:solidFill>
                  <a:schemeClr val="tx1"/>
                </a:solidFill>
              </a:rPr>
              <a:pPr eaLnBrk="1" hangingPunct="1"/>
              <a:t>38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3971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55F83855-9D86-4880-9833-C5AFF1DCCAAE}" type="slidenum">
              <a:rPr lang="en-US" sz="1200" smtClean="0">
                <a:solidFill>
                  <a:schemeClr val="tx1"/>
                </a:solidFill>
              </a:rPr>
              <a:pPr eaLnBrk="1" hangingPunct="1"/>
              <a:t>39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8221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" charset="0"/>
              </a:defRPr>
            </a:lvl9pPr>
          </a:lstStyle>
          <a:p>
            <a:pPr eaLnBrk="1" hangingPunct="1"/>
            <a:fld id="{DB893105-3755-4B3B-B875-7D331DE58C3D}" type="slidenum">
              <a:rPr lang="en-US" sz="1200" smtClean="0">
                <a:solidFill>
                  <a:schemeClr val="tx1"/>
                </a:solidFill>
              </a:rPr>
              <a:pPr eaLnBrk="1" hangingPunct="1"/>
              <a:t>40</a:t>
            </a:fld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249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85407B-C100-4DAB-91B2-AD165318D2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156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3397A-E6AD-468F-8389-E4D0A5AF6B5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97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18ABD-8381-4992-AE03-D0DF34692A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553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8E948D-60EC-4E15-BAE9-39B7BA43A3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708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4D4A4-29B6-4DF0-8D2E-6D3D4B81F5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12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5EA75-45DA-4F11-9698-422FD74A67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185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C3E5A-1CE8-4038-94E4-A92ACBC0EAB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664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FFFBBD-7241-45F6-8388-BE214650D04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26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865414-7608-4024-B9C3-CDDEC651B3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342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66FF4C-3C68-4BC6-8F7D-74D14EC8BCA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49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3E0D5-CE9B-4402-B5EB-9A613A0873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223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0" y="3581400"/>
            <a:ext cx="4800600" cy="1981200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Chapter 1: </a:t>
            </a:r>
          </a:p>
          <a:p>
            <a:r>
              <a:rPr lang="en-US" dirty="0" smtClean="0"/>
              <a:t>Title Goes Here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138"/>
            <a:ext cx="5343525" cy="6257862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D3397A-E6AD-468F-8389-E4D0A5AF6B5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6324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D18ABD-8381-4992-AE03-D0DF34692AC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E948D-60EC-4E15-BAE9-39B7BA43A3A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D4A4-29B6-4DF0-8D2E-6D3D4B81F55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D5EA75-45DA-4F11-9698-422FD74A67E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C3E5A-1CE8-4038-94E4-A92ACBC0EA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FFFBBD-7241-45F6-8388-BE214650D0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865414-7608-4024-B9C3-CDDEC651B37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66FF4C-3C68-4BC6-8F7D-74D14EC8BCA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3E0D5-CE9B-4402-B5EB-9A613A0873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566899-FDC1-4EAE-94B1-ACF8DC0E27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76400"/>
            <a:ext cx="8077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solidFill>
                  <a:srgbClr val="222222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solidFill>
                  <a:srgbClr val="222222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29566899-FDC1-4EAE-94B1-ACF8DC0E27B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DECOLORED2.jpg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1481279F-7F58-40A0-81F2-620DAC39CFF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662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dirty="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4038600" y="6356350"/>
            <a:ext cx="3657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smtClean="0">
                <a:solidFill>
                  <a:schemeClr val="tx1"/>
                </a:solidFill>
              </a:rPr>
              <a:t>© 2016 Cengage Learning®. May not be scanned, copied or duplicated, or posted to a publicly accessible website, in whole or in part.</a:t>
            </a:r>
          </a:p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558ED5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400" dirty="0" smtClean="0"/>
              <a:t>Chapter 6:</a:t>
            </a:r>
          </a:p>
          <a:p>
            <a:pPr eaLnBrk="1" hangingPunct="1">
              <a:lnSpc>
                <a:spcPct val="90000"/>
              </a:lnSpc>
            </a:pPr>
            <a:r>
              <a:rPr lang="en-US" sz="3400" dirty="0" smtClean="0"/>
              <a:t>Using Arrays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Declare an array and assign values to array elements</a:t>
            </a:r>
          </a:p>
          <a:p>
            <a:pPr eaLnBrk="1" hangingPunct="1"/>
            <a:r>
              <a:rPr lang="en-US" dirty="0" smtClean="0"/>
              <a:t>Access array elements</a:t>
            </a:r>
          </a:p>
          <a:p>
            <a:pPr eaLnBrk="1" hangingPunct="1"/>
            <a:r>
              <a:rPr lang="en-US" dirty="0" smtClean="0"/>
              <a:t>Search an array using a loop</a:t>
            </a:r>
          </a:p>
          <a:p>
            <a:pPr eaLnBrk="1" hangingPunct="1"/>
            <a:r>
              <a:rPr lang="en-US" dirty="0" smtClean="0"/>
              <a:t>Use the </a:t>
            </a:r>
            <a:r>
              <a:rPr lang="en-US" dirty="0" smtClean="0">
                <a:latin typeface="Courier New" pitchFamily="1" charset="0"/>
              </a:rPr>
              <a:t>BinarySearch()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1" charset="0"/>
              </a:rPr>
              <a:t>Sort()</a:t>
            </a:r>
            <a:r>
              <a:rPr lang="en-US" dirty="0" smtClean="0"/>
              <a:t>, and </a:t>
            </a:r>
            <a:r>
              <a:rPr lang="en-US" dirty="0" smtClean="0">
                <a:latin typeface="Courier New" pitchFamily="1" charset="0"/>
              </a:rPr>
              <a:t>Reverse()</a:t>
            </a:r>
            <a:r>
              <a:rPr lang="en-US" dirty="0" smtClean="0"/>
              <a:t> methods</a:t>
            </a:r>
          </a:p>
          <a:p>
            <a:pPr eaLnBrk="1" hangingPunct="1"/>
            <a:r>
              <a:rPr lang="en-US" dirty="0" smtClean="0"/>
              <a:t>Use multidimensional arrays </a:t>
            </a:r>
          </a:p>
          <a:p>
            <a:pPr eaLnBrk="1" hangingPunct="1"/>
            <a:r>
              <a:rPr lang="en-US" dirty="0" smtClean="0"/>
              <a:t>Learn about array issues in GUI programs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A527D9-8EFB-4640-A296-7E2BE4909469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spc="-200" dirty="0" smtClean="0"/>
              <a:t>Objectives</a:t>
            </a:r>
            <a:endParaRPr lang="en-US" spc="-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Declaring an Array and Assigning Values to Array Elements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smtClean="0"/>
              <a:t>Array</a:t>
            </a:r>
          </a:p>
          <a:p>
            <a:pPr lvl="1" eaLnBrk="1" hangingPunct="1"/>
            <a:r>
              <a:rPr lang="en-US" dirty="0" smtClean="0"/>
              <a:t>A list of data items that all have the same data type and the same name</a:t>
            </a:r>
          </a:p>
          <a:p>
            <a:pPr lvl="1" eaLnBrk="1" hangingPunct="1"/>
            <a:r>
              <a:rPr lang="en-US" dirty="0" smtClean="0"/>
              <a:t>Each item is distinguished from the others by an index</a:t>
            </a:r>
          </a:p>
          <a:p>
            <a:pPr eaLnBrk="1" hangingPunct="1">
              <a:spcBef>
                <a:spcPct val="0"/>
              </a:spcBef>
            </a:pPr>
            <a:r>
              <a:rPr lang="en-US" dirty="0" smtClean="0"/>
              <a:t>Declaring and creating an array</a:t>
            </a:r>
          </a:p>
          <a:p>
            <a:pPr lvl="1" eaLnBrk="1" hangingPunct="1">
              <a:buFontTx/>
              <a:buNone/>
            </a:pPr>
            <a:r>
              <a:rPr lang="en-US" dirty="0" smtClean="0">
                <a:latin typeface="Courier New" pitchFamily="1" charset="0"/>
              </a:rPr>
              <a:t>	double[] sales;</a:t>
            </a:r>
          </a:p>
          <a:p>
            <a:pPr lvl="1" eaLnBrk="1" hangingPunct="1">
              <a:buFontTx/>
              <a:buNone/>
            </a:pPr>
            <a:r>
              <a:rPr lang="en-US" dirty="0" smtClean="0">
                <a:latin typeface="Courier New" pitchFamily="1" charset="0"/>
              </a:rPr>
              <a:t>	sales = new double[20];</a:t>
            </a:r>
          </a:p>
          <a:p>
            <a:pPr eaLnBrk="1" hangingPunct="1"/>
            <a:r>
              <a:rPr lang="en-US" b="1" dirty="0" smtClean="0">
                <a:latin typeface="Courier New" pitchFamily="1" charset="0"/>
              </a:rPr>
              <a:t>new</a:t>
            </a:r>
            <a:r>
              <a:rPr lang="en-US" b="1" dirty="0" smtClean="0"/>
              <a:t> operator</a:t>
            </a:r>
          </a:p>
          <a:p>
            <a:pPr lvl="1" eaLnBrk="1" hangingPunct="1"/>
            <a:r>
              <a:rPr lang="en-US" dirty="0" smtClean="0"/>
              <a:t>Used to create objects</a:t>
            </a:r>
          </a:p>
          <a:p>
            <a:pPr eaLnBrk="1" hangingPunct="1"/>
            <a:r>
              <a:rPr lang="en-US" dirty="0" smtClean="0"/>
              <a:t>You can change the size of an array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C98107-2A12-4C44-A4C9-C1D8A8244797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Declaring an Array and Assigning Values to Array Elements </a:t>
            </a: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itchFamily="1" charset="0"/>
                <a:ea typeface="+mn-ea"/>
                <a:cs typeface="+mn-cs"/>
              </a:rPr>
              <a:t>(cont’d.)</a:t>
            </a:r>
            <a:endParaRPr lang="en-US" sz="4000" spc="-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b="1" dirty="0" smtClean="0"/>
              <a:t>Array element</a:t>
            </a:r>
          </a:p>
          <a:p>
            <a:pPr lvl="1" eaLnBrk="1" hangingPunct="1"/>
            <a:r>
              <a:rPr lang="en-US" dirty="0" smtClean="0"/>
              <a:t>Each object in an array</a:t>
            </a:r>
          </a:p>
          <a:p>
            <a:pPr eaLnBrk="1" hangingPunct="1">
              <a:spcBef>
                <a:spcPct val="0"/>
              </a:spcBef>
            </a:pPr>
            <a:r>
              <a:rPr lang="en-US" b="1" dirty="0" smtClean="0"/>
              <a:t>Subscript </a:t>
            </a:r>
            <a:r>
              <a:rPr lang="en-US" dirty="0" smtClean="0"/>
              <a:t>(or </a:t>
            </a:r>
            <a:r>
              <a:rPr lang="en-US" b="1" dirty="0" smtClean="0"/>
              <a:t>index</a:t>
            </a:r>
            <a:r>
              <a:rPr lang="en-US" dirty="0" smtClean="0"/>
              <a:t>)</a:t>
            </a:r>
          </a:p>
          <a:p>
            <a:pPr lvl="1" eaLnBrk="1" hangingPunct="1"/>
            <a:r>
              <a:rPr lang="en-US" dirty="0" smtClean="0"/>
              <a:t>An integer contained within square brackets that indicates the position of one of an array’s elements</a:t>
            </a:r>
          </a:p>
          <a:p>
            <a:pPr lvl="1" eaLnBrk="1" hangingPunct="1">
              <a:spcBef>
                <a:spcPct val="0"/>
              </a:spcBef>
            </a:pPr>
            <a:r>
              <a:rPr lang="en-US" dirty="0" smtClean="0"/>
              <a:t>An array’s elements are numbered beginning with 0</a:t>
            </a:r>
            <a:endParaRPr lang="en-US" sz="1800" dirty="0" smtClean="0">
              <a:latin typeface="Courier New" pitchFamily="1" charset="0"/>
            </a:endParaRPr>
          </a:p>
          <a:p>
            <a:pPr eaLnBrk="1" hangingPunct="1"/>
            <a:r>
              <a:rPr lang="en-US" dirty="0" smtClean="0"/>
              <a:t>“Off by one”</a:t>
            </a:r>
          </a:p>
          <a:p>
            <a:pPr lvl="1"/>
            <a:r>
              <a:rPr lang="en-US" dirty="0" smtClean="0"/>
              <a:t>Remember to start counting at zero!</a:t>
            </a:r>
          </a:p>
          <a:p>
            <a:pPr lvl="2"/>
            <a:r>
              <a:rPr lang="en-US" dirty="0" smtClean="0"/>
              <a:t>Item 1 in an array is Element [0]</a:t>
            </a:r>
          </a:p>
          <a:p>
            <a:pPr lvl="2"/>
            <a:r>
              <a:rPr lang="en-US" dirty="0"/>
              <a:t>Item </a:t>
            </a:r>
            <a:r>
              <a:rPr lang="en-US" dirty="0" smtClean="0"/>
              <a:t>2 </a:t>
            </a:r>
            <a:r>
              <a:rPr lang="en-US" dirty="0"/>
              <a:t>in </a:t>
            </a:r>
            <a:r>
              <a:rPr lang="en-US" dirty="0" smtClean="0"/>
              <a:t>an array </a:t>
            </a:r>
            <a:r>
              <a:rPr lang="en-US" dirty="0"/>
              <a:t>is Element </a:t>
            </a:r>
            <a:r>
              <a:rPr lang="en-US" dirty="0" smtClean="0"/>
              <a:t>[1]</a:t>
            </a:r>
            <a:endParaRPr lang="en-US" dirty="0"/>
          </a:p>
          <a:p>
            <a:pPr lvl="1" eaLnBrk="1" hangingPunct="1"/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6DAFBE-6D9C-4B6D-9371-661EA30FF679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 smtClean="0"/>
              <a:t>Declaring an Array and Assigning Values to </a:t>
            </a:r>
            <a:r>
              <a:rPr lang="en-US" sz="4000" spc="-200" dirty="0"/>
              <a:t>Array Elements </a:t>
            </a: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itchFamily="1" charset="0"/>
              </a:rPr>
              <a:t>(cont’d.)</a:t>
            </a:r>
            <a:endParaRPr lang="en-US" sz="4000" spc="-200" dirty="0" smtClean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34C294-8478-42ED-BE93-89D6E2520630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174" y="1584959"/>
            <a:ext cx="3248025" cy="4841005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199" y="1600200"/>
            <a:ext cx="4800601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Assigning a value to an array element</a:t>
            </a:r>
          </a:p>
          <a:p>
            <a:pPr>
              <a:buFontTx/>
              <a:buNone/>
            </a:pPr>
            <a:r>
              <a:rPr lang="en-US" dirty="0" smtClean="0"/>
              <a:t>	</a:t>
            </a:r>
            <a:r>
              <a:rPr lang="en-US" sz="2400" dirty="0" smtClean="0">
                <a:latin typeface="Courier New" pitchFamily="1" charset="0"/>
              </a:rPr>
              <a:t>sales[0] = 2100.00;</a:t>
            </a:r>
            <a:endParaRPr lang="en-US" sz="2400" dirty="0" smtClean="0"/>
          </a:p>
          <a:p>
            <a:r>
              <a:rPr lang="en-US" dirty="0" smtClean="0"/>
              <a:t>Printing an element value</a:t>
            </a:r>
          </a:p>
          <a:p>
            <a:pPr>
              <a:buFontTx/>
              <a:buNone/>
            </a:pPr>
            <a:r>
              <a:rPr lang="en-US" dirty="0" smtClean="0"/>
              <a:t>	</a:t>
            </a:r>
            <a:r>
              <a:rPr lang="en-US" sz="2400" dirty="0" err="1" smtClean="0">
                <a:latin typeface="Courier New" pitchFamily="1" charset="0"/>
              </a:rPr>
              <a:t>WriteLine</a:t>
            </a:r>
            <a:r>
              <a:rPr lang="en-US" sz="2400" dirty="0" smtClean="0">
                <a:latin typeface="Courier New" pitchFamily="1" charset="0"/>
              </a:rPr>
              <a:t>(sales[19]);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Initializing an Array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 smtClean="0"/>
              <a:t>In C#, arrays are objects</a:t>
            </a:r>
          </a:p>
          <a:p>
            <a:pPr lvl="1" eaLnBrk="1" hangingPunct="1"/>
            <a:r>
              <a:rPr lang="en-US" dirty="0" smtClean="0"/>
              <a:t>Arrays are instances of a class named </a:t>
            </a:r>
            <a:r>
              <a:rPr lang="en-US" dirty="0" smtClean="0">
                <a:latin typeface="Courier New" pitchFamily="1" charset="0"/>
              </a:rPr>
              <a:t>System.Array</a:t>
            </a:r>
          </a:p>
          <a:p>
            <a:pPr eaLnBrk="1" hangingPunct="1"/>
            <a:r>
              <a:rPr lang="en-US" dirty="0" smtClean="0"/>
              <a:t>Initializing objects</a:t>
            </a:r>
          </a:p>
          <a:p>
            <a:pPr lvl="1" eaLnBrk="1" hangingPunct="1"/>
            <a:r>
              <a:rPr lang="en-US" dirty="0" smtClean="0"/>
              <a:t>Numeric fields are set to  0</a:t>
            </a:r>
          </a:p>
          <a:p>
            <a:pPr lvl="1"/>
            <a:r>
              <a:rPr lang="en-US" dirty="0" smtClean="0"/>
              <a:t>Character </a:t>
            </a:r>
            <a:r>
              <a:rPr lang="en-US" dirty="0"/>
              <a:t>fields </a:t>
            </a:r>
            <a:r>
              <a:rPr lang="en-US" dirty="0" smtClean="0"/>
              <a:t>are </a:t>
            </a:r>
            <a:r>
              <a:rPr lang="en-US" dirty="0"/>
              <a:t>set to </a:t>
            </a:r>
            <a:r>
              <a:rPr lang="en-US" dirty="0" smtClean="0"/>
              <a:t>‘\u0000’ or </a:t>
            </a:r>
            <a:r>
              <a:rPr lang="en-US" dirty="0" smtClean="0">
                <a:latin typeface="Courier New" pitchFamily="1" charset="0"/>
              </a:rPr>
              <a:t>null</a:t>
            </a:r>
          </a:p>
          <a:p>
            <a:pPr lvl="1"/>
            <a:r>
              <a:rPr lang="en-US" dirty="0" err="1" smtClean="0">
                <a:latin typeface="Courier New" pitchFamily="1" charset="0"/>
              </a:rPr>
              <a:t>bool</a:t>
            </a:r>
            <a:r>
              <a:rPr lang="en-US" dirty="0" smtClean="0"/>
              <a:t> </a:t>
            </a:r>
            <a:r>
              <a:rPr lang="en-US" dirty="0"/>
              <a:t>fields </a:t>
            </a:r>
            <a:r>
              <a:rPr lang="en-US" dirty="0" smtClean="0"/>
              <a:t>are </a:t>
            </a:r>
            <a:r>
              <a:rPr lang="en-US" dirty="0"/>
              <a:t>set to </a:t>
            </a:r>
            <a:r>
              <a:rPr lang="en-US" dirty="0" smtClean="0">
                <a:latin typeface="Courier New" pitchFamily="1" charset="0"/>
              </a:rPr>
              <a:t>false</a:t>
            </a:r>
          </a:p>
          <a:p>
            <a:pPr eaLnBrk="1" hangingPunct="1"/>
            <a:r>
              <a:rPr lang="en-US" b="1" dirty="0" smtClean="0"/>
              <a:t>Initializer list</a:t>
            </a:r>
          </a:p>
          <a:p>
            <a:pPr lvl="1" eaLnBrk="1" hangingPunct="1"/>
            <a:r>
              <a:rPr lang="en-US" dirty="0" smtClean="0"/>
              <a:t>A list of values provided for an array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90C55D-9C43-4518-AB63-65BEA9558828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Initializing an Array </a:t>
            </a: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itchFamily="1" charset="0"/>
              </a:rPr>
              <a:t>(cont’d.)</a:t>
            </a:r>
            <a:endParaRPr lang="en-US" sz="1200" spc="-200" dirty="0"/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An</a:t>
            </a:r>
            <a:r>
              <a:rPr lang="en-US" b="1" dirty="0" smtClean="0"/>
              <a:t> Initializer list </a:t>
            </a:r>
            <a:r>
              <a:rPr lang="en-US" dirty="0" smtClean="0"/>
              <a:t>is </a:t>
            </a: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list of values provided for an array </a:t>
            </a:r>
            <a:endParaRPr lang="en-US" dirty="0" smtClean="0"/>
          </a:p>
          <a:p>
            <a:pPr lvl="1">
              <a:defRPr/>
            </a:pPr>
            <a:r>
              <a:rPr lang="en-US" dirty="0"/>
              <a:t>E</a:t>
            </a:r>
            <a:r>
              <a:rPr lang="en-US" dirty="0" smtClean="0"/>
              <a:t>xamples (each does the same thing)</a:t>
            </a:r>
          </a:p>
          <a:p>
            <a:pPr marL="3544888" lvl="1" indent="-3087688" eaLnBrk="1" hangingPunct="1">
              <a:buFontTx/>
              <a:buNone/>
              <a:defRPr/>
            </a:pPr>
            <a:r>
              <a:rPr lang="en-US" sz="1800" dirty="0" err="1" smtClean="0">
                <a:latin typeface="Courier New" pitchFamily="49" charset="0"/>
              </a:rPr>
              <a:t>int</a:t>
            </a:r>
            <a:r>
              <a:rPr lang="en-US" sz="1800" dirty="0" smtClean="0">
                <a:latin typeface="Courier New" pitchFamily="49" charset="0"/>
              </a:rPr>
              <a:t>[] </a:t>
            </a:r>
            <a:r>
              <a:rPr lang="en-US" sz="1800" dirty="0" err="1" smtClean="0">
                <a:latin typeface="Courier New" pitchFamily="49" charset="0"/>
              </a:rPr>
              <a:t>myScores</a:t>
            </a:r>
            <a:r>
              <a:rPr lang="en-US" sz="1800" dirty="0" smtClean="0">
                <a:latin typeface="Courier New" pitchFamily="49" charset="0"/>
              </a:rPr>
              <a:t> = new </a:t>
            </a:r>
            <a:r>
              <a:rPr lang="en-US" sz="1800" dirty="0" err="1" smtClean="0">
                <a:latin typeface="Courier New" pitchFamily="49" charset="0"/>
              </a:rPr>
              <a:t>int</a:t>
            </a:r>
            <a:r>
              <a:rPr lang="en-US" sz="1800" dirty="0" smtClean="0">
                <a:latin typeface="Courier New" pitchFamily="49" charset="0"/>
              </a:rPr>
              <a:t>[5] 	{100, 76, 88, 100, 90};</a:t>
            </a:r>
          </a:p>
          <a:p>
            <a:pPr marL="3602038" lvl="1" indent="-3144838" eaLnBrk="1" hangingPunct="1">
              <a:buFontTx/>
              <a:buNone/>
              <a:defRPr/>
            </a:pPr>
            <a:r>
              <a:rPr lang="en-US" sz="1800" dirty="0" err="1" smtClean="0">
                <a:latin typeface="Courier New" pitchFamily="49" charset="0"/>
              </a:rPr>
              <a:t>int</a:t>
            </a:r>
            <a:r>
              <a:rPr lang="en-US" sz="1800" dirty="0" smtClean="0">
                <a:latin typeface="Courier New" pitchFamily="49" charset="0"/>
              </a:rPr>
              <a:t>[] myScores = new int[]  	{100, 76, 88, 100, 90};</a:t>
            </a:r>
          </a:p>
          <a:p>
            <a:pPr lvl="1" eaLnBrk="1" hangingPunct="1">
              <a:buFontTx/>
              <a:buNone/>
              <a:defRPr/>
            </a:pPr>
            <a:r>
              <a:rPr lang="en-US" sz="1800" dirty="0" smtClean="0">
                <a:latin typeface="Courier New" pitchFamily="49" charset="0"/>
              </a:rPr>
              <a:t>int[] myScores = 	     	{100, 76, 88, 100, 90};</a:t>
            </a:r>
          </a:p>
          <a:p>
            <a:pPr lvl="2">
              <a:defRPr/>
            </a:pPr>
            <a:r>
              <a:rPr lang="en-US" dirty="0" smtClean="0"/>
              <a:t>If you </a:t>
            </a:r>
            <a:r>
              <a:rPr lang="en-US" dirty="0"/>
              <a:t>declare a size, then you must list a value for each </a:t>
            </a:r>
            <a:r>
              <a:rPr lang="en-US" dirty="0" smtClean="0"/>
              <a:t>element (example 1)</a:t>
            </a:r>
          </a:p>
          <a:p>
            <a:pPr lvl="2">
              <a:defRPr/>
            </a:pPr>
            <a:r>
              <a:rPr lang="en-US" dirty="0"/>
              <a:t>If you initialize an array with values, you are not required to give the array a size  (example 2)</a:t>
            </a:r>
          </a:p>
          <a:p>
            <a:pPr lvl="2"/>
            <a:r>
              <a:rPr lang="en-US" dirty="0" smtClean="0"/>
              <a:t>If you </a:t>
            </a:r>
            <a:r>
              <a:rPr lang="en-US" dirty="0"/>
              <a:t>initialize an array, you do not need to use the keyword </a:t>
            </a:r>
            <a:r>
              <a:rPr lang="en-US" b="1" dirty="0" smtClean="0"/>
              <a:t>new</a:t>
            </a:r>
            <a:r>
              <a:rPr lang="en-US" dirty="0" smtClean="0"/>
              <a:t> (example 3)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BE7CFE-9319-438D-8D16-BBD02BA9177A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Accessing Array Elements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The power of arrays becomes apparent when you use subscripts that are variables rather than constant values</a:t>
            </a:r>
          </a:p>
          <a:p>
            <a:pPr lvl="1"/>
            <a:r>
              <a:rPr lang="en-US" dirty="0" smtClean="0"/>
              <a:t>Remember that variables can change values</a:t>
            </a:r>
          </a:p>
          <a:p>
            <a:pPr eaLnBrk="1" hangingPunct="1"/>
            <a:r>
              <a:rPr lang="en-US" dirty="0" smtClean="0"/>
              <a:t>Using a loop to perform arithmetic on each element</a:t>
            </a:r>
          </a:p>
          <a:p>
            <a:pPr marL="0" indent="0">
              <a:buNone/>
            </a:pPr>
            <a:r>
              <a:rPr lang="en-US" sz="1800" dirty="0" smtClean="0">
                <a:latin typeface="Courier New" pitchFamily="1" charset="0"/>
              </a:rPr>
              <a:t>   </a:t>
            </a:r>
            <a:r>
              <a:rPr lang="en-US" sz="1800" dirty="0" err="1" smtClean="0">
                <a:latin typeface="Courier New" pitchFamily="1" charset="0"/>
              </a:rPr>
              <a:t>int</a:t>
            </a:r>
            <a:r>
              <a:rPr lang="en-US" sz="1800" dirty="0" smtClean="0">
                <a:latin typeface="Courier New" pitchFamily="1" charset="0"/>
              </a:rPr>
              <a:t> </a:t>
            </a:r>
            <a:r>
              <a:rPr lang="en-US" sz="1800" dirty="0">
                <a:latin typeface="Courier New" pitchFamily="1" charset="0"/>
              </a:rPr>
              <a:t>sub = 0</a:t>
            </a:r>
            <a:r>
              <a:rPr lang="en-US" sz="1800" dirty="0" smtClean="0">
                <a:latin typeface="Courier New" pitchFamily="1" charset="0"/>
              </a:rPr>
              <a:t>;   		for(</a:t>
            </a:r>
            <a:r>
              <a:rPr lang="en-US" sz="1800" dirty="0" err="1" smtClean="0">
                <a:latin typeface="Courier New" pitchFamily="1" charset="0"/>
              </a:rPr>
              <a:t>int</a:t>
            </a:r>
            <a:r>
              <a:rPr lang="en-US" sz="1800" dirty="0" smtClean="0">
                <a:latin typeface="Courier New" pitchFamily="1" charset="0"/>
              </a:rPr>
              <a:t> </a:t>
            </a:r>
            <a:r>
              <a:rPr lang="en-US" sz="1800" dirty="0">
                <a:latin typeface="Courier New" pitchFamily="1" charset="0"/>
              </a:rPr>
              <a:t>sub = 0; sub &lt; 5; ++sub)</a:t>
            </a:r>
          </a:p>
          <a:p>
            <a:pPr marL="0" indent="0">
              <a:buNone/>
            </a:pPr>
            <a:r>
              <a:rPr lang="en-US" sz="1800" dirty="0" smtClean="0">
                <a:latin typeface="Courier New" pitchFamily="1" charset="0"/>
              </a:rPr>
              <a:t>   while(sub </a:t>
            </a:r>
            <a:r>
              <a:rPr lang="en-US" sz="1800" dirty="0">
                <a:latin typeface="Courier New" pitchFamily="1" charset="0"/>
              </a:rPr>
              <a:t>&lt; 5</a:t>
            </a:r>
            <a:r>
              <a:rPr lang="en-US" sz="1800" dirty="0" smtClean="0">
                <a:latin typeface="Courier New" pitchFamily="1" charset="0"/>
              </a:rPr>
              <a:t>)	   	  </a:t>
            </a:r>
            <a:r>
              <a:rPr lang="en-US" sz="1800" dirty="0" err="1" smtClean="0">
                <a:latin typeface="Courier New" pitchFamily="1" charset="0"/>
              </a:rPr>
              <a:t>myScores</a:t>
            </a:r>
            <a:r>
              <a:rPr lang="en-US" sz="1800" dirty="0" smtClean="0">
                <a:latin typeface="Courier New" pitchFamily="1" charset="0"/>
              </a:rPr>
              <a:t>[sub</a:t>
            </a:r>
            <a:r>
              <a:rPr lang="en-US" sz="1800" dirty="0">
                <a:latin typeface="Courier New" pitchFamily="1" charset="0"/>
              </a:rPr>
              <a:t>] += 3;</a:t>
            </a:r>
          </a:p>
          <a:p>
            <a:pPr marL="0" indent="0">
              <a:buNone/>
            </a:pPr>
            <a:r>
              <a:rPr lang="en-US" sz="1800" dirty="0" smtClean="0">
                <a:latin typeface="Courier New" pitchFamily="1" charset="0"/>
              </a:rPr>
              <a:t>     {</a:t>
            </a:r>
            <a:endParaRPr lang="en-US" sz="1800" dirty="0">
              <a:latin typeface="Courier New" pitchFamily="1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Courier New" pitchFamily="1" charset="0"/>
              </a:rPr>
              <a:t>      </a:t>
            </a:r>
            <a:r>
              <a:rPr lang="en-US" sz="1800" dirty="0" err="1" smtClean="0">
                <a:latin typeface="Courier New" pitchFamily="1" charset="0"/>
              </a:rPr>
              <a:t>myScores</a:t>
            </a:r>
            <a:r>
              <a:rPr lang="en-US" sz="1800" dirty="0" smtClean="0">
                <a:latin typeface="Courier New" pitchFamily="1" charset="0"/>
              </a:rPr>
              <a:t>[sub</a:t>
            </a:r>
            <a:r>
              <a:rPr lang="en-US" sz="1800" dirty="0">
                <a:latin typeface="Courier New" pitchFamily="1" charset="0"/>
              </a:rPr>
              <a:t>] += 3;</a:t>
            </a:r>
          </a:p>
          <a:p>
            <a:pPr marL="0" indent="0">
              <a:buNone/>
            </a:pPr>
            <a:r>
              <a:rPr lang="en-US" sz="1800" dirty="0" smtClean="0">
                <a:latin typeface="Courier New" pitchFamily="1" charset="0"/>
              </a:rPr>
              <a:t>      ++</a:t>
            </a:r>
            <a:r>
              <a:rPr lang="en-US" sz="1800" dirty="0">
                <a:latin typeface="Courier New" pitchFamily="1" charset="0"/>
              </a:rPr>
              <a:t>sub;</a:t>
            </a:r>
          </a:p>
          <a:p>
            <a:pPr marL="0" indent="0">
              <a:buNone/>
            </a:pPr>
            <a:r>
              <a:rPr lang="en-US" sz="1800" dirty="0" smtClean="0">
                <a:latin typeface="Courier New" pitchFamily="1" charset="0"/>
              </a:rPr>
              <a:t>     }</a:t>
            </a:r>
            <a:r>
              <a:rPr lang="en-US" sz="2000" dirty="0" smtClean="0">
                <a:latin typeface="Courier New" pitchFamily="1" charset="0"/>
              </a:rPr>
              <a:t>	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F291FB-15D3-4EE8-BC92-23A0EF18D8A8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sp>
        <p:nvSpPr>
          <p:cNvPr id="2" name="Diagonal Stripe 1"/>
          <p:cNvSpPr/>
          <p:nvPr/>
        </p:nvSpPr>
        <p:spPr>
          <a:xfrm>
            <a:off x="3352800" y="4038600"/>
            <a:ext cx="685800" cy="838200"/>
          </a:xfrm>
          <a:prstGeom prst="diagStri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OR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sz="4000" spc="-200" dirty="0"/>
              <a:t> Property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b="1" dirty="0" smtClean="0">
                <a:latin typeface="Courier New" pitchFamily="1" charset="0"/>
              </a:rPr>
              <a:t>Length</a:t>
            </a:r>
            <a:r>
              <a:rPr lang="en-US" b="1" dirty="0" smtClean="0"/>
              <a:t> property</a:t>
            </a:r>
          </a:p>
          <a:p>
            <a:pPr lvl="1" eaLnBrk="1" hangingPunct="1"/>
            <a:r>
              <a:rPr lang="en-US" dirty="0" smtClean="0"/>
              <a:t>A member of the </a:t>
            </a:r>
            <a:r>
              <a:rPr lang="en-US" dirty="0" smtClean="0">
                <a:latin typeface="Courier New" pitchFamily="1" charset="0"/>
              </a:rPr>
              <a:t>System.Array</a:t>
            </a:r>
            <a:r>
              <a:rPr lang="en-US" dirty="0" smtClean="0"/>
              <a:t> class</a:t>
            </a:r>
          </a:p>
          <a:p>
            <a:pPr lvl="1" eaLnBrk="1" hangingPunct="1"/>
            <a:r>
              <a:rPr lang="en-US" dirty="0" smtClean="0"/>
              <a:t>Automatically holds an array’s length</a:t>
            </a:r>
          </a:p>
          <a:p>
            <a:pPr lvl="1"/>
            <a:r>
              <a:rPr lang="en-US" dirty="0"/>
              <a:t>If the subscript, or index, is greater than the last valid index (e.g., the index value is 20 for a 20-element array), you will get a </a:t>
            </a:r>
            <a:r>
              <a:rPr lang="en-US" dirty="0" err="1" smtClean="0"/>
              <a:t>System.IndexOutOfRangeException</a:t>
            </a:r>
            <a:r>
              <a:rPr lang="en-US" smtClean="0"/>
              <a:t>…the </a:t>
            </a:r>
            <a:r>
              <a:rPr lang="en-US" dirty="0"/>
              <a:t>highest valid index value is </a:t>
            </a:r>
            <a:r>
              <a:rPr lang="en-US" dirty="0" smtClean="0"/>
              <a:t>19</a:t>
            </a:r>
          </a:p>
          <a:p>
            <a:pPr eaLnBrk="1" hangingPunct="1"/>
            <a:r>
              <a:rPr lang="en-US" dirty="0" smtClean="0"/>
              <a:t>Examples</a:t>
            </a:r>
          </a:p>
          <a:p>
            <a:pPr lvl="1" eaLnBrk="1" hangingPunct="1">
              <a:buFontTx/>
              <a:buNone/>
            </a:pPr>
            <a:r>
              <a:rPr lang="en-US" sz="2000" dirty="0" err="1" smtClean="0">
                <a:latin typeface="Courier New" pitchFamily="1" charset="0"/>
              </a:rPr>
              <a:t>int</a:t>
            </a:r>
            <a:r>
              <a:rPr lang="en-US" sz="2000" dirty="0" smtClean="0">
                <a:latin typeface="Courier New" pitchFamily="1" charset="0"/>
              </a:rPr>
              <a:t>[] myScores = {100, 76, 88, 100, 90};</a:t>
            </a:r>
          </a:p>
          <a:p>
            <a:pPr lvl="1">
              <a:buNone/>
            </a:pPr>
            <a:r>
              <a:rPr lang="en-US" sz="2000" dirty="0" err="1" smtClean="0">
                <a:latin typeface="Courier New" pitchFamily="1" charset="0"/>
              </a:rPr>
              <a:t>WriteLine</a:t>
            </a:r>
            <a:r>
              <a:rPr lang="en-US" sz="2000" dirty="0" smtClean="0">
                <a:latin typeface="Courier New" pitchFamily="1" charset="0"/>
              </a:rPr>
              <a:t>("Array size is {0}",</a:t>
            </a:r>
            <a:r>
              <a:rPr lang="en-US" sz="2000" dirty="0" err="1" smtClean="0">
                <a:latin typeface="Courier New" pitchFamily="1" charset="0"/>
              </a:rPr>
              <a:t>myScores.Length</a:t>
            </a:r>
            <a:r>
              <a:rPr lang="en-US" sz="2000" dirty="0" smtClean="0">
                <a:latin typeface="Courier New" pitchFamily="1" charset="0"/>
              </a:rPr>
              <a:t>);</a:t>
            </a:r>
          </a:p>
          <a:p>
            <a:pPr lvl="1" eaLnBrk="1" hangingPunct="1">
              <a:buFontTx/>
              <a:buNone/>
            </a:pPr>
            <a:r>
              <a:rPr lang="en-US" sz="2000" dirty="0" smtClean="0">
                <a:latin typeface="Courier New" pitchFamily="1" charset="0"/>
              </a:rPr>
              <a:t>for(</a:t>
            </a:r>
            <a:r>
              <a:rPr lang="en-US" sz="2000" dirty="0" err="1" smtClean="0">
                <a:latin typeface="Courier New" pitchFamily="1" charset="0"/>
              </a:rPr>
              <a:t>int</a:t>
            </a:r>
            <a:r>
              <a:rPr lang="en-US" sz="2000" dirty="0" smtClean="0">
                <a:latin typeface="Courier New" pitchFamily="1" charset="0"/>
              </a:rPr>
              <a:t> x = 0; x &lt; myScores.Length; ++x)</a:t>
            </a:r>
          </a:p>
          <a:p>
            <a:pPr lvl="1" eaLnBrk="1" hangingPunct="1">
              <a:buFontTx/>
              <a:buNone/>
            </a:pPr>
            <a:r>
              <a:rPr lang="en-US" sz="2000" dirty="0" smtClean="0">
                <a:latin typeface="Courier New" pitchFamily="1" charset="0"/>
              </a:rPr>
              <a:t>  </a:t>
            </a:r>
            <a:r>
              <a:rPr lang="en-US" sz="2000" dirty="0" err="1" smtClean="0">
                <a:latin typeface="Courier New" pitchFamily="1" charset="0"/>
              </a:rPr>
              <a:t>WriteLine</a:t>
            </a:r>
            <a:r>
              <a:rPr lang="en-US" sz="2000" dirty="0" smtClean="0">
                <a:latin typeface="Courier New" pitchFamily="1" charset="0"/>
              </a:rPr>
              <a:t>(</a:t>
            </a:r>
            <a:r>
              <a:rPr lang="en-US" sz="2000" dirty="0" err="1" smtClean="0">
                <a:latin typeface="Courier New" pitchFamily="1" charset="0"/>
              </a:rPr>
              <a:t>myScores</a:t>
            </a:r>
            <a:r>
              <a:rPr lang="en-US" sz="2000" dirty="0" smtClean="0">
                <a:latin typeface="Courier New" pitchFamily="1" charset="0"/>
              </a:rPr>
              <a:t>[x]);</a:t>
            </a:r>
          </a:p>
          <a:p>
            <a:pPr lvl="1" eaLnBrk="1" hangingPunct="1">
              <a:buFontTx/>
              <a:buNone/>
            </a:pPr>
            <a:endParaRPr lang="en-US" sz="2000" dirty="0" smtClean="0">
              <a:latin typeface="Courier New" pitchFamily="1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566403-65D8-425A-ADAC-7BF25808ACCF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foreach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latin typeface="Courier New" pitchFamily="1" charset="0"/>
              </a:rPr>
              <a:t>foreach</a:t>
            </a:r>
            <a:r>
              <a:rPr lang="en-US" b="1" dirty="0" smtClean="0"/>
              <a:t> statement</a:t>
            </a:r>
          </a:p>
          <a:p>
            <a:pPr lvl="1" eaLnBrk="1" hangingPunct="1"/>
            <a:r>
              <a:rPr lang="en-US" dirty="0" smtClean="0"/>
              <a:t>Cycles through every array element without using a subscript</a:t>
            </a:r>
          </a:p>
          <a:p>
            <a:pPr lvl="1" eaLnBrk="1" hangingPunct="1"/>
            <a:r>
              <a:rPr lang="en-US" dirty="0" smtClean="0"/>
              <a:t>Uses a temporary </a:t>
            </a:r>
            <a:r>
              <a:rPr lang="en-US" b="1" dirty="0" smtClean="0"/>
              <a:t>iteration variable</a:t>
            </a:r>
          </a:p>
          <a:p>
            <a:pPr lvl="2" eaLnBrk="1" hangingPunct="1"/>
            <a:r>
              <a:rPr lang="en-US" dirty="0" smtClean="0"/>
              <a:t>Automatically holds each array value in turn</a:t>
            </a:r>
          </a:p>
          <a:p>
            <a:pPr eaLnBrk="1" hangingPunct="1"/>
            <a:r>
              <a:rPr lang="en-US" dirty="0" smtClean="0"/>
              <a:t>Example</a:t>
            </a:r>
          </a:p>
          <a:p>
            <a:pPr marL="0" indent="0" eaLnBrk="1" hangingPunct="1">
              <a:buNone/>
            </a:pPr>
            <a:r>
              <a:rPr lang="en-US" sz="2000" dirty="0" smtClean="0">
                <a:latin typeface="Courier New" pitchFamily="1" charset="0"/>
              </a:rPr>
              <a:t/>
            </a:r>
            <a:br>
              <a:rPr lang="en-US" sz="2000" dirty="0" smtClean="0">
                <a:latin typeface="Courier New" pitchFamily="1" charset="0"/>
              </a:rPr>
            </a:br>
            <a:r>
              <a:rPr lang="en-US" sz="2000" dirty="0" smtClean="0">
                <a:latin typeface="Courier New" pitchFamily="1" charset="0"/>
              </a:rPr>
              <a:t>double[] payRate = {6.00, 7.35, 8.12, 12.45, 22.22};</a:t>
            </a:r>
          </a:p>
          <a:p>
            <a:pPr marL="0" indent="0" eaLnBrk="1" hangingPunct="1">
              <a:buNone/>
            </a:pPr>
            <a:r>
              <a:rPr lang="en-US" sz="2000" dirty="0" err="1" smtClean="0">
                <a:latin typeface="Courier New" pitchFamily="1" charset="0"/>
              </a:rPr>
              <a:t>foreach</a:t>
            </a:r>
            <a:r>
              <a:rPr lang="en-US" sz="2000" dirty="0" smtClean="0">
                <a:latin typeface="Courier New" pitchFamily="1" charset="0"/>
              </a:rPr>
              <a:t>(double money in payRate)</a:t>
            </a:r>
          </a:p>
          <a:p>
            <a:pPr lvl="1">
              <a:buNone/>
            </a:pPr>
            <a:r>
              <a:rPr lang="en-US" sz="2000" dirty="0" err="1" smtClean="0">
                <a:latin typeface="Courier New" pitchFamily="1" charset="0"/>
              </a:rPr>
              <a:t>WriteLine</a:t>
            </a:r>
            <a:r>
              <a:rPr lang="en-US" sz="2000" dirty="0" smtClean="0">
                <a:latin typeface="Courier New" pitchFamily="1" charset="0"/>
              </a:rPr>
              <a:t>("{0}", money.ToString("C"));</a:t>
            </a:r>
          </a:p>
          <a:p>
            <a:pPr eaLnBrk="1" hangingPunct="1">
              <a:buFontTx/>
              <a:buNone/>
            </a:pPr>
            <a:endParaRPr lang="en-US" sz="1800" dirty="0" smtClean="0">
              <a:latin typeface="Courier New" pitchFamily="1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587E60-D3FC-4DFC-BABB-6D63C363786F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 smtClean="0"/>
              <a:t>Using </a:t>
            </a:r>
            <a:r>
              <a:rPr lang="en-US" sz="4000" spc="-200" dirty="0" err="1" smtClean="0">
                <a:latin typeface="Courier New" pitchFamily="49" charset="0"/>
                <a:cs typeface="Courier New" pitchFamily="49" charset="0"/>
              </a:rPr>
              <a:t>foreach</a:t>
            </a:r>
            <a:r>
              <a:rPr lang="en-US" sz="4000" spc="-200" dirty="0" smtClean="0">
                <a:cs typeface="Courier New" pitchFamily="49" charset="0"/>
              </a:rPr>
              <a:t> </a:t>
            </a:r>
            <a:r>
              <a:rPr 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urier New" pitchFamily="1" charset="0"/>
              </a:rPr>
              <a:t>(</a:t>
            </a: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itchFamily="1" charset="0"/>
              </a:rPr>
              <a:t>cont’d.)</a:t>
            </a:r>
            <a:endParaRPr lang="en-US" sz="1200" spc="-200" dirty="0"/>
          </a:p>
        </p:txBody>
      </p:sp>
      <p:sp>
        <p:nvSpPr>
          <p:cNvPr id="1536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Used when you want to access every array element</a:t>
            </a:r>
          </a:p>
          <a:p>
            <a:r>
              <a:rPr lang="en-US" dirty="0" smtClean="0"/>
              <a:t>Since the iteration variable is </a:t>
            </a:r>
            <a:r>
              <a:rPr lang="en-US" b="1" dirty="0" smtClean="0"/>
              <a:t>read-only</a:t>
            </a:r>
            <a:r>
              <a:rPr lang="en-US" dirty="0" smtClean="0"/>
              <a:t>, you can access it but you cannot assign a value to 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1A1AB5-530F-4D66-8AE2-4AAAFBB851B7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Searching an Array Using a Loop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Searching options</a:t>
            </a:r>
          </a:p>
          <a:p>
            <a:pPr lvl="1" eaLnBrk="1" hangingPunct="1"/>
            <a:r>
              <a:rPr lang="en-US" dirty="0" smtClean="0"/>
              <a:t>Using a </a:t>
            </a:r>
            <a:r>
              <a:rPr lang="en-US" dirty="0" smtClean="0">
                <a:latin typeface="Courier New" pitchFamily="1" charset="0"/>
              </a:rPr>
              <a:t>for</a:t>
            </a:r>
            <a:r>
              <a:rPr lang="en-US" dirty="0" smtClean="0"/>
              <a:t> loop</a:t>
            </a:r>
          </a:p>
          <a:p>
            <a:pPr lvl="1" eaLnBrk="1" hangingPunct="1"/>
            <a:r>
              <a:rPr lang="en-US" dirty="0" smtClean="0"/>
              <a:t>Using a </a:t>
            </a:r>
            <a:r>
              <a:rPr lang="en-US" dirty="0" smtClean="0">
                <a:latin typeface="Courier New" pitchFamily="1" charset="0"/>
              </a:rPr>
              <a:t>while</a:t>
            </a:r>
            <a:r>
              <a:rPr lang="en-US" dirty="0" smtClean="0"/>
              <a:t> loop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D67501-E57B-4C39-AD80-77E1216B7203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pPr eaLnBrk="1" hangingPunct="1"/>
            <a:r>
              <a:rPr lang="en-US" sz="4000" spc="-200" dirty="0" smtClean="0"/>
              <a:t>Using a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4000" spc="-200" dirty="0" smtClean="0"/>
              <a:t> Loop to Search an Array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int</a:t>
            </a:r>
            <a:r>
              <a:rPr lang="en-US" dirty="0"/>
              <a:t> x = 0; x &lt; </a:t>
            </a:r>
            <a:r>
              <a:rPr lang="en-US" dirty="0" err="1"/>
              <a:t>validValues.Length</a:t>
            </a:r>
            <a:r>
              <a:rPr lang="en-US" dirty="0"/>
              <a:t>; ++x)</a:t>
            </a:r>
          </a:p>
          <a:p>
            <a:pPr marL="0" indent="0">
              <a:buNone/>
            </a:pPr>
            <a:r>
              <a:rPr lang="en-US" dirty="0" smtClean="0"/>
              <a:t>   if(</a:t>
            </a:r>
            <a:r>
              <a:rPr lang="en-US" dirty="0" err="1" smtClean="0"/>
              <a:t>itemOrdered</a:t>
            </a:r>
            <a:r>
              <a:rPr lang="en-US" dirty="0" smtClean="0"/>
              <a:t> </a:t>
            </a:r>
            <a:r>
              <a:rPr lang="en-US" dirty="0"/>
              <a:t>== </a:t>
            </a:r>
            <a:r>
              <a:rPr lang="en-US" dirty="0" err="1"/>
              <a:t>validValues</a:t>
            </a:r>
            <a:r>
              <a:rPr lang="en-US" dirty="0"/>
              <a:t>[x])</a:t>
            </a:r>
          </a:p>
          <a:p>
            <a:pPr marL="0" indent="0">
              <a:buNone/>
            </a:pPr>
            <a:r>
              <a:rPr lang="en-US" dirty="0" smtClean="0"/>
              <a:t>      </a:t>
            </a:r>
            <a:r>
              <a:rPr lang="en-US" dirty="0" err="1" smtClean="0"/>
              <a:t>isValidItem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true;</a:t>
            </a:r>
          </a:p>
          <a:p>
            <a:r>
              <a:rPr lang="en-US" dirty="0" smtClean="0"/>
              <a:t>Called </a:t>
            </a:r>
            <a:r>
              <a:rPr lang="en-US" dirty="0"/>
              <a:t>a </a:t>
            </a:r>
            <a:r>
              <a:rPr lang="en-US" b="1" dirty="0" smtClean="0"/>
              <a:t>Sequential Search </a:t>
            </a:r>
            <a:r>
              <a:rPr lang="en-US" dirty="0"/>
              <a:t>because each array element is </a:t>
            </a:r>
            <a:r>
              <a:rPr lang="en-US" dirty="0" smtClean="0"/>
              <a:t>examined in </a:t>
            </a:r>
            <a:r>
              <a:rPr lang="en-US" dirty="0"/>
              <a:t>sequence</a:t>
            </a:r>
          </a:p>
          <a:p>
            <a:r>
              <a:rPr lang="en-US" b="1" dirty="0"/>
              <a:t>P</a:t>
            </a:r>
            <a:r>
              <a:rPr lang="en-US" b="1" dirty="0" smtClean="0"/>
              <a:t>arallel arrays </a:t>
            </a:r>
            <a:r>
              <a:rPr lang="en-US" dirty="0"/>
              <a:t>(a second array to hold corresponding data) </a:t>
            </a:r>
            <a:r>
              <a:rPr lang="en-US" dirty="0" smtClean="0"/>
              <a:t>allow you to use </a:t>
            </a:r>
            <a:r>
              <a:rPr lang="en-US" dirty="0"/>
              <a:t>the same subscript to access additional information</a:t>
            </a:r>
            <a:endParaRPr lang="en-US" b="1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DC0346-156B-451D-9CFE-DBB807243C08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 smtClean="0"/>
              <a:t>Using a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4000" spc="-200" dirty="0" smtClean="0"/>
              <a:t> Loop to Search an Array </a:t>
            </a:r>
            <a:r>
              <a:rPr lang="en-US" sz="1200" spc="-200" dirty="0" smtClean="0">
                <a:latin typeface="Prestige Elite Std" panose="02060509020206020304" pitchFamily="49" charset="0"/>
              </a:rPr>
              <a:t>(cont’d</a:t>
            </a:r>
            <a:r>
              <a:rPr lang="en-US" sz="1200" spc="-200" dirty="0">
                <a:latin typeface="Prestige Elite Std" panose="02060509020206020304" pitchFamily="49" charset="0"/>
              </a:rPr>
              <a:t>.)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D5EA75-45DA-4F11-9698-422FD74A67E2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56272"/>
            <a:ext cx="4968002" cy="52244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1205403"/>
            <a:ext cx="3912308" cy="229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76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Improving a Loop’s Efficiency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D5EA75-45DA-4F11-9698-422FD74A67E2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00200"/>
            <a:ext cx="8170386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76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Using a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4000" spc="-200" dirty="0" smtClean="0"/>
              <a:t> Loop to Search an Array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Use a </a:t>
            </a:r>
            <a:r>
              <a:rPr lang="en-US" dirty="0" smtClean="0">
                <a:latin typeface="Courier New" pitchFamily="1" charset="0"/>
              </a:rPr>
              <a:t>while</a:t>
            </a:r>
            <a:r>
              <a:rPr lang="en-US" dirty="0" smtClean="0"/>
              <a:t> loop to search for a match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et </a:t>
            </a:r>
            <a:r>
              <a:rPr lang="en-US" dirty="0"/>
              <a:t>a subscript to 0 and, while the </a:t>
            </a:r>
            <a:r>
              <a:rPr lang="en-US" dirty="0" smtClean="0"/>
              <a:t>item being searched for is not equal </a:t>
            </a:r>
            <a:r>
              <a:rPr lang="en-US" dirty="0"/>
              <a:t>to a value in the array, increase the subscript and keep </a:t>
            </a:r>
            <a:r>
              <a:rPr lang="en-US" dirty="0" smtClean="0"/>
              <a:t>looking</a:t>
            </a:r>
          </a:p>
          <a:p>
            <a:pPr lvl="1"/>
            <a:r>
              <a:rPr lang="en-US" dirty="0" smtClean="0"/>
              <a:t>You </a:t>
            </a:r>
            <a:r>
              <a:rPr lang="en-US" dirty="0"/>
              <a:t>search only while </a:t>
            </a:r>
            <a:r>
              <a:rPr lang="en-US" dirty="0" smtClean="0"/>
              <a:t>the subscript </a:t>
            </a:r>
            <a:r>
              <a:rPr lang="en-US" dirty="0"/>
              <a:t>remains lower than the number of elements in the array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5B073F-4900-4B1C-8D83-33CBCFF8C629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F0A3279-526A-4A6F-A9A0-D66B8B232047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"/>
            <a:ext cx="7087041" cy="63350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158" y="76200"/>
            <a:ext cx="3716592" cy="21335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Searching an Array for a Range Match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Range match</a:t>
            </a:r>
          </a:p>
          <a:p>
            <a:pPr lvl="1" eaLnBrk="1" hangingPunct="1"/>
            <a:r>
              <a:rPr lang="en-US" dirty="0" smtClean="0"/>
              <a:t>Determines the pair of limiting values between which a value falls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1944B8-CD1B-49D8-AEDC-7992281406BD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960738"/>
            <a:ext cx="5800725" cy="33479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sz="4000" spc="-200" dirty="0" smtClean="0"/>
              <a:t>Searching an Array for a Range Match </a:t>
            </a:r>
            <a:r>
              <a:rPr lang="en-US" sz="1200" spc="-200" dirty="0" smtClean="0">
                <a:latin typeface="Prestige Elite Std" panose="02060509020206020304" pitchFamily="49" charset="0"/>
              </a:rPr>
              <a:t>(cont’d.)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3BC6AA-52F2-464B-B53C-199F1D5D4DB8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0"/>
            <a:ext cx="8593574" cy="3276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686800" cy="1143000"/>
          </a:xfrm>
        </p:spPr>
        <p:txBody>
          <a:bodyPr/>
          <a:lstStyle/>
          <a:p>
            <a:pPr eaLnBrk="1" hangingPunct="1"/>
            <a:r>
              <a:rPr lang="en-US" sz="4000" spc="-200" dirty="0" smtClean="0"/>
              <a:t>Using the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BinarySearch()</a:t>
            </a:r>
            <a:r>
              <a:rPr lang="en-US" sz="4000" spc="-200" dirty="0" smtClean="0"/>
              <a:t>, </a:t>
            </a:r>
            <a:br>
              <a:rPr lang="en-US" sz="4000" spc="-200" dirty="0" smtClean="0"/>
            </a:b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Sort()</a:t>
            </a:r>
            <a:r>
              <a:rPr lang="en-US" sz="4000" spc="-200" dirty="0" smtClean="0"/>
              <a:t>, and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Reverse()</a:t>
            </a:r>
            <a:r>
              <a:rPr lang="en-US" sz="4000" spc="-200" dirty="0" smtClean="0">
                <a:cs typeface="Courier New" pitchFamily="49" charset="0"/>
              </a:rPr>
              <a:t> </a:t>
            </a:r>
            <a:r>
              <a:rPr lang="en-US" sz="4000" spc="-200" dirty="0" smtClean="0"/>
              <a:t>Methods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System.Array</a:t>
            </a:r>
            <a:r>
              <a:rPr lang="en-US" dirty="0" smtClean="0"/>
              <a:t> class contains a variety of useful, built-in methods that can search, sort, and manipulate array elements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0F0EF-5208-495E-AB78-31E0EFBB5080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BinarySearch()</a:t>
            </a:r>
            <a:r>
              <a:rPr lang="en-US" sz="4000" spc="-200" dirty="0"/>
              <a:t> Method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latin typeface="Courier New" pitchFamily="1" charset="0"/>
              </a:rPr>
              <a:t>BinarySearch()</a:t>
            </a:r>
            <a:r>
              <a:rPr lang="en-US" b="1" dirty="0" smtClean="0"/>
              <a:t> method</a:t>
            </a:r>
          </a:p>
          <a:p>
            <a:pPr lvl="1"/>
            <a:r>
              <a:rPr lang="en-US" dirty="0"/>
              <a:t>a sorted list of objects is split in half repeatedly as the </a:t>
            </a:r>
            <a:r>
              <a:rPr lang="en-US" dirty="0" smtClean="0"/>
              <a:t>search gets </a:t>
            </a:r>
            <a:r>
              <a:rPr lang="en-US" dirty="0"/>
              <a:t>closer and closer to a </a:t>
            </a:r>
            <a:r>
              <a:rPr lang="en-US" dirty="0" smtClean="0"/>
              <a:t>match</a:t>
            </a:r>
          </a:p>
          <a:p>
            <a:pPr lvl="1"/>
            <a:r>
              <a:rPr lang="en-US" dirty="0" smtClean="0"/>
              <a:t>Similar to the “guess a Number between 1 and 100” game</a:t>
            </a:r>
          </a:p>
          <a:p>
            <a:pPr lvl="2"/>
            <a:r>
              <a:rPr lang="en-US" dirty="0" smtClean="0"/>
              <a:t>Start with Is it less than 50</a:t>
            </a:r>
            <a:r>
              <a:rPr lang="en-US" dirty="0"/>
              <a:t>?</a:t>
            </a:r>
            <a:r>
              <a:rPr lang="en-US" dirty="0" smtClean="0"/>
              <a:t> Less than 25? Less than 12? Etc.</a:t>
            </a:r>
          </a:p>
          <a:p>
            <a:pPr eaLnBrk="1" hangingPunct="1"/>
            <a:r>
              <a:rPr lang="en-US" dirty="0" smtClean="0"/>
              <a:t>When not to use </a:t>
            </a:r>
            <a:r>
              <a:rPr lang="en-US" dirty="0" err="1" smtClean="0">
                <a:latin typeface="Courier New" pitchFamily="1" charset="0"/>
              </a:rPr>
              <a:t>BinarySearch</a:t>
            </a:r>
            <a:r>
              <a:rPr lang="en-US" dirty="0" smtClean="0">
                <a:latin typeface="Courier New" pitchFamily="1" charset="0"/>
              </a:rPr>
              <a:t>()</a:t>
            </a:r>
            <a:endParaRPr lang="en-US" dirty="0" smtClean="0"/>
          </a:p>
          <a:p>
            <a:pPr lvl="1" eaLnBrk="1" hangingPunct="1"/>
            <a:r>
              <a:rPr lang="en-US" dirty="0" smtClean="0"/>
              <a:t>If your array items are not arranged in ascending order</a:t>
            </a:r>
          </a:p>
          <a:p>
            <a:pPr lvl="1" eaLnBrk="1" hangingPunct="1"/>
            <a:r>
              <a:rPr lang="en-US" dirty="0" smtClean="0"/>
              <a:t>If your array holds duplicate values and you want to find all of them</a:t>
            </a:r>
          </a:p>
          <a:p>
            <a:pPr lvl="1" eaLnBrk="1" hangingPunct="1"/>
            <a:r>
              <a:rPr lang="en-US" dirty="0" smtClean="0"/>
              <a:t>If you want to find a range match rather than an exact match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222B07-B4AC-4150-84CB-1BAB9B8C338D}" type="slidenum">
              <a:rPr lang="en-US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8EFC2B7-D208-4191-AEE9-7279A4FAE328}" type="slidenum">
              <a:rPr lang="en-US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>
            <a:noAutofit/>
          </a:bodyPr>
          <a:lstStyle/>
          <a:p>
            <a:r>
              <a:rPr lang="en-US" sz="4000" spc="-200" dirty="0"/>
              <a:t>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BinarySearch()</a:t>
            </a:r>
            <a:r>
              <a:rPr lang="en-US" sz="4000" spc="-200" dirty="0"/>
              <a:t> Method </a:t>
            </a:r>
            <a:r>
              <a:rPr lang="en-US" sz="1200" spc="-200" dirty="0">
                <a:latin typeface="Prestige Elite Std" panose="02060509020206020304" pitchFamily="49" charset="0"/>
              </a:rPr>
              <a:t>(</a:t>
            </a:r>
            <a:r>
              <a:rPr lang="en-US" sz="1200" spc="-200" dirty="0" smtClean="0">
                <a:latin typeface="Prestige Elite Std" panose="02060509020206020304" pitchFamily="49" charset="0"/>
              </a:rPr>
              <a:t>cont’d</a:t>
            </a:r>
            <a:r>
              <a:rPr lang="en-US" sz="1200" spc="-200" dirty="0">
                <a:latin typeface="Prestige Elite Std" panose="02060509020206020304" pitchFamily="49" charset="0"/>
              </a:rPr>
              <a:t>.)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657" y="1450975"/>
            <a:ext cx="5838825" cy="4905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>
            <a:noAutofit/>
          </a:bodyPr>
          <a:lstStyle/>
          <a:p>
            <a:r>
              <a:rPr lang="en-US" sz="4000" spc="-200" dirty="0" smtClean="0"/>
              <a:t>Using the </a:t>
            </a:r>
            <a:r>
              <a:rPr lang="en-US" sz="4000" spc="-200" dirty="0" err="1" smtClean="0">
                <a:latin typeface="Courier New" pitchFamily="49" charset="0"/>
                <a:cs typeface="Courier New" pitchFamily="49" charset="0"/>
              </a:rPr>
              <a:t>BinarySearch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sz="4000" spc="-200" dirty="0" smtClean="0"/>
              <a:t> Method </a:t>
            </a:r>
            <a:r>
              <a:rPr lang="en-US" sz="1200" spc="-200" dirty="0" smtClean="0">
                <a:latin typeface="Prestige Elite Std" panose="02060509020206020304" pitchFamily="49" charset="0"/>
              </a:rPr>
              <a:t>(cont’d.)</a:t>
            </a:r>
            <a:endParaRPr lang="en-US" sz="1200" dirty="0">
              <a:latin typeface="Prestige Elite Std" panose="020605090202060203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D5EA75-45DA-4F11-9698-422FD74A67E2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14" y="1752600"/>
            <a:ext cx="8461686" cy="370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49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Sort()</a:t>
            </a:r>
            <a:r>
              <a:rPr lang="en-US" sz="4000" spc="-200" dirty="0"/>
              <a:t> Method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latin typeface="Courier New" pitchFamily="1" charset="0"/>
              </a:rPr>
              <a:t>Sort()</a:t>
            </a:r>
            <a:r>
              <a:rPr lang="en-US" b="1" dirty="0" smtClean="0"/>
              <a:t> method</a:t>
            </a:r>
          </a:p>
          <a:p>
            <a:pPr lvl="1" eaLnBrk="1" hangingPunct="1"/>
            <a:r>
              <a:rPr lang="en-US" dirty="0" smtClean="0"/>
              <a:t>Arranges array items in ascending order</a:t>
            </a:r>
          </a:p>
          <a:p>
            <a:pPr lvl="1"/>
            <a:r>
              <a:rPr lang="en-US" dirty="0"/>
              <a:t>W</a:t>
            </a:r>
            <a:r>
              <a:rPr lang="en-US" dirty="0" smtClean="0"/>
              <a:t>orks </a:t>
            </a:r>
            <a:r>
              <a:rPr lang="en-US" dirty="0"/>
              <a:t>numerically </a:t>
            </a:r>
            <a:r>
              <a:rPr lang="en-US" dirty="0" smtClean="0"/>
              <a:t>for number </a:t>
            </a:r>
            <a:r>
              <a:rPr lang="en-US" dirty="0"/>
              <a:t>types and alphabetically for characters and strings</a:t>
            </a:r>
          </a:p>
          <a:p>
            <a:pPr lvl="1" eaLnBrk="1" hangingPunct="1"/>
            <a:r>
              <a:rPr lang="en-US" dirty="0" smtClean="0"/>
              <a:t>Use it by passing the array name to </a:t>
            </a:r>
            <a:r>
              <a:rPr lang="en-US" dirty="0" err="1" smtClean="0">
                <a:latin typeface="Courier New" pitchFamily="1" charset="0"/>
              </a:rPr>
              <a:t>Array.Sort</a:t>
            </a:r>
            <a:r>
              <a:rPr lang="en-US" dirty="0" smtClean="0">
                <a:latin typeface="Courier New" pitchFamily="1" charset="0"/>
              </a:rPr>
              <a:t>()</a:t>
            </a:r>
          </a:p>
          <a:p>
            <a:pPr lvl="1" eaLnBrk="1" hangingPunct="1"/>
            <a:r>
              <a:rPr lang="en-US" dirty="0"/>
              <a:t>Often used before using the </a:t>
            </a:r>
            <a:r>
              <a:rPr lang="en-US" dirty="0" err="1" smtClean="0">
                <a:latin typeface="Courier New" pitchFamily="1" charset="0"/>
              </a:rPr>
              <a:t>BinarySearch</a:t>
            </a:r>
            <a:r>
              <a:rPr lang="en-US" dirty="0" smtClean="0">
                <a:latin typeface="Courier New" pitchFamily="1" charset="0"/>
              </a:rPr>
              <a:t>()</a:t>
            </a:r>
            <a:r>
              <a:rPr lang="en-US" dirty="0" smtClean="0"/>
              <a:t>method </a:t>
            </a:r>
            <a:r>
              <a:rPr lang="en-US" dirty="0"/>
              <a:t>which requires a sorted array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A32B37-F1A9-4B6F-ABAA-92B0BE5EE6C8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Sort()</a:t>
            </a:r>
            <a:r>
              <a:rPr lang="en-US" sz="4000" spc="-200" dirty="0"/>
              <a:t> Method </a:t>
            </a:r>
            <a:r>
              <a:rPr lang="en-US" sz="1200" spc="-200" dirty="0">
                <a:latin typeface="Prestige Elite Std" panose="02060509020206020304" pitchFamily="49" charset="0"/>
              </a:rPr>
              <a:t>(</a:t>
            </a:r>
            <a:r>
              <a:rPr lang="en-US" sz="1200" spc="-200" dirty="0" smtClean="0">
                <a:latin typeface="Prestige Elite Std" panose="02060509020206020304" pitchFamily="49" charset="0"/>
              </a:rPr>
              <a:t>cont’d</a:t>
            </a:r>
            <a:r>
              <a:rPr lang="en-US" sz="1200" spc="-200" dirty="0">
                <a:latin typeface="Prestige Elite Std" panose="02060509020206020304" pitchFamily="49" charset="0"/>
              </a:rPr>
              <a:t>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FFC125-79CB-4270-BED4-E426900022BB}" type="slidenum">
              <a:rPr lang="en-US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363" y="1432841"/>
            <a:ext cx="6548437" cy="49012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Reverse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sz="4000" spc="-200" dirty="0" smtClean="0"/>
              <a:t> Method</a:t>
            </a:r>
            <a:endParaRPr lang="en-US" sz="4000" spc="-200" dirty="0"/>
          </a:p>
        </p:txBody>
      </p:sp>
      <p:sp>
        <p:nvSpPr>
          <p:cNvPr id="2970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latin typeface="Courier New" pitchFamily="1" charset="0"/>
              </a:rPr>
              <a:t>Reverse()</a:t>
            </a:r>
            <a:r>
              <a:rPr lang="en-US" b="1" dirty="0" smtClean="0"/>
              <a:t> method</a:t>
            </a:r>
          </a:p>
          <a:p>
            <a:pPr lvl="1"/>
            <a:r>
              <a:rPr lang="en-US" dirty="0"/>
              <a:t>The Reverse() method does not sort array elements; it only rearranges their values to </a:t>
            </a:r>
            <a:r>
              <a:rPr lang="en-US" dirty="0" smtClean="0"/>
              <a:t>the opposite order</a:t>
            </a:r>
          </a:p>
          <a:p>
            <a:pPr lvl="1"/>
            <a:r>
              <a:rPr lang="en-US" dirty="0" smtClean="0"/>
              <a:t>An element that starts in position 0 is relocated to position </a:t>
            </a:r>
            <a:r>
              <a:rPr lang="en-US" dirty="0" smtClean="0">
                <a:latin typeface="Courier New" pitchFamily="1" charset="0"/>
              </a:rPr>
              <a:t>Length – 1</a:t>
            </a:r>
          </a:p>
          <a:p>
            <a:pPr lvl="1" eaLnBrk="1" hangingPunct="1"/>
            <a:r>
              <a:rPr lang="en-US" dirty="0" smtClean="0"/>
              <a:t>Use it by passing the array name to the method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031F45-3F51-4034-B790-62C89A22CA3E}" type="slidenum">
              <a:rPr lang="en-US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the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Reverse()</a:t>
            </a:r>
            <a:r>
              <a:rPr lang="en-US" sz="4000" spc="-200" dirty="0"/>
              <a:t> Method </a:t>
            </a:r>
            <a:r>
              <a:rPr lang="en-US" sz="1200" spc="-200" dirty="0">
                <a:latin typeface="Prestige Elite Std" panose="02060509020206020304" pitchFamily="49" charset="0"/>
              </a:rPr>
              <a:t>(</a:t>
            </a:r>
            <a:r>
              <a:rPr lang="en-US" sz="1200" spc="-200" dirty="0" smtClean="0">
                <a:latin typeface="Prestige Elite Std" panose="02060509020206020304" pitchFamily="49" charset="0"/>
              </a:rPr>
              <a:t>cont’d</a:t>
            </a:r>
            <a:r>
              <a:rPr lang="en-US" sz="1200" spc="-200" dirty="0">
                <a:latin typeface="Prestige Elite Std" panose="02060509020206020304" pitchFamily="49" charset="0"/>
              </a:rPr>
              <a:t>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618D01-CC73-418C-B725-FC544D7DCC42}" type="slidenum">
              <a:rPr lang="en-US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036" y="1348956"/>
            <a:ext cx="5829300" cy="50760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smtClean="0"/>
              <a:t>You Do It!</a:t>
            </a:r>
            <a:endParaRPr lang="en-US" sz="1200" spc="-200" dirty="0">
              <a:latin typeface="Prestige Elite Std" panose="020605090202060203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618D01-CC73-418C-B725-FC544D7DCC42}" type="slidenum">
              <a:rPr lang="en-US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75" y="1447800"/>
            <a:ext cx="7588425" cy="495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59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Multidimensional Arrays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One-dimensional </a:t>
            </a:r>
            <a:r>
              <a:rPr lang="en-US" dirty="0" smtClean="0"/>
              <a:t>or </a:t>
            </a:r>
            <a:r>
              <a:rPr lang="en-US" b="1" dirty="0" smtClean="0"/>
              <a:t>single-dimensional array</a:t>
            </a:r>
          </a:p>
          <a:p>
            <a:pPr lvl="1" eaLnBrk="1" hangingPunct="1"/>
            <a:r>
              <a:rPr lang="en-US" dirty="0" smtClean="0"/>
              <a:t>Picture it as a column of values</a:t>
            </a:r>
          </a:p>
          <a:p>
            <a:pPr lvl="1" eaLnBrk="1" hangingPunct="1"/>
            <a:r>
              <a:rPr lang="en-US" dirty="0" smtClean="0"/>
              <a:t>Elements can be accessed using a single subscript</a:t>
            </a:r>
          </a:p>
          <a:p>
            <a:pPr eaLnBrk="1" hangingPunct="1"/>
            <a:r>
              <a:rPr lang="en-US" b="1" dirty="0" smtClean="0"/>
              <a:t>Multidimensional array</a:t>
            </a:r>
          </a:p>
          <a:p>
            <a:pPr lvl="1" eaLnBrk="1" hangingPunct="1"/>
            <a:r>
              <a:rPr lang="en-US" dirty="0" smtClean="0"/>
              <a:t>Requires multiple subscripts to access the array elements</a:t>
            </a:r>
          </a:p>
          <a:p>
            <a:pPr lvl="1" eaLnBrk="1" hangingPunct="1"/>
            <a:r>
              <a:rPr lang="en-US" b="1" dirty="0" smtClean="0"/>
              <a:t>Two-dimensional array</a:t>
            </a:r>
            <a:endParaRPr lang="en-US" dirty="0" smtClean="0"/>
          </a:p>
          <a:p>
            <a:pPr lvl="2" eaLnBrk="1" hangingPunct="1"/>
            <a:r>
              <a:rPr lang="en-US" dirty="0" smtClean="0"/>
              <a:t>Has two or more columns of values for each row</a:t>
            </a:r>
            <a:endParaRPr lang="en-US" dirty="0" smtClean="0">
              <a:latin typeface="Courier New" pitchFamily="1" charset="0"/>
            </a:endParaRPr>
          </a:p>
          <a:p>
            <a:pPr lvl="2" eaLnBrk="1" hangingPunct="1"/>
            <a:r>
              <a:rPr lang="en-US" dirty="0" smtClean="0"/>
              <a:t>R</a:t>
            </a:r>
            <a:r>
              <a:rPr lang="en-US" b="1" dirty="0" smtClean="0"/>
              <a:t>ectangular</a:t>
            </a:r>
            <a:r>
              <a:rPr lang="en-US" dirty="0" smtClean="0"/>
              <a:t> </a:t>
            </a:r>
            <a:r>
              <a:rPr lang="en-US" b="1" dirty="0" smtClean="0"/>
              <a:t>array</a:t>
            </a:r>
            <a:r>
              <a:rPr lang="en-US" dirty="0"/>
              <a:t> </a:t>
            </a:r>
            <a:r>
              <a:rPr lang="en-US" dirty="0" smtClean="0"/>
              <a:t>(also called  a </a:t>
            </a:r>
            <a:r>
              <a:rPr lang="en-US" b="1" dirty="0" smtClean="0"/>
              <a:t>matrix</a:t>
            </a:r>
            <a:r>
              <a:rPr lang="en-US" dirty="0" smtClean="0"/>
              <a:t>, or a </a:t>
            </a:r>
            <a:r>
              <a:rPr lang="en-US" b="1" dirty="0" smtClean="0"/>
              <a:t>table</a:t>
            </a:r>
          </a:p>
          <a:p>
            <a:pPr lvl="3"/>
            <a:r>
              <a:rPr lang="en-US" sz="2000" dirty="0"/>
              <a:t>Similar to a spreadsheet</a:t>
            </a:r>
          </a:p>
          <a:p>
            <a:pPr marL="457200" lvl="1" indent="0">
              <a:buNone/>
            </a:pPr>
            <a:endParaRPr lang="en-US" dirty="0"/>
          </a:p>
          <a:p>
            <a:pPr lvl="2" eaLnBrk="1" hangingPunct="1"/>
            <a:endParaRPr lang="en-US" b="1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497DBD-46C6-403C-800A-8292EDAB1675}" type="slidenum">
              <a:rPr lang="en-US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Multidimensional Arrays </a:t>
            </a:r>
            <a:r>
              <a:rPr lang="en-US" sz="1200" spc="-200" dirty="0">
                <a:latin typeface="Prestige Elite Std" panose="02060509020206020304" pitchFamily="49" charset="0"/>
              </a:rPr>
              <a:t>(</a:t>
            </a:r>
            <a:r>
              <a:rPr lang="en-US" sz="1200" spc="-200" dirty="0" smtClean="0">
                <a:latin typeface="Prestige Elite Std" panose="02060509020206020304" pitchFamily="49" charset="0"/>
              </a:rPr>
              <a:t>cont’d</a:t>
            </a:r>
            <a:r>
              <a:rPr lang="en-US" sz="1200" spc="-200" dirty="0">
                <a:latin typeface="Prestige Elite Std" panose="02060509020206020304" pitchFamily="49" charset="0"/>
              </a:rPr>
              <a:t>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D31D493-1374-436C-B118-2DD2E82E1EDA}" type="slidenum">
              <a:rPr lang="en-US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76400"/>
            <a:ext cx="8415336" cy="18946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4851737"/>
            <a:ext cx="79248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LucidaSansTypewriterStd"/>
              </a:rPr>
              <a:t>double[ , ] </a:t>
            </a:r>
            <a:r>
              <a:rPr lang="en-US" dirty="0" smtClean="0">
                <a:solidFill>
                  <a:schemeClr val="tx1"/>
                </a:solidFill>
                <a:latin typeface="LucidaSansTypewriterStd"/>
              </a:rPr>
              <a:t>sales	 </a:t>
            </a:r>
            <a:r>
              <a:rPr lang="en-US" dirty="0">
                <a:solidFill>
                  <a:schemeClr val="tx1"/>
                </a:solidFill>
                <a:latin typeface="LucidaSansTypewriterStd"/>
              </a:rPr>
              <a:t>= </a:t>
            </a:r>
            <a:r>
              <a:rPr lang="en-US" dirty="0" smtClean="0">
                <a:solidFill>
                  <a:schemeClr val="tx1"/>
                </a:solidFill>
                <a:latin typeface="LucidaSansTypewriterStd"/>
              </a:rPr>
              <a:t>	{{</a:t>
            </a:r>
            <a:r>
              <a:rPr lang="en-US" dirty="0">
                <a:solidFill>
                  <a:schemeClr val="tx1"/>
                </a:solidFill>
                <a:latin typeface="LucidaSansTypewriterStd"/>
              </a:rPr>
              <a:t>14.00, 15.00, 16.00, 17.00},</a:t>
            </a:r>
          </a:p>
          <a:p>
            <a:r>
              <a:rPr lang="en-US" dirty="0" smtClean="0">
                <a:solidFill>
                  <a:schemeClr val="tx1"/>
                </a:solidFill>
                <a:latin typeface="LucidaSansTypewriterStd"/>
              </a:rPr>
              <a:t>			 {</a:t>
            </a:r>
            <a:r>
              <a:rPr lang="en-US" dirty="0">
                <a:solidFill>
                  <a:schemeClr val="tx1"/>
                </a:solidFill>
                <a:latin typeface="LucidaSansTypewriterStd"/>
              </a:rPr>
              <a:t>21.99, 34.55, 67.88, 31.99},</a:t>
            </a:r>
          </a:p>
          <a:p>
            <a:r>
              <a:rPr lang="en-US" dirty="0" smtClean="0">
                <a:solidFill>
                  <a:schemeClr val="tx1"/>
                </a:solidFill>
                <a:latin typeface="LucidaSansTypewriterStd"/>
              </a:rPr>
              <a:t>			 {</a:t>
            </a:r>
            <a:r>
              <a:rPr lang="en-US" dirty="0">
                <a:solidFill>
                  <a:schemeClr val="tx1"/>
                </a:solidFill>
                <a:latin typeface="LucidaSansTypewriterStd"/>
              </a:rPr>
              <a:t>12.03, 55.55, 32.89, 1.17}};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3901886"/>
            <a:ext cx="7391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+mj-lt"/>
              </a:rPr>
              <a:t>Initializing the array</a:t>
            </a:r>
          </a:p>
          <a:p>
            <a:pPr marL="1257300" lvl="2" indent="-342900" eaLnBrk="1" hangingPunct="1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+mj-lt"/>
              </a:rPr>
              <a:t>Has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two or more columns of values for each row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Multidimensional Arrays </a:t>
            </a:r>
            <a:r>
              <a:rPr lang="en-US" sz="1200" spc="-200" dirty="0">
                <a:latin typeface="Prestige Elite Std" panose="02060509020206020304" pitchFamily="49" charset="0"/>
              </a:rPr>
              <a:t>(</a:t>
            </a:r>
            <a:r>
              <a:rPr lang="en-US" sz="1200" spc="-200" dirty="0" smtClean="0">
                <a:latin typeface="Prestige Elite Std" panose="02060509020206020304" pitchFamily="49" charset="0"/>
              </a:rPr>
              <a:t>cont’d</a:t>
            </a:r>
            <a:r>
              <a:rPr lang="en-US" sz="1200" spc="-200" dirty="0">
                <a:latin typeface="Prestige Elite Std" panose="02060509020206020304" pitchFamily="49" charset="0"/>
              </a:rPr>
              <a:t>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A6F5D28-1EB2-4706-980F-07CBEBE148FE}" type="slidenum">
              <a:rPr lang="en-US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52" y="1524000"/>
            <a:ext cx="7759148" cy="47908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sz="4000" spc="-200" dirty="0" smtClean="0"/>
              <a:t>Using Multidimensional Arrays </a:t>
            </a:r>
            <a:r>
              <a:rPr lang="en-US" sz="1200" spc="-200" dirty="0" smtClean="0">
                <a:latin typeface="Prestige Elite Std" panose="02060509020206020304" pitchFamily="49" charset="0"/>
              </a:rPr>
              <a:t>(cont’d.)</a:t>
            </a:r>
            <a:endParaRPr lang="en-US" sz="1200" dirty="0">
              <a:latin typeface="Prestige Elite Std" panose="02060509020206020304" pitchFamily="49" charset="0"/>
            </a:endParaRP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214F9E-8C5D-423E-8C28-2621AD443C2A}" type="slidenum">
              <a:rPr lang="en-US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2121"/>
            <a:ext cx="6734175" cy="5143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242323"/>
            <a:ext cx="4164106" cy="15770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Using Multidimensional Arrays </a:t>
            </a:r>
            <a:r>
              <a:rPr lang="en-US" sz="1200" spc="-200" dirty="0">
                <a:latin typeface="Prestige Elite Std" panose="02060509020206020304" pitchFamily="49" charset="0"/>
              </a:rPr>
              <a:t>(</a:t>
            </a:r>
            <a:r>
              <a:rPr lang="en-US" sz="1200" spc="-200" dirty="0" smtClean="0">
                <a:latin typeface="Prestige Elite Std" panose="02060509020206020304" pitchFamily="49" charset="0"/>
              </a:rPr>
              <a:t>cont’d</a:t>
            </a:r>
            <a:r>
              <a:rPr lang="en-US" sz="1200" spc="-200" dirty="0">
                <a:latin typeface="Prestige Elite Std" panose="02060509020206020304" pitchFamily="49" charset="0"/>
              </a:rPr>
              <a:t>.)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Three-dimensional array</a:t>
            </a:r>
          </a:p>
          <a:p>
            <a:pPr lvl="1"/>
            <a:r>
              <a:rPr lang="en-US" dirty="0" smtClean="0"/>
              <a:t>Examples:</a:t>
            </a:r>
          </a:p>
          <a:p>
            <a:pPr lvl="2"/>
            <a:r>
              <a:rPr lang="en-US" dirty="0" smtClean="0"/>
              <a:t>A Building. Floor, Apartment</a:t>
            </a:r>
          </a:p>
          <a:p>
            <a:pPr lvl="2"/>
            <a:r>
              <a:rPr lang="en-US" dirty="0" smtClean="0"/>
              <a:t>A Book, Page, Line</a:t>
            </a:r>
          </a:p>
          <a:p>
            <a:pPr lvl="2"/>
            <a:r>
              <a:rPr lang="en-US" dirty="0" smtClean="0"/>
              <a:t>A Month, Day, Hour</a:t>
            </a:r>
          </a:p>
          <a:p>
            <a:pPr lvl="2"/>
            <a:r>
              <a:rPr lang="en-US" dirty="0" smtClean="0"/>
              <a:t>Rent [3, 1, 0]   ($1,050) refers to a refers to a studio (zero bedroom) apartment, on the first floor of building 3</a:t>
            </a:r>
          </a:p>
          <a:p>
            <a:pPr eaLnBrk="1" hangingPunct="1"/>
            <a:endParaRPr lang="en-US" b="1" dirty="0" smtClean="0"/>
          </a:p>
          <a:p>
            <a:pPr eaLnBrk="1" hangingPunct="1"/>
            <a:endParaRPr lang="en-US" b="1" dirty="0" smtClean="0"/>
          </a:p>
          <a:p>
            <a:pPr eaLnBrk="1" hangingPunct="1"/>
            <a:endParaRPr lang="en-US" b="1" dirty="0" smtClean="0"/>
          </a:p>
          <a:p>
            <a:pPr eaLnBrk="1" hangingPunct="1"/>
            <a:endParaRPr lang="en-US" b="1" dirty="0" smtClean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76EF0F-5729-4CFD-9D5D-744D72B87575}" type="slidenum">
              <a:rPr lang="en-US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61" y="4467384"/>
            <a:ext cx="8152875" cy="16923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 smtClean="0"/>
              <a:t>Using Jagged Arrays</a:t>
            </a:r>
            <a:endParaRPr lang="en-US" sz="4000" spc="-200" dirty="0"/>
          </a:p>
        </p:txBody>
      </p:sp>
      <p:sp>
        <p:nvSpPr>
          <p:cNvPr id="3686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Jagged array</a:t>
            </a:r>
          </a:p>
          <a:p>
            <a:pPr lvl="1" eaLnBrk="1" hangingPunct="1"/>
            <a:r>
              <a:rPr lang="en-US" dirty="0" smtClean="0"/>
              <a:t>A one-dimensional array in which each element is another one-dimensional array</a:t>
            </a:r>
          </a:p>
          <a:p>
            <a:pPr lvl="1" eaLnBrk="1" hangingPunct="1"/>
            <a:r>
              <a:rPr lang="en-US" dirty="0" smtClean="0"/>
              <a:t>Each row can be a different length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5C7B7E-7E68-4097-9AB6-40A11B29183E}" type="slidenum">
              <a:rPr lang="en-US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82131"/>
            <a:ext cx="8256647" cy="26591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Array Issues in GUI Programs</a:t>
            </a:r>
          </a:p>
        </p:txBody>
      </p:sp>
      <p:sp>
        <p:nvSpPr>
          <p:cNvPr id="3891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If array values change based on user input, the array must be stored outside any method that reacts to the user’s event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3F6A12-4575-4C10-81C9-ED66B49D8BAA}" type="slidenum">
              <a:rPr lang="en-US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Array Issues in GUI </a:t>
            </a:r>
            <a:r>
              <a:rPr lang="en-US" sz="4000" spc="-200" dirty="0" smtClean="0"/>
              <a:t>Programs </a:t>
            </a:r>
            <a:r>
              <a:rPr lang="en-US" sz="1200" spc="-200" dirty="0" smtClean="0">
                <a:latin typeface="Prestige Elite Std" panose="02060509020206020304" pitchFamily="49" charset="0"/>
              </a:rPr>
              <a:t>(cont’d.)</a:t>
            </a:r>
            <a:endParaRPr lang="en-US" sz="1200" spc="-200" dirty="0">
              <a:latin typeface="Prestige Elite Std" panose="020605090202060203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D5EA75-45DA-4F11-9698-422FD74A67E2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505744"/>
            <a:ext cx="8191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06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Array Issues in GUI Programs </a:t>
            </a:r>
            <a:r>
              <a:rPr lang="en-US" sz="1200" spc="-200" dirty="0">
                <a:latin typeface="Prestige Elite Std" panose="02060509020206020304" pitchFamily="49" charset="0"/>
              </a:rPr>
              <a:t>(</a:t>
            </a:r>
            <a:r>
              <a:rPr lang="en-US" sz="1200" spc="-200" dirty="0" smtClean="0">
                <a:latin typeface="Prestige Elite Std" panose="02060509020206020304" pitchFamily="49" charset="0"/>
              </a:rPr>
              <a:t>cont’d</a:t>
            </a:r>
            <a:r>
              <a:rPr lang="en-US" sz="1200" spc="-200" dirty="0">
                <a:latin typeface="Prestige Elite Std" panose="02060509020206020304" pitchFamily="49" charset="0"/>
              </a:rPr>
              <a:t>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A22A9B-A833-4BE2-957C-408A1D518A7C}" type="slidenum">
              <a:rPr lang="en-US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6324600" cy="365125"/>
          </a:xfrm>
        </p:spPr>
        <p:txBody>
          <a:bodyPr/>
          <a:lstStyle/>
          <a:p>
            <a:pPr algn="l"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504315"/>
            <a:ext cx="8181975" cy="4867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Summary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An array is a list of data items</a:t>
            </a:r>
          </a:p>
          <a:p>
            <a:pPr lvl="1" eaLnBrk="1" hangingPunct="1"/>
            <a:r>
              <a:rPr lang="en-US" dirty="0" smtClean="0"/>
              <a:t>All data items have the same type and the same name</a:t>
            </a:r>
          </a:p>
          <a:p>
            <a:pPr lvl="1" eaLnBrk="1" hangingPunct="1"/>
            <a:r>
              <a:rPr lang="en-US" dirty="0" smtClean="0"/>
              <a:t>Items are distinguished using a subscript or an index</a:t>
            </a:r>
          </a:p>
          <a:p>
            <a:pPr eaLnBrk="1" hangingPunct="1"/>
            <a:r>
              <a:rPr lang="en-US" dirty="0" smtClean="0"/>
              <a:t>In C#, arrays are objects of a class named </a:t>
            </a:r>
            <a:r>
              <a:rPr lang="en-US" dirty="0" smtClean="0">
                <a:latin typeface="Courier New" pitchFamily="1" charset="0"/>
              </a:rPr>
              <a:t>System.Array</a:t>
            </a:r>
          </a:p>
          <a:p>
            <a:pPr eaLnBrk="1" hangingPunct="1"/>
            <a:r>
              <a:rPr lang="en-US" dirty="0" smtClean="0"/>
              <a:t>The power of arrays becomes apparent when you begin to use subscripts</a:t>
            </a:r>
          </a:p>
          <a:p>
            <a:pPr eaLnBrk="1" hangingPunct="1"/>
            <a:r>
              <a:rPr lang="en-US" dirty="0" smtClean="0"/>
              <a:t>The subscript you use remains in the range of 0 through </a:t>
            </a:r>
            <a:r>
              <a:rPr lang="en-US" dirty="0" smtClean="0">
                <a:latin typeface="Courier New" pitchFamily="1" charset="0"/>
              </a:rPr>
              <a:t>Length - 1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5D415-F801-4022-A219-D1A0DD0E4231}" type="slidenum">
              <a:rPr lang="en-US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Summary </a:t>
            </a:r>
            <a:r>
              <a:rPr lang="en-US" sz="1200" spc="-200" dirty="0">
                <a:latin typeface="Prestige Elite Std" panose="02060509020206020304" pitchFamily="49" charset="0"/>
              </a:rPr>
              <a:t>(</a:t>
            </a:r>
            <a:r>
              <a:rPr lang="en-US" sz="1200" spc="-200" dirty="0" smtClean="0">
                <a:latin typeface="Prestige Elite Std" panose="02060509020206020304" pitchFamily="49" charset="0"/>
              </a:rPr>
              <a:t>cont’d</a:t>
            </a:r>
            <a:r>
              <a:rPr lang="en-US" sz="1200" spc="-200" dirty="0">
                <a:latin typeface="Prestige Elite Std" panose="02060509020206020304" pitchFamily="49" charset="0"/>
              </a:rPr>
              <a:t>.)</a:t>
            </a:r>
          </a:p>
        </p:txBody>
      </p:sp>
      <p:sp>
        <p:nvSpPr>
          <p:cNvPr id="4301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latin typeface="Courier New" pitchFamily="1" charset="0"/>
              </a:rPr>
              <a:t>foreach</a:t>
            </a:r>
            <a:r>
              <a:rPr lang="en-US" dirty="0" smtClean="0"/>
              <a:t> statement cycles through every array element without using subscripts</a:t>
            </a:r>
          </a:p>
          <a:p>
            <a:pPr eaLnBrk="1" hangingPunct="1"/>
            <a:r>
              <a:rPr lang="en-US" dirty="0" smtClean="0"/>
              <a:t>You can compare a variable to a list of values in an array</a:t>
            </a:r>
          </a:p>
          <a:p>
            <a:pPr eaLnBrk="1" hangingPunct="1"/>
            <a:r>
              <a:rPr lang="en-US" dirty="0" smtClean="0"/>
              <a:t>You can create parallel arrays to more easily perform a range match</a:t>
            </a:r>
          </a:p>
          <a:p>
            <a:pPr eaLnBrk="1" hangingPunct="1"/>
            <a:r>
              <a:rPr lang="en-US" dirty="0" smtClean="0"/>
              <a:t>The </a:t>
            </a:r>
            <a:r>
              <a:rPr lang="en-US" dirty="0" smtClean="0">
                <a:latin typeface="Courier New" pitchFamily="1" charset="0"/>
              </a:rPr>
              <a:t>BinarySearch()</a:t>
            </a:r>
            <a:r>
              <a:rPr lang="en-US" dirty="0" smtClean="0"/>
              <a:t> method finds a requested value in a sorted array</a:t>
            </a:r>
          </a:p>
          <a:p>
            <a:pPr eaLnBrk="1" hangingPunct="1"/>
            <a:r>
              <a:rPr lang="en-US" dirty="0" smtClean="0"/>
              <a:t>The </a:t>
            </a:r>
            <a:r>
              <a:rPr lang="en-US" dirty="0" smtClean="0">
                <a:latin typeface="Courier New" pitchFamily="1" charset="0"/>
              </a:rPr>
              <a:t>Sort()</a:t>
            </a:r>
            <a:r>
              <a:rPr lang="en-US" dirty="0" smtClean="0"/>
              <a:t> method arranges array items in ascending order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C2EA06-89F3-419B-BDD4-6CDC61B004E2}" type="slidenum">
              <a:rPr lang="en-US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Summary </a:t>
            </a:r>
            <a:r>
              <a:rPr lang="en-US" sz="1200" spc="-200" dirty="0">
                <a:latin typeface="Prestige Elite Std" panose="02060509020206020304" pitchFamily="49" charset="0"/>
              </a:rPr>
              <a:t>(</a:t>
            </a:r>
            <a:r>
              <a:rPr lang="en-US" sz="1200" spc="-200" dirty="0" smtClean="0">
                <a:latin typeface="Prestige Elite Std" panose="02060509020206020304" pitchFamily="49" charset="0"/>
              </a:rPr>
              <a:t>cont’d</a:t>
            </a:r>
            <a:r>
              <a:rPr lang="en-US" sz="1200" spc="-200" dirty="0">
                <a:latin typeface="Prestige Elite Std" panose="02060509020206020304" pitchFamily="49" charset="0"/>
              </a:rPr>
              <a:t>.)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The </a:t>
            </a:r>
            <a:r>
              <a:rPr lang="en-US" dirty="0" smtClean="0">
                <a:latin typeface="Courier New" pitchFamily="1" charset="0"/>
              </a:rPr>
              <a:t>Reverse()</a:t>
            </a:r>
            <a:r>
              <a:rPr lang="en-US" dirty="0" smtClean="0"/>
              <a:t> method reverses the order of items in an array</a:t>
            </a:r>
          </a:p>
          <a:p>
            <a:pPr eaLnBrk="1" hangingPunct="1"/>
            <a:r>
              <a:rPr lang="en-US" dirty="0" smtClean="0"/>
              <a:t>Multidimensional arrays require multiple subscripts to access the array elements</a:t>
            </a:r>
          </a:p>
          <a:p>
            <a:pPr eaLnBrk="1" hangingPunct="1"/>
            <a:r>
              <a:rPr lang="en-US" dirty="0" smtClean="0"/>
              <a:t>Types of multidimensional arrays:</a:t>
            </a:r>
          </a:p>
          <a:p>
            <a:pPr lvl="1" eaLnBrk="1" hangingPunct="1"/>
            <a:r>
              <a:rPr lang="en-US" dirty="0" smtClean="0"/>
              <a:t>Two-dimensional arrays (rectangular arrays)</a:t>
            </a:r>
          </a:p>
          <a:p>
            <a:pPr lvl="1" eaLnBrk="1" hangingPunct="1"/>
            <a:r>
              <a:rPr lang="en-US" dirty="0" smtClean="0"/>
              <a:t>Three-dimensional arrays</a:t>
            </a:r>
          </a:p>
          <a:p>
            <a:pPr lvl="1" eaLnBrk="1" hangingPunct="1"/>
            <a:r>
              <a:rPr lang="en-US" dirty="0" smtClean="0"/>
              <a:t>Jagged arrays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7CDBD3-E7B0-47B7-A94E-153D9B771C3B}" type="slidenum">
              <a:rPr lang="en-US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C</a:t>
            </a:r>
            <a:r>
              <a:rPr lang="en-US" dirty="0" smtClean="0"/>
              <a:t>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Default Design">
  <a:themeElements>
    <a:clrScheme name="3_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FFFFFF"/>
      </a:hlink>
      <a:folHlink>
        <a:srgbClr val="B2B2B2"/>
      </a:folHlink>
    </a:clrScheme>
    <a:fontScheme name="3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Farrell_P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9780538479516_PPT_ch06</Template>
  <TotalTime>0</TotalTime>
  <Words>1617</Words>
  <Application>Microsoft Office PowerPoint</Application>
  <PresentationFormat>On-screen Show (4:3)</PresentationFormat>
  <Paragraphs>305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Calibri</vt:lpstr>
      <vt:lpstr>Courier New</vt:lpstr>
      <vt:lpstr>LucidaSansTypewriterStd</vt:lpstr>
      <vt:lpstr>Prestige Elite Std</vt:lpstr>
      <vt:lpstr>Times New Roman</vt:lpstr>
      <vt:lpstr>3_Default Design</vt:lpstr>
      <vt:lpstr>1_Farrell_PLD</vt:lpstr>
      <vt:lpstr>PowerPoint Presentation</vt:lpstr>
      <vt:lpstr>Objectives</vt:lpstr>
      <vt:lpstr>Declaring an Array and Assigning Values to Array Elements</vt:lpstr>
      <vt:lpstr>Declaring an Array and Assigning Values to Array Elements (cont’d.)</vt:lpstr>
      <vt:lpstr>Declaring an Array and Assigning Values to Array Elements (cont’d.)</vt:lpstr>
      <vt:lpstr>Initializing an Array</vt:lpstr>
      <vt:lpstr>Initializing an Array (cont’d.)</vt:lpstr>
      <vt:lpstr>Accessing Array Elements</vt:lpstr>
      <vt:lpstr>Using the Length Property</vt:lpstr>
      <vt:lpstr>Using foreach</vt:lpstr>
      <vt:lpstr>Using foreach (cont’d.)</vt:lpstr>
      <vt:lpstr>Searching an Array Using a Loop</vt:lpstr>
      <vt:lpstr>Using a for Loop to Search an Array</vt:lpstr>
      <vt:lpstr>Using a for Loop to Search an Array (cont’d.)</vt:lpstr>
      <vt:lpstr>Improving a Loop’s Efficiency</vt:lpstr>
      <vt:lpstr>Using a while Loop to Search an Array</vt:lpstr>
      <vt:lpstr>PowerPoint Presentation</vt:lpstr>
      <vt:lpstr>Searching an Array for a Range Match</vt:lpstr>
      <vt:lpstr>Searching an Array for a Range Match (cont’d.)</vt:lpstr>
      <vt:lpstr>Using the BinarySearch(),  Sort(), and Reverse() Methods</vt:lpstr>
      <vt:lpstr>Using the BinarySearch() Method</vt:lpstr>
      <vt:lpstr>Using the BinarySearch() Method (cont’d.)</vt:lpstr>
      <vt:lpstr>Using the BinarySearch() Method (cont’d.)</vt:lpstr>
      <vt:lpstr>Using the Sort() Method</vt:lpstr>
      <vt:lpstr>Using the Sort() Method (cont’d.)</vt:lpstr>
      <vt:lpstr>Using the Reverse() Method</vt:lpstr>
      <vt:lpstr>Using the Reverse() Method (cont’d.)</vt:lpstr>
      <vt:lpstr>You Do It!</vt:lpstr>
      <vt:lpstr>Using Multidimensional Arrays</vt:lpstr>
      <vt:lpstr>Using Multidimensional Arrays (cont’d.)</vt:lpstr>
      <vt:lpstr>Using Multidimensional Arrays (cont’d.)</vt:lpstr>
      <vt:lpstr>Using Multidimensional Arrays (cont’d.)</vt:lpstr>
      <vt:lpstr>Using Multidimensional Arrays (cont’d.)</vt:lpstr>
      <vt:lpstr>Using Jagged Arrays</vt:lpstr>
      <vt:lpstr>Array Issues in GUI Programs</vt:lpstr>
      <vt:lpstr>Array Issues in GUI Programs (cont’d.)</vt:lpstr>
      <vt:lpstr>Array Issues in GUI Programs (cont’d.)</vt:lpstr>
      <vt:lpstr>Summary</vt:lpstr>
      <vt:lpstr>Summary (cont’d.)</vt:lpstr>
      <vt:lpstr>Summary (cont’d.)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2012-09-30T01:23:04Z</dcterms:created>
  <dcterms:modified xsi:type="dcterms:W3CDTF">2015-06-07T22:07:51Z</dcterms:modified>
</cp:coreProperties>
</file>