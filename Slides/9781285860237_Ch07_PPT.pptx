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84" r:id="rId1"/>
    <p:sldMasterId id="2147483857" r:id="rId2"/>
  </p:sldMasterIdLst>
  <p:notesMasterIdLst>
    <p:notesMasterId r:id="rId50"/>
  </p:notesMasterIdLst>
  <p:handoutMasterIdLst>
    <p:handoutMasterId r:id="rId51"/>
  </p:handoutMasterIdLst>
  <p:sldIdLst>
    <p:sldId id="700" r:id="rId3"/>
    <p:sldId id="257" r:id="rId4"/>
    <p:sldId id="476" r:id="rId5"/>
    <p:sldId id="671" r:id="rId6"/>
    <p:sldId id="653" r:id="rId7"/>
    <p:sldId id="651" r:id="rId8"/>
    <p:sldId id="672" r:id="rId9"/>
    <p:sldId id="705" r:id="rId10"/>
    <p:sldId id="673" r:id="rId11"/>
    <p:sldId id="675" r:id="rId12"/>
    <p:sldId id="704" r:id="rId13"/>
    <p:sldId id="674" r:id="rId14"/>
    <p:sldId id="720" r:id="rId15"/>
    <p:sldId id="676" r:id="rId16"/>
    <p:sldId id="677" r:id="rId17"/>
    <p:sldId id="707" r:id="rId18"/>
    <p:sldId id="708" r:id="rId19"/>
    <p:sldId id="624" r:id="rId20"/>
    <p:sldId id="695" r:id="rId21"/>
    <p:sldId id="679" r:id="rId22"/>
    <p:sldId id="654" r:id="rId23"/>
    <p:sldId id="696" r:id="rId24"/>
    <p:sldId id="641" r:id="rId25"/>
    <p:sldId id="697" r:id="rId26"/>
    <p:sldId id="698" r:id="rId27"/>
    <p:sldId id="721" r:id="rId28"/>
    <p:sldId id="605" r:id="rId29"/>
    <p:sldId id="723" r:id="rId30"/>
    <p:sldId id="724" r:id="rId31"/>
    <p:sldId id="722" r:id="rId32"/>
    <p:sldId id="683" r:id="rId33"/>
    <p:sldId id="712" r:id="rId34"/>
    <p:sldId id="713" r:id="rId35"/>
    <p:sldId id="702" r:id="rId36"/>
    <p:sldId id="714" r:id="rId37"/>
    <p:sldId id="684" r:id="rId38"/>
    <p:sldId id="642" r:id="rId39"/>
    <p:sldId id="715" r:id="rId40"/>
    <p:sldId id="717" r:id="rId41"/>
    <p:sldId id="718" r:id="rId42"/>
    <p:sldId id="655" r:id="rId43"/>
    <p:sldId id="629" r:id="rId44"/>
    <p:sldId id="719" r:id="rId45"/>
    <p:sldId id="689" r:id="rId46"/>
    <p:sldId id="606" r:id="rId47"/>
    <p:sldId id="580" r:id="rId48"/>
    <p:sldId id="472" r:id="rId4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rgbClr val="FFFFFF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3300"/>
    <a:srgbClr val="222222"/>
    <a:srgbClr val="FFFFFF"/>
    <a:srgbClr val="18B2B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 horzBarState="maximized">
    <p:restoredLeft sz="10440" autoAdjust="0"/>
    <p:restoredTop sz="94500" autoAdjust="0"/>
  </p:normalViewPr>
  <p:slideViewPr>
    <p:cSldViewPr>
      <p:cViewPr varScale="1">
        <p:scale>
          <a:sx n="74" d="100"/>
          <a:sy n="74" d="100"/>
        </p:scale>
        <p:origin x="1668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-1422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handoutMaster" Target="handoutMasters/handoutMaster1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dirty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FFEB7145-0E9A-4FAA-9BF3-9F7B9C1D02F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01218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dirty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dirty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dirty="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1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032D32C0-6A1E-4233-A196-8A98C915928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21037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C0B04DB-0C80-4BB4-B657-44157F124C21}" type="slidenum">
              <a:rPr lang="en-US" smtClean="0"/>
              <a:pPr/>
              <a:t>1</a:t>
            </a:fld>
            <a:endParaRPr lang="en-US" dirty="0" smtClean="0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s-EC" dirty="0" smtClean="0"/>
          </a:p>
        </p:txBody>
      </p:sp>
    </p:spTree>
    <p:extLst>
      <p:ext uri="{BB962C8B-B14F-4D97-AF65-F5344CB8AC3E}">
        <p14:creationId xmlns:p14="http://schemas.microsoft.com/office/powerpoint/2010/main" val="2227855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825D74C-5A79-495B-A84E-3EBDCDAE71BB}" type="slidenum">
              <a:rPr lang="en-US" smtClean="0"/>
              <a:pPr/>
              <a:t>2</a:t>
            </a:fld>
            <a:endParaRPr lang="en-US" dirty="0" smtClean="0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1857438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BA82E81-794D-48DF-99B7-79EC80A060F7}" type="slidenum">
              <a:rPr lang="en-US" smtClean="0"/>
              <a:pPr/>
              <a:t>3</a:t>
            </a:fld>
            <a:endParaRPr lang="en-US" dirty="0" smtClean="0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28187436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EC6B99B-A9C7-4F5B-A70C-D1657C08463A}" type="slidenum">
              <a:rPr lang="en-US" smtClean="0"/>
              <a:pPr/>
              <a:t>4</a:t>
            </a:fld>
            <a:endParaRPr lang="en-US" dirty="0" smtClean="0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26706754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3CC8966-5712-4CF7-B751-72DDA37FD112}" type="slidenum">
              <a:rPr lang="en-US" smtClean="0"/>
              <a:pPr/>
              <a:t>5</a:t>
            </a:fld>
            <a:endParaRPr lang="en-US" dirty="0" smtClean="0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809626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6FE5668-7337-4BF7-A0B4-695210D832A2}" type="slidenum">
              <a:rPr lang="en-US" smtClean="0"/>
              <a:pPr/>
              <a:t>6</a:t>
            </a:fld>
            <a:endParaRPr lang="en-US" dirty="0" smtClean="0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23132207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C26BDF7-88AF-4DD7-9726-33EC6644100C}" type="slidenum">
              <a:rPr lang="en-US" smtClean="0"/>
              <a:pPr/>
              <a:t>7</a:t>
            </a:fld>
            <a:endParaRPr lang="en-US" dirty="0" smtClean="0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38338008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2D32C0-6A1E-4233-A196-8A98C9159285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3335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8D85651-D8BF-4E20-AA2A-A6875F0608E0}" type="slidenum">
              <a:rPr lang="en-US" smtClean="0"/>
              <a:pPr/>
              <a:t>9</a:t>
            </a:fld>
            <a:endParaRPr lang="en-US" dirty="0" smtClean="0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18288960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09F366B-1F16-4489-BD09-8C58A2EAB8B3}" type="slidenum">
              <a:rPr lang="en-US" smtClean="0"/>
              <a:pPr/>
              <a:t>10</a:t>
            </a:fld>
            <a:endParaRPr lang="en-US" dirty="0" smtClean="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27990838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E7B8F75-E36F-4590-8233-202A6E68CA0D}" type="slidenum">
              <a:rPr lang="en-US" smtClean="0"/>
              <a:pPr/>
              <a:t>11</a:t>
            </a:fld>
            <a:endParaRPr lang="en-US" dirty="0" smtClean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15081603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11612E6-6B37-4C65-AEC7-1F61BD233558}" type="slidenum">
              <a:rPr lang="en-US" smtClean="0"/>
              <a:pPr/>
              <a:t>12</a:t>
            </a:fld>
            <a:endParaRPr lang="en-US" dirty="0" smtClean="0"/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15165809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2D32C0-6A1E-4233-A196-8A98C9159285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1067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6B2CDE1-7865-4524-9551-BC6C5053300C}" type="slidenum">
              <a:rPr lang="en-US" smtClean="0"/>
              <a:pPr/>
              <a:t>14</a:t>
            </a:fld>
            <a:endParaRPr lang="en-US" dirty="0" smtClean="0"/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20761427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E187C0F-6B23-4101-9A5C-A070F2CE7A01}" type="slidenum">
              <a:rPr lang="en-US" smtClean="0"/>
              <a:pPr/>
              <a:t>15</a:t>
            </a:fld>
            <a:endParaRPr lang="en-US" dirty="0" smtClean="0"/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10599631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2D32C0-6A1E-4233-A196-8A98C9159285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6137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2D32C0-6A1E-4233-A196-8A98C9159285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3425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A2E0A5A-ABDC-4CB1-94A9-682CD07A9340}" type="slidenum">
              <a:rPr lang="en-US" smtClean="0"/>
              <a:pPr/>
              <a:t>18</a:t>
            </a:fld>
            <a:endParaRPr lang="en-US" dirty="0" smtClean="0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21434816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2D32C0-6A1E-4233-A196-8A98C9159285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6135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874A4C-C51F-46DD-9FB9-D3F7499C28B0}" type="slidenum">
              <a:rPr lang="en-US" smtClean="0"/>
              <a:pPr/>
              <a:t>20</a:t>
            </a:fld>
            <a:endParaRPr lang="en-US" dirty="0" smtClean="0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12007190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B55776F-7AAA-4F49-9870-4B309E3971AD}" type="slidenum">
              <a:rPr lang="en-US" smtClean="0"/>
              <a:pPr/>
              <a:t>21</a:t>
            </a:fld>
            <a:endParaRPr lang="en-US" dirty="0" smtClean="0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33242653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2D32C0-6A1E-4233-A196-8A98C9159285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397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C1AF095-EB34-451C-9704-4A5A3ED20552}" type="slidenum">
              <a:rPr lang="en-US" smtClean="0"/>
              <a:pPr/>
              <a:t>23</a:t>
            </a:fld>
            <a:endParaRPr lang="en-US" dirty="0" smtClean="0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300930667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2D32C0-6A1E-4233-A196-8A98C9159285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86064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2D32C0-6A1E-4233-A196-8A98C9159285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3179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2D32C0-6A1E-4233-A196-8A98C9159285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428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5889D2-A844-4660-A69F-509E2575F0CC}" type="slidenum">
              <a:rPr lang="en-US" smtClean="0"/>
              <a:pPr/>
              <a:t>27</a:t>
            </a:fld>
            <a:endParaRPr lang="en-US" dirty="0" smtClean="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29662633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5889D2-A844-4660-A69F-509E2575F0CC}" type="slidenum">
              <a:rPr lang="en-US" smtClean="0"/>
              <a:pPr/>
              <a:t>28</a:t>
            </a:fld>
            <a:endParaRPr lang="en-US" dirty="0" smtClean="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12285803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5889D2-A844-4660-A69F-509E2575F0CC}" type="slidenum">
              <a:rPr lang="en-US" smtClean="0"/>
              <a:pPr/>
              <a:t>29</a:t>
            </a:fld>
            <a:endParaRPr lang="en-US" dirty="0" smtClean="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29880357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5889D2-A844-4660-A69F-509E2575F0CC}" type="slidenum">
              <a:rPr lang="en-US" smtClean="0"/>
              <a:pPr/>
              <a:t>30</a:t>
            </a:fld>
            <a:endParaRPr lang="en-US" dirty="0" smtClean="0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118838470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0BB25DA-8C09-41D4-86B9-0F63E23E2217}" type="slidenum">
              <a:rPr lang="en-US" smtClean="0"/>
              <a:pPr/>
              <a:t>31</a:t>
            </a:fld>
            <a:endParaRPr lang="en-US" dirty="0" smtClean="0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23564303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2D32C0-6A1E-4233-A196-8A98C9159285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4222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2D32C0-6A1E-4233-A196-8A98C9159285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523790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3C27BD2-97AF-49BF-BBA6-EC568112728C}" type="slidenum">
              <a:rPr lang="en-US" smtClean="0"/>
              <a:pPr/>
              <a:t>34</a:t>
            </a:fld>
            <a:endParaRPr lang="en-US" dirty="0" smtClean="0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414168382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2D32C0-6A1E-4233-A196-8A98C9159285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89721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73DE066-A05F-4186-9B40-629511FBEE9D}" type="slidenum">
              <a:rPr lang="en-US" smtClean="0"/>
              <a:pPr/>
              <a:t>36</a:t>
            </a:fld>
            <a:endParaRPr lang="en-US" dirty="0" smtClean="0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315443959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8FF7161-32C1-4B52-A88C-E7367A107CCF}" type="slidenum">
              <a:rPr lang="en-US" smtClean="0"/>
              <a:pPr/>
              <a:t>37</a:t>
            </a:fld>
            <a:endParaRPr lang="en-US" dirty="0" smtClean="0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146484831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2D32C0-6A1E-4233-A196-8A98C9159285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49516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2D32C0-6A1E-4233-A196-8A98C9159285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949067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2D32C0-6A1E-4233-A196-8A98C9159285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02628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C031CE-418B-4960-B3B3-AD7AA36181A2}" type="slidenum">
              <a:rPr lang="en-US" smtClean="0"/>
              <a:pPr/>
              <a:t>41</a:t>
            </a:fld>
            <a:endParaRPr lang="en-US" dirty="0" smtClean="0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27633586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8D1AA3-6296-4A7E-ACD4-A10C2AA71FAD}" type="slidenum">
              <a:rPr lang="en-US" smtClean="0"/>
              <a:pPr/>
              <a:t>42</a:t>
            </a:fld>
            <a:endParaRPr lang="en-US" dirty="0" smtClean="0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269719924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32D32C0-6A1E-4233-A196-8A98C9159285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40096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EA20B22-B5BF-4AEE-A4DA-ECD11561E288}" type="slidenum">
              <a:rPr lang="en-US" smtClean="0"/>
              <a:pPr/>
              <a:t>44</a:t>
            </a:fld>
            <a:endParaRPr lang="en-US" dirty="0" smtClean="0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264647379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141C84-5772-40DA-9199-AA0756EF6B8B}" type="slidenum">
              <a:rPr lang="en-US" smtClean="0"/>
              <a:pPr/>
              <a:t>45</a:t>
            </a:fld>
            <a:endParaRPr lang="en-US" dirty="0" smtClean="0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CA" dirty="0" smtClean="0"/>
          </a:p>
        </p:txBody>
      </p:sp>
    </p:spTree>
    <p:extLst>
      <p:ext uri="{BB962C8B-B14F-4D97-AF65-F5344CB8AC3E}">
        <p14:creationId xmlns:p14="http://schemas.microsoft.com/office/powerpoint/2010/main" val="69073080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30BFB9B-43EE-4E90-B263-73D781501AD8}" type="slidenum">
              <a:rPr lang="en-US" smtClean="0"/>
              <a:pPr/>
              <a:t>46</a:t>
            </a:fld>
            <a:endParaRPr lang="en-US" dirty="0" smtClean="0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57699124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D0F0850-9595-4A77-A912-19CC4C429948}" type="slidenum">
              <a:rPr lang="en-US" smtClean="0"/>
              <a:pPr/>
              <a:t>47</a:t>
            </a:fld>
            <a:endParaRPr lang="en-US" dirty="0" smtClean="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882771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E13D5E-D3F9-4D26-8BE1-C40ED8557C6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E330BF-17E3-4B2D-B91F-3E7B343F8AD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037F55-70D6-44C5-A4BB-68E01CD247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CAA39E-984F-42EC-B983-1AF60B41106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37BEC6-FEDB-453A-8A92-861E52FBABD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41F2DD-06D8-4D19-B6F1-41E5E2CFEA6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EEC721-0089-46CF-B5CA-0FC79F08CD6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7B9E43-3E69-41FD-A2E2-5FB438676D6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EE3654-04EA-474A-BF05-D18489FC90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E0DD1A-6375-4C19-A434-C496179D28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4EA8A2-B16F-4C30-84F4-B31CD868F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191000" y="3581400"/>
            <a:ext cx="4800600" cy="1981200"/>
          </a:xfrm>
        </p:spPr>
        <p:txBody>
          <a:bodyPr/>
          <a:lstStyle>
            <a:lvl1pPr marL="0" indent="0" algn="ctr">
              <a:buNone/>
              <a:defRPr sz="3600">
                <a:solidFill>
                  <a:schemeClr val="accent6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Chapter 1: </a:t>
            </a:r>
          </a:p>
          <a:p>
            <a:r>
              <a:rPr lang="en-US" dirty="0" smtClean="0"/>
              <a:t>Title Goes Here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8200"/>
            <a:ext cx="5419725" cy="6347100"/>
          </a:xfrm>
          <a:prstGeom prst="rect">
            <a:avLst/>
          </a:prstGeom>
        </p:spPr>
      </p:pic>
    </p:spTree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E330BF-17E3-4B2D-B91F-3E7B343F8AD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457200" y="6356350"/>
            <a:ext cx="6324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9037F55-70D6-44C5-A4BB-68E01CD247B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CAA39E-984F-42EC-B983-1AF60B41106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Slide Number Placehold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37BEC6-FEDB-453A-8A92-861E52FBABDC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1F2DD-06D8-4D19-B6F1-41E5E2CFEA6A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EEC721-0089-46CF-B5CA-0FC79F08CD6B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7B9E43-3E69-41FD-A2E2-5FB438676D69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EE3654-04EA-474A-BF05-D18489FC90B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E0DD1A-6375-4C19-A434-C496179D286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57912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4EA8A2-B16F-4C30-84F4-B31CD868F23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E7EE77-7417-414D-92D1-7B05D1ECC765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381000"/>
            <a:ext cx="8077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676400"/>
            <a:ext cx="80772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dirty="0">
                <a:solidFill>
                  <a:srgbClr val="222222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dirty="0">
                <a:solidFill>
                  <a:srgbClr val="222222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222222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48E7EE77-7417-414D-92D1-7B05D1ECC7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600">
          <a:solidFill>
            <a:srgbClr val="22222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 descr="DECOLORED2.jpg"/>
          <p:cNvPicPr>
            <a:picLocks noChangeAspect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40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mtClean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fld id="{2FAA42B8-EAEA-49EE-B7FC-AE14B386E258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457200" y="6356350"/>
            <a:ext cx="662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dirty="0" smtClean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sp>
        <p:nvSpPr>
          <p:cNvPr id="2" name="TextBox 1"/>
          <p:cNvSpPr txBox="1"/>
          <p:nvPr userDrawn="1"/>
        </p:nvSpPr>
        <p:spPr>
          <a:xfrm>
            <a:off x="4038600" y="6356350"/>
            <a:ext cx="37338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000" dirty="0" smtClean="0">
                <a:solidFill>
                  <a:schemeClr val="tx1"/>
                </a:solidFill>
              </a:rPr>
              <a:t>© 2016 Cengage Learning®. May not be scanned, copied or duplicated, or posted to a publicly accessible website, in whole or in part.</a:t>
            </a:r>
          </a:p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  <p:sldLayoutId id="2147483869" r:id="rId12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rgbClr val="558ED5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558ED5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4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3400" dirty="0" smtClean="0"/>
              <a:t>Chapter 7:</a:t>
            </a:r>
          </a:p>
          <a:p>
            <a:pPr eaLnBrk="1" hangingPunct="1">
              <a:lnSpc>
                <a:spcPct val="90000"/>
              </a:lnSpc>
            </a:pPr>
            <a:r>
              <a:rPr lang="en-US" sz="3400" dirty="0" smtClean="0"/>
              <a:t>Using Methods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/>
          <a:lstStyle/>
          <a:p>
            <a:pPr eaLnBrk="1" hangingPunct="1"/>
            <a:r>
              <a:rPr lang="en-US" sz="4000" spc="-200" dirty="0" smtClean="0"/>
              <a:t>Objectives</a:t>
            </a:r>
            <a:endParaRPr lang="en-US" spc="-200" dirty="0" smtClean="0"/>
          </a:p>
        </p:txBody>
      </p:sp>
      <p:sp>
        <p:nvSpPr>
          <p:cNvPr id="512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dirty="0" smtClean="0"/>
              <a:t>Learn about methods and implementation hiding</a:t>
            </a:r>
          </a:p>
          <a:p>
            <a:pPr eaLnBrk="1" hangingPunct="1"/>
            <a:r>
              <a:rPr lang="en-US" dirty="0" smtClean="0"/>
              <a:t>Write methods with no parameters and no return value</a:t>
            </a:r>
          </a:p>
          <a:p>
            <a:pPr eaLnBrk="1" hangingPunct="1"/>
            <a:r>
              <a:rPr lang="en-US" dirty="0" smtClean="0"/>
              <a:t>Write methods that require a single argument</a:t>
            </a:r>
          </a:p>
          <a:p>
            <a:pPr eaLnBrk="1" hangingPunct="1"/>
            <a:r>
              <a:rPr lang="en-US" dirty="0" smtClean="0"/>
              <a:t>Write methods that require multiple arguments</a:t>
            </a:r>
          </a:p>
          <a:p>
            <a:pPr eaLnBrk="1" hangingPunct="1"/>
            <a:r>
              <a:rPr lang="en-US" dirty="0" smtClean="0"/>
              <a:t>Write a method that returns a value</a:t>
            </a:r>
          </a:p>
          <a:p>
            <a:r>
              <a:rPr lang="en-US" dirty="0"/>
              <a:t>Pass </a:t>
            </a:r>
            <a:r>
              <a:rPr lang="en-US" dirty="0" smtClean="0"/>
              <a:t>array values to </a:t>
            </a:r>
            <a:r>
              <a:rPr lang="en-US" dirty="0"/>
              <a:t>a method</a:t>
            </a:r>
          </a:p>
          <a:p>
            <a:r>
              <a:rPr lang="en-US" dirty="0"/>
              <a:t>Learn some alternate ways to write a </a:t>
            </a:r>
            <a:r>
              <a:rPr lang="en-US" dirty="0">
                <a:latin typeface="Courier New" pitchFamily="1" charset="0"/>
                <a:cs typeface="Courier New" pitchFamily="1" charset="0"/>
              </a:rPr>
              <a:t>Main()</a:t>
            </a:r>
            <a:r>
              <a:rPr lang="en-US" dirty="0"/>
              <a:t> method header</a:t>
            </a:r>
          </a:p>
          <a:p>
            <a:r>
              <a:rPr lang="en-US" dirty="0"/>
              <a:t>Learn about issues using methods in GUI programs</a:t>
            </a:r>
          </a:p>
          <a:p>
            <a:pPr marL="0" indent="0" eaLnBrk="1" hangingPunct="1">
              <a:buNone/>
            </a:pP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E31E613-84D8-40A5-A8B7-5E1899C5CD28}" type="slidenum">
              <a:rPr lang="en-US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 smtClean="0"/>
              <a:t>Understanding Methods and Implementation Hiding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b="1" dirty="0" smtClean="0"/>
              <a:t>Method</a:t>
            </a:r>
          </a:p>
          <a:p>
            <a:pPr lvl="1" eaLnBrk="1" hangingPunct="1"/>
            <a:r>
              <a:rPr lang="en-US" dirty="0" smtClean="0"/>
              <a:t>An encapsulated series of statements that perform a task</a:t>
            </a:r>
          </a:p>
          <a:p>
            <a:pPr lvl="1" eaLnBrk="1" hangingPunct="1"/>
            <a:r>
              <a:rPr lang="en-US" dirty="0" smtClean="0"/>
              <a:t>Using a method is called </a:t>
            </a:r>
            <a:r>
              <a:rPr lang="en-US" b="1" dirty="0" smtClean="0"/>
              <a:t>invoking</a:t>
            </a:r>
            <a:r>
              <a:rPr lang="en-US" dirty="0" smtClean="0"/>
              <a:t> or </a:t>
            </a:r>
            <a:r>
              <a:rPr lang="en-US" b="1" dirty="0" smtClean="0"/>
              <a:t>calling </a:t>
            </a:r>
            <a:r>
              <a:rPr lang="en-US" dirty="0" smtClean="0"/>
              <a:t>the method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16BEC4B-8BEA-48F5-9C7D-A81F246C83B3}" type="slidenum">
              <a:rPr lang="en-US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 smtClean="0"/>
              <a:t>Understanding Methods and Implementation Hiding </a:t>
            </a:r>
            <a:r>
              <a:rPr lang="en-US" sz="12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(cont’d.)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8AA1926-7356-424C-BB40-5E94E445F189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425" y="1600200"/>
            <a:ext cx="5776375" cy="3886200"/>
          </a:xfrm>
          <a:prstGeom prst="rect">
            <a:avLst/>
          </a:prstGeom>
        </p:spPr>
      </p:pic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</a:pPr>
            <a:r>
              <a:rPr lang="en-US" b="1" dirty="0" smtClean="0"/>
              <a:t>Calling Method</a:t>
            </a:r>
          </a:p>
          <a:p>
            <a:pPr lvl="1"/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</a:p>
          <a:p>
            <a:pPr>
              <a:spcBef>
                <a:spcPct val="0"/>
              </a:spcBef>
            </a:pPr>
            <a:r>
              <a:rPr lang="en-US" b="1" dirty="0" smtClean="0"/>
              <a:t>Called Method</a:t>
            </a:r>
            <a:endParaRPr lang="en-US" b="1" dirty="0"/>
          </a:p>
          <a:p>
            <a:pPr lvl="1"/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WriteLine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 smtClean="0"/>
              <a:t>Understanding Implementation Hiding</a:t>
            </a:r>
          </a:p>
        </p:txBody>
      </p:sp>
      <p:sp>
        <p:nvSpPr>
          <p:cNvPr id="922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Implementation hiding</a:t>
            </a:r>
          </a:p>
          <a:p>
            <a:pPr lvl="1" eaLnBrk="1" hangingPunct="1"/>
            <a:r>
              <a:rPr lang="en-US" dirty="0" smtClean="0"/>
              <a:t>An important principle of object-oriented programming</a:t>
            </a:r>
          </a:p>
          <a:p>
            <a:pPr lvl="1" eaLnBrk="1" hangingPunct="1"/>
            <a:r>
              <a:rPr lang="en-US" dirty="0" smtClean="0"/>
              <a:t>Keeps the details of a method’s operations hidden</a:t>
            </a:r>
          </a:p>
          <a:p>
            <a:pPr eaLnBrk="1" hangingPunct="1"/>
            <a:r>
              <a:rPr lang="en-US" dirty="0" smtClean="0"/>
              <a:t>The only concern is the way you </a:t>
            </a:r>
            <a:r>
              <a:rPr lang="en-US" b="1" dirty="0" smtClean="0"/>
              <a:t>interface</a:t>
            </a:r>
            <a:r>
              <a:rPr lang="en-US" dirty="0" smtClean="0"/>
              <a:t>,</a:t>
            </a:r>
            <a:r>
              <a:rPr lang="en-US" b="1" dirty="0" smtClean="0"/>
              <a:t> </a:t>
            </a:r>
            <a:r>
              <a:rPr lang="en-US" dirty="0" smtClean="0"/>
              <a:t>or interact, with the method</a:t>
            </a:r>
          </a:p>
          <a:p>
            <a:pPr lvl="1" eaLnBrk="1" hangingPunct="1"/>
            <a:r>
              <a:rPr lang="en-US" dirty="0" smtClean="0"/>
              <a:t>The program does not need to know how the method works</a:t>
            </a:r>
          </a:p>
          <a:p>
            <a:pPr lvl="1" eaLnBrk="1" hangingPunct="1"/>
            <a:r>
              <a:rPr lang="en-US" dirty="0" smtClean="0"/>
              <a:t>A method that uses another is a </a:t>
            </a:r>
            <a:r>
              <a:rPr lang="en-US" b="1" dirty="0" smtClean="0"/>
              <a:t>client</a:t>
            </a:r>
            <a:r>
              <a:rPr lang="en-US" dirty="0" smtClean="0"/>
              <a:t> of that method</a:t>
            </a:r>
          </a:p>
          <a:p>
            <a:pPr lvl="1" eaLnBrk="1" hangingPunct="1"/>
            <a:r>
              <a:rPr lang="en-US" dirty="0" smtClean="0"/>
              <a:t>Methods exist in a black box – a virtual device you can use without knowing how it works internally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97955A6-ED56-44A2-A2C1-D4C961FA4EF1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 smtClean="0"/>
              <a:t>Writing Methods with No Parameters and No Return Value</a:t>
            </a:r>
          </a:p>
        </p:txBody>
      </p:sp>
      <p:sp>
        <p:nvSpPr>
          <p:cNvPr id="1024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dirty="0" smtClean="0"/>
              <a:t>Major reasons to create a method:</a:t>
            </a:r>
          </a:p>
          <a:p>
            <a:pPr lvl="1" eaLnBrk="1" hangingPunct="1"/>
            <a:r>
              <a:rPr lang="en-US" dirty="0" smtClean="0"/>
              <a:t>The code will remain short and easy to follow</a:t>
            </a:r>
          </a:p>
          <a:p>
            <a:pPr lvl="1" eaLnBrk="1" hangingPunct="1">
              <a:spcBef>
                <a:spcPct val="0"/>
              </a:spcBef>
            </a:pPr>
            <a:r>
              <a:rPr lang="en-US" dirty="0" smtClean="0"/>
              <a:t>A method is easily reusable</a:t>
            </a:r>
          </a:p>
          <a:p>
            <a:pPr eaLnBrk="1" hangingPunct="1">
              <a:spcBef>
                <a:spcPct val="0"/>
              </a:spcBef>
            </a:pPr>
            <a:r>
              <a:rPr lang="en-US" b="1" dirty="0" smtClean="0"/>
              <a:t>Code bloat</a:t>
            </a:r>
            <a:endParaRPr lang="en-US" dirty="0" smtClean="0"/>
          </a:p>
          <a:p>
            <a:pPr lvl="1" eaLnBrk="1" hangingPunct="1"/>
            <a:r>
              <a:rPr lang="en-US" dirty="0" smtClean="0"/>
              <a:t>Unnecessarily long or repetitive statements</a:t>
            </a:r>
          </a:p>
          <a:p>
            <a:pPr eaLnBrk="1" hangingPunct="1">
              <a:spcBef>
                <a:spcPct val="0"/>
              </a:spcBef>
            </a:pPr>
            <a:r>
              <a:rPr lang="en-US" dirty="0" smtClean="0"/>
              <a:t>A method must include:</a:t>
            </a:r>
          </a:p>
          <a:p>
            <a:pPr lvl="1" eaLnBrk="1" hangingPunct="1"/>
            <a:r>
              <a:rPr lang="en-US" b="1" dirty="0" smtClean="0"/>
              <a:t>Method declaration</a:t>
            </a:r>
          </a:p>
          <a:p>
            <a:pPr lvl="2" eaLnBrk="1" hangingPunct="1"/>
            <a:r>
              <a:rPr lang="en-US" dirty="0" smtClean="0"/>
              <a:t>Also called a </a:t>
            </a:r>
            <a:r>
              <a:rPr lang="en-US" b="1" dirty="0" smtClean="0"/>
              <a:t>method header </a:t>
            </a:r>
            <a:r>
              <a:rPr lang="en-US" dirty="0" smtClean="0"/>
              <a:t>or </a:t>
            </a:r>
            <a:r>
              <a:rPr lang="en-US" b="1" dirty="0" smtClean="0"/>
              <a:t>method definition</a:t>
            </a:r>
          </a:p>
          <a:p>
            <a:pPr lvl="1" eaLnBrk="1" hangingPunct="1"/>
            <a:r>
              <a:rPr lang="en-US" dirty="0" smtClean="0"/>
              <a:t>Opening curly brace   {</a:t>
            </a:r>
          </a:p>
          <a:p>
            <a:pPr lvl="1" eaLnBrk="1" hangingPunct="1"/>
            <a:r>
              <a:rPr lang="en-US" dirty="0"/>
              <a:t>Method body</a:t>
            </a:r>
          </a:p>
          <a:p>
            <a:pPr lvl="1" eaLnBrk="1" hangingPunct="1"/>
            <a:r>
              <a:rPr lang="en-US" dirty="0" smtClean="0"/>
              <a:t>Closing curly brace      }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9F4F3B9-3DA0-4C44-A3DA-1726E5043874}" type="slidenum">
              <a:rPr lang="en-US"/>
              <a:pPr>
                <a:defRPr/>
              </a:pPr>
              <a:t>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 smtClean="0"/>
              <a:t>Writing Methods with No Parameters and No Return Value </a:t>
            </a:r>
            <a:r>
              <a:rPr lang="en-US" sz="12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(cont’d.)</a:t>
            </a:r>
          </a:p>
        </p:txBody>
      </p:sp>
      <p:sp>
        <p:nvSpPr>
          <p:cNvPr id="1126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Method declaration</a:t>
            </a:r>
          </a:p>
          <a:p>
            <a:pPr lvl="1" eaLnBrk="1" hangingPunct="1"/>
            <a:r>
              <a:rPr lang="en-US" dirty="0" smtClean="0"/>
              <a:t>Defines the rules for using the method and contains:</a:t>
            </a:r>
          </a:p>
          <a:p>
            <a:pPr lvl="2" eaLnBrk="1" hangingPunct="1"/>
            <a:r>
              <a:rPr lang="en-US" dirty="0" smtClean="0"/>
              <a:t>Optional declared accessibility</a:t>
            </a:r>
          </a:p>
          <a:p>
            <a:pPr lvl="2" eaLnBrk="1" hangingPunct="1"/>
            <a:r>
              <a:rPr lang="en-US" dirty="0" smtClean="0"/>
              <a:t>Optional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static</a:t>
            </a:r>
            <a:r>
              <a:rPr lang="en-US" dirty="0" smtClean="0"/>
              <a:t> modifier</a:t>
            </a:r>
          </a:p>
          <a:p>
            <a:pPr lvl="2" eaLnBrk="1" hangingPunct="1"/>
            <a:r>
              <a:rPr lang="en-US" dirty="0" smtClean="0"/>
              <a:t>Return type for the method</a:t>
            </a:r>
          </a:p>
          <a:p>
            <a:pPr lvl="2" eaLnBrk="1" hangingPunct="1"/>
            <a:r>
              <a:rPr lang="en-US" dirty="0" smtClean="0"/>
              <a:t>Method name, or identifier</a:t>
            </a:r>
          </a:p>
          <a:p>
            <a:pPr lvl="2" eaLnBrk="1" hangingPunct="1"/>
            <a:r>
              <a:rPr lang="en-US" dirty="0" smtClean="0"/>
              <a:t>Opening parenthesis</a:t>
            </a:r>
          </a:p>
          <a:p>
            <a:pPr lvl="2" eaLnBrk="1" hangingPunct="1"/>
            <a:r>
              <a:rPr lang="en-US" dirty="0" smtClean="0"/>
              <a:t>Optional list of method parameters</a:t>
            </a:r>
          </a:p>
          <a:p>
            <a:pPr lvl="2" eaLnBrk="1" hangingPunct="1"/>
            <a:r>
              <a:rPr lang="en-US" dirty="0" smtClean="0"/>
              <a:t>Closing parenthesis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E7F47E3-E538-4D31-94B3-0467C9550D40}" type="slidenum">
              <a:rPr lang="en-US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Writing Methods with No Parameters and No Return Value </a:t>
            </a:r>
            <a:r>
              <a:rPr lang="en-US" sz="1200" spc="-2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cont’d</a:t>
            </a:r>
            <a:r>
              <a:rPr lang="en-US" sz="1200" spc="-200" dirty="0">
                <a:latin typeface="Courier New" panose="02070309020205020404" pitchFamily="49" charset="0"/>
                <a:cs typeface="Courier New" panose="02070309020205020404" pitchFamily="49" charset="0"/>
              </a:rPr>
              <a:t>.)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941F2DD-06D8-4D19-B6F1-41E5E2CFEA6A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35223"/>
            <a:ext cx="8626252" cy="4279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541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 smtClean="0"/>
              <a:t>Optional declared </a:t>
            </a:r>
            <a:r>
              <a:rPr lang="en-US" b="1" dirty="0" smtClean="0"/>
              <a:t>accessibility</a:t>
            </a:r>
          </a:p>
          <a:p>
            <a:pPr lvl="1" eaLnBrk="1" hangingPunct="1"/>
            <a:r>
              <a:rPr lang="en-US" dirty="0" smtClean="0"/>
              <a:t>Limits how other methods can use your method</a:t>
            </a:r>
          </a:p>
          <a:p>
            <a:pPr lvl="1" eaLnBrk="1" hangingPunct="1"/>
            <a:r>
              <a:rPr lang="en-US" dirty="0" smtClean="0"/>
              <a:t>Possible access values:</a:t>
            </a:r>
          </a:p>
          <a:p>
            <a:pPr lvl="2"/>
            <a:r>
              <a:rPr lang="en-US" b="1" dirty="0" smtClean="0"/>
              <a:t>Public access </a:t>
            </a:r>
            <a:r>
              <a:rPr lang="en-US" dirty="0" smtClean="0"/>
              <a:t>– established by including a 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-US" dirty="0" smtClean="0"/>
              <a:t> modifier in the member declaration (allows access to the method from other classes)</a:t>
            </a:r>
          </a:p>
          <a:p>
            <a:pPr lvl="2"/>
            <a:r>
              <a:rPr lang="en-US" b="1" dirty="0"/>
              <a:t>Private Access </a:t>
            </a:r>
            <a:r>
              <a:rPr lang="en-US" dirty="0"/>
              <a:t>- is established by including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private</a:t>
            </a:r>
            <a:r>
              <a:rPr lang="en-US" dirty="0"/>
              <a:t> modifier in the member </a:t>
            </a:r>
            <a:r>
              <a:rPr lang="en-US" dirty="0" smtClean="0"/>
              <a:t>declaration or </a:t>
            </a:r>
            <a:r>
              <a:rPr lang="en-US" dirty="0"/>
              <a:t>by omitting any accessibility </a:t>
            </a:r>
            <a:r>
              <a:rPr lang="en-US" dirty="0" smtClean="0"/>
              <a:t>modifier</a:t>
            </a:r>
          </a:p>
          <a:p>
            <a:pPr lvl="3"/>
            <a:r>
              <a:rPr lang="en-US" dirty="0" smtClean="0"/>
              <a:t>This </a:t>
            </a:r>
            <a:r>
              <a:rPr lang="en-US" dirty="0"/>
              <a:t>modifier limits method access to the class </a:t>
            </a:r>
            <a:r>
              <a:rPr lang="en-US" dirty="0" smtClean="0"/>
              <a:t>that contains </a:t>
            </a:r>
            <a:r>
              <a:rPr lang="en-US" dirty="0"/>
              <a:t>the </a:t>
            </a:r>
            <a:r>
              <a:rPr lang="en-US" dirty="0" smtClean="0"/>
              <a:t>method</a:t>
            </a:r>
          </a:p>
          <a:p>
            <a:pPr lvl="1"/>
            <a:r>
              <a:rPr lang="en-US" dirty="0"/>
              <a:t>When you use a method’s complete name, including its class, you are using its </a:t>
            </a:r>
            <a:r>
              <a:rPr lang="en-US" b="1" dirty="0"/>
              <a:t>fully qualified </a:t>
            </a:r>
            <a:r>
              <a:rPr lang="en-US" dirty="0" smtClean="0"/>
              <a:t>name</a:t>
            </a:r>
          </a:p>
          <a:p>
            <a:pPr lvl="2"/>
            <a:r>
              <a:rPr lang="en-US" dirty="0" smtClean="0"/>
              <a:t>E.g.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Console.WriteLine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F393E3-0B00-471C-A74D-EEAE31BEB2FD}" type="slidenum">
              <a:rPr lang="en-US"/>
              <a:pPr>
                <a:defRPr/>
              </a:pPr>
              <a:t>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000" spc="-200" dirty="0" smtClean="0"/>
              <a:t>An Introduction to Accessibility</a:t>
            </a:r>
            <a:endParaRPr lang="en-US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4B06D7D-4A67-4A0B-9ABF-667CB908A84E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z="4000" spc="-200" dirty="0" smtClean="0"/>
              <a:t>An Introduction to Accessibility </a:t>
            </a:r>
            <a:r>
              <a:rPr lang="en-US" sz="12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(cont’d.)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" y="1614487"/>
            <a:ext cx="8172450" cy="3629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 smtClean="0"/>
              <a:t>An Introduction to the Optional </a:t>
            </a:r>
            <a:r>
              <a:rPr lang="en-US" sz="4000" spc="-200" dirty="0" smtClean="0">
                <a:latin typeface="Courier New" pitchFamily="49" charset="0"/>
                <a:cs typeface="Courier New" pitchFamily="49" charset="0"/>
              </a:rPr>
              <a:t>static</a:t>
            </a:r>
            <a:r>
              <a:rPr lang="en-US" sz="4000" spc="-200" dirty="0" smtClean="0"/>
              <a:t> Modifier</a:t>
            </a:r>
          </a:p>
        </p:txBody>
      </p:sp>
      <p:sp>
        <p:nvSpPr>
          <p:cNvPr id="1434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You can declare a method to be </a:t>
            </a:r>
            <a:r>
              <a:rPr lang="en-US" b="1" dirty="0" smtClean="0"/>
              <a:t>static </a:t>
            </a:r>
            <a:r>
              <a:rPr lang="en-US" dirty="0" smtClean="0"/>
              <a:t>or </a:t>
            </a:r>
            <a:r>
              <a:rPr lang="en-US" b="1" dirty="0" smtClean="0"/>
              <a:t>nonstatic</a:t>
            </a:r>
            <a:endParaRPr lang="en-US" dirty="0" smtClean="0"/>
          </a:p>
          <a:p>
            <a:pPr lvl="1" eaLnBrk="1" hangingPunct="1"/>
            <a:r>
              <a:rPr lang="en-US" dirty="0" smtClean="0"/>
              <a:t>Methods are nonstatic by default</a:t>
            </a:r>
          </a:p>
          <a:p>
            <a:pPr eaLnBrk="1" hangingPunct="1"/>
            <a:r>
              <a:rPr lang="en-US" b="1" dirty="0" smtClean="0">
                <a:latin typeface="Courier New" pitchFamily="1" charset="0"/>
                <a:cs typeface="Courier New" pitchFamily="1" charset="0"/>
              </a:rPr>
              <a:t>static</a:t>
            </a:r>
            <a:r>
              <a:rPr lang="en-US" b="1" dirty="0" smtClean="0"/>
              <a:t> method</a:t>
            </a:r>
          </a:p>
          <a:p>
            <a:pPr lvl="1"/>
            <a:r>
              <a:rPr lang="en-US" dirty="0" smtClean="0"/>
              <a:t>Can be called without referring to an object</a:t>
            </a:r>
          </a:p>
          <a:p>
            <a:pPr lvl="2"/>
            <a:r>
              <a:rPr lang="en-US" dirty="0" smtClean="0"/>
              <a:t>Instead, you refer to the class</a:t>
            </a:r>
          </a:p>
          <a:p>
            <a:pPr lvl="1"/>
            <a:r>
              <a:rPr lang="en-US" dirty="0" smtClean="0"/>
              <a:t>Cannot call nonstatic methods</a:t>
            </a:r>
          </a:p>
          <a:p>
            <a:r>
              <a:rPr lang="en-US" b="1" dirty="0" err="1" smtClean="0">
                <a:latin typeface="Courier New" pitchFamily="1" charset="0"/>
                <a:cs typeface="Courier New" pitchFamily="1" charset="0"/>
              </a:rPr>
              <a:t>nonstatic</a:t>
            </a:r>
            <a:r>
              <a:rPr lang="en-US" b="1" dirty="0" smtClean="0"/>
              <a:t> </a:t>
            </a:r>
            <a:r>
              <a:rPr lang="en-US" b="1" dirty="0"/>
              <a:t>method</a:t>
            </a:r>
          </a:p>
          <a:p>
            <a:pPr lvl="1"/>
            <a:r>
              <a:rPr lang="en-US" dirty="0" smtClean="0"/>
              <a:t>The default</a:t>
            </a:r>
          </a:p>
          <a:p>
            <a:pPr lvl="1"/>
            <a:r>
              <a:rPr lang="en-US" dirty="0" smtClean="0"/>
              <a:t>Can be used only in conjunction with an object</a:t>
            </a:r>
          </a:p>
          <a:p>
            <a:pPr lvl="1"/>
            <a:r>
              <a:rPr lang="en-US" dirty="0" err="1"/>
              <a:t>Nonstatic</a:t>
            </a:r>
            <a:r>
              <a:rPr lang="en-US" dirty="0"/>
              <a:t> methods can call static ones</a:t>
            </a:r>
          </a:p>
          <a:p>
            <a:pPr lvl="1"/>
            <a:endParaRPr lang="en-US" dirty="0"/>
          </a:p>
          <a:p>
            <a:pPr lvl="2"/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0EF5141-D743-4A7E-A154-02ACEBA35B5F}" type="slidenum">
              <a:rPr lang="en-US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Every method has a </a:t>
            </a:r>
            <a:r>
              <a:rPr lang="en-US" b="1" dirty="0" smtClean="0"/>
              <a:t>return type</a:t>
            </a:r>
          </a:p>
          <a:p>
            <a:pPr lvl="1" eaLnBrk="1" hangingPunct="1"/>
            <a:r>
              <a:rPr lang="en-US" dirty="0" smtClean="0"/>
              <a:t>Indicates what kind of value the method will return to any other method that calls it</a:t>
            </a:r>
          </a:p>
          <a:p>
            <a:pPr lvl="1" eaLnBrk="1" hangingPunct="1"/>
            <a:r>
              <a:rPr lang="en-US" dirty="0" smtClean="0"/>
              <a:t>If a method does not return a value, its return type is </a:t>
            </a:r>
            <a:r>
              <a:rPr lang="en-US" dirty="0" smtClean="0">
                <a:latin typeface="Courier New" pitchFamily="1" charset="0"/>
              </a:rPr>
              <a:t>void</a:t>
            </a:r>
          </a:p>
          <a:p>
            <a:pPr lvl="1"/>
            <a:r>
              <a:rPr lang="en-US" dirty="0"/>
              <a:t>A method’s return type is known more succinctly as a </a:t>
            </a:r>
            <a:r>
              <a:rPr lang="en-US" b="1" dirty="0"/>
              <a:t>method’s type</a:t>
            </a:r>
            <a:endParaRPr lang="en-US" dirty="0" smtClean="0">
              <a:latin typeface="Courier New" pitchFamily="1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69BF75B-632C-4CE1-A43E-7D657C960A61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spc="-200" dirty="0" smtClean="0"/>
              <a:t>An Introduction to Return Types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method name must be a legal C# identifier</a:t>
            </a:r>
          </a:p>
          <a:p>
            <a:r>
              <a:rPr lang="en-US" b="1" dirty="0" smtClean="0"/>
              <a:t>Parameter to a method</a:t>
            </a:r>
          </a:p>
          <a:p>
            <a:pPr lvl="1"/>
            <a:r>
              <a:rPr lang="en-US" dirty="0" smtClean="0"/>
              <a:t>A variable that holds data passed to a method when it is called</a:t>
            </a:r>
          </a:p>
          <a:p>
            <a:pPr lvl="1"/>
            <a:r>
              <a:rPr lang="en-US" dirty="0"/>
              <a:t>The parentheses that follow a method name in its header can hold one parameter or </a:t>
            </a:r>
            <a:r>
              <a:rPr lang="en-US" dirty="0" smtClean="0"/>
              <a:t>multiple parameters </a:t>
            </a:r>
            <a:r>
              <a:rPr lang="en-US" dirty="0"/>
              <a:t>separated with </a:t>
            </a:r>
            <a:r>
              <a:rPr lang="en-US" dirty="0" smtClean="0"/>
              <a:t>commas</a:t>
            </a:r>
          </a:p>
          <a:p>
            <a:pPr lvl="2"/>
            <a:r>
              <a:rPr lang="en-US" dirty="0" smtClean="0"/>
              <a:t>The </a:t>
            </a:r>
            <a:r>
              <a:rPr lang="en-US" dirty="0"/>
              <a:t>contents within the parentheses are known as </a:t>
            </a:r>
            <a:r>
              <a:rPr lang="en-US" dirty="0" smtClean="0"/>
              <a:t>the </a:t>
            </a:r>
            <a:r>
              <a:rPr lang="en-US" b="1" dirty="0" smtClean="0"/>
              <a:t>parameter list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E330BF-17E3-4B2D-B91F-3E7B343F8AD3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spc="-200" dirty="0" smtClean="0"/>
              <a:t>Understanding the Method Identifier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5791D85-EAD4-4169-86C7-514E2EAA994D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sp>
        <p:nvSpPr>
          <p:cNvPr id="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spc="-200" dirty="0" smtClean="0"/>
              <a:t>Placing a Method in a Class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76400"/>
            <a:ext cx="8583351" cy="3429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 smtClean="0"/>
              <a:t>Placing a Method in a Class </a:t>
            </a:r>
            <a:r>
              <a:rPr lang="en-US" sz="12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(cont’d.)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A7663E-A574-41BE-8027-8FD99C21FF2F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600200"/>
            <a:ext cx="6836966" cy="47561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0562" y="1600200"/>
            <a:ext cx="4618434" cy="2057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274638"/>
            <a:ext cx="8991600" cy="1143000"/>
          </a:xfrm>
        </p:spPr>
        <p:txBody>
          <a:bodyPr/>
          <a:lstStyle/>
          <a:p>
            <a:r>
              <a:rPr lang="en-US" sz="4000" spc="-200" dirty="0" smtClean="0"/>
              <a:t>Declaring Variables and Constants in a Method</a:t>
            </a:r>
            <a:endParaRPr lang="en-US" sz="4000" spc="-2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Variables and constants can be declared in a method</a:t>
            </a:r>
          </a:p>
          <a:p>
            <a:r>
              <a:rPr lang="en-US" dirty="0" smtClean="0"/>
              <a:t>They are considered </a:t>
            </a:r>
            <a:r>
              <a:rPr lang="en-US" b="1" dirty="0" smtClean="0"/>
              <a:t>local</a:t>
            </a:r>
            <a:r>
              <a:rPr lang="en-US" dirty="0" smtClean="0"/>
              <a:t> to that method</a:t>
            </a:r>
          </a:p>
          <a:p>
            <a:pPr lvl="1"/>
            <a:r>
              <a:rPr lang="en-US" dirty="0" smtClean="0"/>
              <a:t>Their scope is defined by the boundaries of the method</a:t>
            </a:r>
          </a:p>
          <a:p>
            <a:r>
              <a:rPr lang="en-US" b="1" dirty="0" smtClean="0"/>
              <a:t>Scope</a:t>
            </a:r>
          </a:p>
          <a:p>
            <a:pPr lvl="1"/>
            <a:r>
              <a:rPr lang="en-US" dirty="0" smtClean="0"/>
              <a:t>The area in which a variable is known</a:t>
            </a:r>
          </a:p>
          <a:p>
            <a:r>
              <a:rPr lang="en-US" dirty="0" smtClean="0"/>
              <a:t>They go out of scope when the method is exited</a:t>
            </a:r>
          </a:p>
          <a:p>
            <a:r>
              <a:rPr lang="en-US" dirty="0" smtClean="0"/>
              <a:t>They are not accessible outside of the method except when passed as parameters to other methods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41F2DD-06D8-4D19-B6F1-41E5E2CFEA6A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593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274638"/>
            <a:ext cx="8991600" cy="1143000"/>
          </a:xfrm>
        </p:spPr>
        <p:txBody>
          <a:bodyPr/>
          <a:lstStyle/>
          <a:p>
            <a:r>
              <a:rPr lang="en-US" sz="4000" spc="-200" dirty="0"/>
              <a:t>Declaring Variables and Constants in a </a:t>
            </a:r>
            <a:r>
              <a:rPr lang="en-US" sz="4000" spc="-200" dirty="0" smtClean="0"/>
              <a:t>Method </a:t>
            </a:r>
            <a:r>
              <a:rPr lang="en-US" sz="12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(cont’d.)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941F2DD-06D8-4D19-B6F1-41E5E2CFEA6A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9" y="1568450"/>
            <a:ext cx="6184467" cy="48323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524000"/>
            <a:ext cx="4724400" cy="1749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8027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 smtClean="0"/>
              <a:t>Writing Methods That Require a Single Argument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dirty="0" smtClean="0"/>
              <a:t>You need:</a:t>
            </a:r>
          </a:p>
          <a:p>
            <a:pPr lvl="1" eaLnBrk="1" hangingPunct="1"/>
            <a:r>
              <a:rPr lang="en-US" dirty="0" smtClean="0"/>
              <a:t>The type of the parameter</a:t>
            </a:r>
          </a:p>
          <a:p>
            <a:pPr lvl="1" eaLnBrk="1" hangingPunct="1"/>
            <a:r>
              <a:rPr lang="en-US" dirty="0" smtClean="0"/>
              <a:t>A local identifier (name) for the parameter</a:t>
            </a:r>
          </a:p>
          <a:p>
            <a:pPr eaLnBrk="1" hangingPunct="1">
              <a:spcBef>
                <a:spcPct val="0"/>
              </a:spcBef>
            </a:pPr>
            <a:r>
              <a:rPr lang="en-US" dirty="0" smtClean="0"/>
              <a:t>Local variable</a:t>
            </a:r>
          </a:p>
          <a:p>
            <a:pPr lvl="1" eaLnBrk="1" hangingPunct="1"/>
            <a:r>
              <a:rPr lang="en-US" dirty="0" smtClean="0"/>
              <a:t>Declared within a method</a:t>
            </a:r>
          </a:p>
          <a:p>
            <a:pPr eaLnBrk="1" hangingPunct="1"/>
            <a:r>
              <a:rPr lang="en-US" b="1" dirty="0" smtClean="0"/>
              <a:t>Formal parameter</a:t>
            </a:r>
          </a:p>
          <a:p>
            <a:pPr lvl="1" eaLnBrk="1" hangingPunct="1"/>
            <a:r>
              <a:rPr lang="en-US" dirty="0" smtClean="0"/>
              <a:t>A parameter in a method header that accepts a value</a:t>
            </a:r>
          </a:p>
          <a:p>
            <a:pPr eaLnBrk="1" hangingPunct="1"/>
            <a:r>
              <a:rPr lang="en-US" b="1" dirty="0" smtClean="0"/>
              <a:t>Actual parameters</a:t>
            </a:r>
          </a:p>
          <a:p>
            <a:pPr lvl="1" eaLnBrk="1" hangingPunct="1"/>
            <a:r>
              <a:rPr lang="en-US" dirty="0" smtClean="0"/>
              <a:t>Arguments within a method call</a:t>
            </a:r>
          </a:p>
          <a:p>
            <a:pPr lvl="1" eaLnBrk="1" hangingPunct="1">
              <a:buFontTx/>
              <a:buNone/>
            </a:pPr>
            <a:endParaRPr lang="en-US" dirty="0" smtClean="0"/>
          </a:p>
          <a:p>
            <a:pPr eaLnBrk="1" hangingPunct="1"/>
            <a:endParaRPr lang="en-US" dirty="0" smtClean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8A8DEE-C8E9-47EA-B310-F6C611F8484E}" type="slidenum">
              <a:rPr lang="en-US"/>
              <a:pPr>
                <a:defRPr/>
              </a:pPr>
              <a:t>18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 smtClean="0"/>
              <a:t>Writing Methods That Require a Single Argument </a:t>
            </a:r>
            <a:r>
              <a:rPr lang="en-US" sz="12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(cont’d.)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C7B0580-DE1F-42F6-A456-E58E894E06C3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752600"/>
            <a:ext cx="8530046" cy="3200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 smtClean="0"/>
              <a:t>Writing Methods That Require a Single Argument </a:t>
            </a:r>
            <a:r>
              <a:rPr lang="en-US" sz="12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(cont’d.)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EA35E23-B241-486E-A1C1-D724BF14A60D}" type="slidenum">
              <a:rPr lang="en-US"/>
              <a:pPr>
                <a:defRPr/>
              </a:pPr>
              <a:t>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70" y="1645317"/>
            <a:ext cx="7086596" cy="471103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400" y="1660342"/>
            <a:ext cx="4171950" cy="17049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 smtClean="0"/>
              <a:t>Writing Methods That Require Multiple Arguments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Methods can take any number of parameters</a:t>
            </a:r>
          </a:p>
          <a:p>
            <a:r>
              <a:rPr lang="en-US" dirty="0" smtClean="0"/>
              <a:t>When you call the method, arguments must match in number, type, and relative position</a:t>
            </a:r>
          </a:p>
          <a:p>
            <a:pPr lvl="1"/>
            <a:r>
              <a:rPr lang="en-US" dirty="0" smtClean="0"/>
              <a:t>The type qualification will be satisfied if an implicit cast (or automatic conversion) is possible</a:t>
            </a:r>
          </a:p>
          <a:p>
            <a:pPr lvl="1"/>
            <a:r>
              <a:rPr lang="en-US" dirty="0" smtClean="0"/>
              <a:t>Examples</a:t>
            </a:r>
          </a:p>
          <a:p>
            <a:pPr lvl="2"/>
            <a:r>
              <a:rPr lang="en-US" dirty="0" smtClean="0"/>
              <a:t>From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dirty="0"/>
              <a:t> to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dirty="0"/>
              <a:t>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float</a:t>
            </a:r>
            <a:r>
              <a:rPr lang="en-US" dirty="0"/>
              <a:t>,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double</a:t>
            </a:r>
            <a:r>
              <a:rPr lang="en-US" dirty="0"/>
              <a:t>, or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decimal</a:t>
            </a:r>
          </a:p>
          <a:p>
            <a:pPr lvl="2"/>
            <a:r>
              <a:rPr lang="en-US" dirty="0"/>
              <a:t>From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float</a:t>
            </a:r>
            <a:r>
              <a:rPr lang="en-US" dirty="0"/>
              <a:t> to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double</a:t>
            </a:r>
            <a:endParaRPr lang="en-US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710B071-0891-4EE3-BCB5-243B5332F509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76200" y="274638"/>
            <a:ext cx="8991600" cy="1143000"/>
          </a:xfrm>
        </p:spPr>
        <p:txBody>
          <a:bodyPr/>
          <a:lstStyle/>
          <a:p>
            <a:r>
              <a:rPr lang="en-US" sz="4000" spc="-200" dirty="0" smtClean="0"/>
              <a:t>Writing Methods That Require Multiple Arguments </a:t>
            </a:r>
            <a:r>
              <a:rPr lang="en-US" sz="12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(cont’d.)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E9F8DD7-0E77-47AE-8D22-3572B8564B27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500" y="1981200"/>
            <a:ext cx="8830500" cy="266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 smtClean="0"/>
              <a:t>Writing a Method That Returns a Value</a:t>
            </a:r>
          </a:p>
        </p:txBody>
      </p:sp>
      <p:sp>
        <p:nvSpPr>
          <p:cNvPr id="2355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A method can return, at most, one value to a method that calls it</a:t>
            </a:r>
          </a:p>
          <a:p>
            <a:pPr eaLnBrk="1" hangingPunct="1"/>
            <a:r>
              <a:rPr lang="en-US" b="1" dirty="0" smtClean="0"/>
              <a:t>Method’s type</a:t>
            </a:r>
          </a:p>
          <a:p>
            <a:pPr lvl="1" eaLnBrk="1" hangingPunct="1"/>
            <a:r>
              <a:rPr lang="en-US" dirty="0" smtClean="0"/>
              <a:t>A method’s return type</a:t>
            </a:r>
          </a:p>
          <a:p>
            <a:pPr eaLnBrk="1" hangingPunct="1"/>
            <a:r>
              <a:rPr lang="en-US" b="1" dirty="0" smtClean="0">
                <a:latin typeface="Courier New" pitchFamily="1" charset="0"/>
              </a:rPr>
              <a:t>return</a:t>
            </a:r>
            <a:r>
              <a:rPr lang="en-US" b="1" dirty="0" smtClean="0"/>
              <a:t> statement</a:t>
            </a:r>
          </a:p>
          <a:p>
            <a:pPr lvl="1" eaLnBrk="1" hangingPunct="1"/>
            <a:r>
              <a:rPr lang="en-US" dirty="0" smtClean="0"/>
              <a:t>Causes a value to be sent back to the calling method</a:t>
            </a:r>
          </a:p>
          <a:p>
            <a:pPr eaLnBrk="1" hangingPunct="1"/>
            <a:r>
              <a:rPr lang="en-US" dirty="0" smtClean="0"/>
              <a:t>You are not required to use a returned value</a:t>
            </a:r>
          </a:p>
          <a:p>
            <a:pPr lvl="1" eaLnBrk="1" hangingPunct="1"/>
            <a:endParaRPr lang="en-US" dirty="0" smtClean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51B56A-8F2F-4C97-8E4A-7357C9C192D5}" type="slidenum">
              <a:rPr lang="en-US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en-US" sz="4000" spc="-200" dirty="0" smtClean="0"/>
              <a:t>Writing a Method That Returns a Value </a:t>
            </a:r>
            <a:r>
              <a:rPr lang="en-US" sz="12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(cont’d.)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C14410A-8850-4B06-B049-1B9FC31010F5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05000"/>
            <a:ext cx="8529368" cy="2667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en-US" sz="4000" spc="-200" dirty="0" smtClean="0"/>
              <a:t>Writing a Method That Returns a Value </a:t>
            </a:r>
            <a:r>
              <a:rPr lang="en-US" sz="12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(cont’d.)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A returned value can be:</a:t>
            </a:r>
          </a:p>
          <a:p>
            <a:pPr lvl="1" eaLnBrk="1" hangingPunct="1"/>
            <a:r>
              <a:rPr lang="en-US" dirty="0" smtClean="0"/>
              <a:t>Stored in a variable</a:t>
            </a:r>
          </a:p>
          <a:p>
            <a:pPr lvl="1" eaLnBrk="1" hangingPunct="1"/>
            <a:r>
              <a:rPr lang="en-US" dirty="0" smtClean="0"/>
              <a:t>Used directly</a:t>
            </a:r>
          </a:p>
          <a:p>
            <a:pPr eaLnBrk="1" hangingPunct="1"/>
            <a:r>
              <a:rPr lang="en-US" b="1" dirty="0" smtClean="0"/>
              <a:t>Nested method calls</a:t>
            </a:r>
          </a:p>
          <a:p>
            <a:pPr lvl="1" eaLnBrk="1" hangingPunct="1"/>
            <a:r>
              <a:rPr lang="en-US" dirty="0" smtClean="0"/>
              <a:t>Method calls placed inside other method calls</a:t>
            </a:r>
          </a:p>
          <a:p>
            <a:r>
              <a:rPr lang="en-US" dirty="0" smtClean="0"/>
              <a:t>Writing a method that returns a Boolean value</a:t>
            </a:r>
          </a:p>
          <a:p>
            <a:pPr lvl="1"/>
            <a:r>
              <a:rPr lang="en-US" dirty="0" smtClean="0"/>
              <a:t>When a method returns a value that is type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bool</a:t>
            </a:r>
            <a:r>
              <a:rPr lang="en-US" dirty="0" smtClean="0"/>
              <a:t>, the method call can be used anywhere you can use a Boolean expression</a:t>
            </a:r>
          </a:p>
          <a:p>
            <a:pPr lvl="2"/>
            <a:r>
              <a:rPr lang="en-US" dirty="0" smtClean="0"/>
              <a:t>Branching statements (e.g.,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if(…)</a:t>
            </a:r>
            <a:r>
              <a:rPr lang="en-US" dirty="0" smtClean="0"/>
              <a:t>)</a:t>
            </a:r>
          </a:p>
          <a:p>
            <a:pPr lvl="2"/>
            <a:r>
              <a:rPr lang="en-US" dirty="0" smtClean="0"/>
              <a:t>Loop control variables</a:t>
            </a:r>
          </a:p>
          <a:p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729C31-EBB4-4BF2-9CD7-657D2DC8AD17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/>
          <a:lstStyle/>
          <a:p>
            <a:r>
              <a:rPr lang="en-US" sz="4000" spc="-200" dirty="0" smtClean="0"/>
              <a:t>Writing a Method That Returns a Value </a:t>
            </a:r>
            <a:r>
              <a:rPr lang="en-US" sz="12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(cont’d.)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1729C31-EBB4-4BF2-9CD7-657D2DC8AD17}" type="slidenum">
              <a:rPr lang="en-US" smtClean="0"/>
              <a:pPr>
                <a:defRPr/>
              </a:pPr>
              <a:t>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098" y="1417638"/>
            <a:ext cx="7286625" cy="48577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498600"/>
            <a:ext cx="4505325" cy="174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640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 smtClean="0"/>
              <a:t>Writing a Method That Returns a Boolean Value</a:t>
            </a:r>
          </a:p>
        </p:txBody>
      </p:sp>
      <p:sp>
        <p:nvSpPr>
          <p:cNvPr id="2765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Methods can return a value that is type </a:t>
            </a:r>
            <a:r>
              <a:rPr lang="en-US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endParaRPr lang="en-US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dirty="0" smtClean="0"/>
              <a:t>Makes for more readable if statements</a:t>
            </a:r>
          </a:p>
          <a:p>
            <a:pPr lvl="1"/>
            <a:r>
              <a:rPr lang="en-US" dirty="0" smtClean="0"/>
              <a:t>E.g.  A method named </a:t>
            </a:r>
            <a:r>
              <a:rPr lang="en-US" dirty="0" err="1" smtClean="0"/>
              <a:t>isPreferredCustomer</a:t>
            </a:r>
            <a:r>
              <a:rPr lang="en-US" dirty="0"/>
              <a:t>() that returns a Boolean value indicating whether a customer is a</a:t>
            </a:r>
          </a:p>
          <a:p>
            <a:pPr lvl="1"/>
            <a:r>
              <a:rPr lang="en-US" dirty="0"/>
              <a:t>preferred customer who qualifies for a </a:t>
            </a:r>
            <a:r>
              <a:rPr lang="en-US" dirty="0" smtClean="0"/>
              <a:t>discount\</a:t>
            </a:r>
          </a:p>
          <a:p>
            <a:pPr lvl="2"/>
            <a:r>
              <a:rPr lang="en-US" dirty="0" smtClean="0"/>
              <a:t>If statement can be written as:</a:t>
            </a:r>
            <a:endParaRPr lang="en-US" dirty="0"/>
          </a:p>
          <a:p>
            <a:pPr marL="1314450" lvl="3" indent="0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if(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isPreferredCustomer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())</a:t>
            </a:r>
          </a:p>
          <a:p>
            <a:pPr marL="1314450" lvl="3" indent="0">
              <a:buNone/>
            </a:pP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 price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= price - DISCOUNT;</a:t>
            </a:r>
          </a:p>
          <a:p>
            <a:pPr marL="457200" lvl="1" indent="0">
              <a:buNone/>
            </a:pP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FB6E22-1F03-4C80-9F85-064E18B2B02D}" type="slidenum">
              <a:rPr lang="en-US"/>
              <a:pPr>
                <a:defRPr/>
              </a:pPr>
              <a:t>27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 smtClean="0"/>
              <a:t>Analyzing a Built-in Method</a:t>
            </a:r>
          </a:p>
        </p:txBody>
      </p:sp>
      <p:sp>
        <p:nvSpPr>
          <p:cNvPr id="2765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Prewritten Methods </a:t>
            </a:r>
          </a:p>
          <a:p>
            <a:pPr lvl="1"/>
            <a:r>
              <a:rPr lang="en-US" dirty="0" smtClean="0"/>
              <a:t>E.g. 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Pow</a:t>
            </a:r>
            <a:r>
              <a:rPr lang="en-US" sz="2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()- </a:t>
            </a:r>
            <a:r>
              <a:rPr lang="en-US" sz="2800" dirty="0"/>
              <a:t>raises a number to a power</a:t>
            </a:r>
          </a:p>
          <a:p>
            <a:pPr lvl="1"/>
            <a:endParaRPr lang="en-US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double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result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Math.Pow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(2.0, 3.0</a:t>
            </a:r>
            <a:r>
              <a:rPr lang="en-US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dirty="0"/>
              <a:t>From this statement, you know the following about the Pow() method:</a:t>
            </a:r>
          </a:p>
          <a:p>
            <a:pPr lvl="1"/>
            <a:r>
              <a:rPr lang="en-US" dirty="0"/>
              <a:t>It is in the Math class because the class name and a dot precede the method call</a:t>
            </a:r>
          </a:p>
          <a:p>
            <a:pPr lvl="1"/>
            <a:r>
              <a:rPr lang="en-US" dirty="0"/>
              <a:t>It is public because you can write a program that uses it</a:t>
            </a:r>
          </a:p>
          <a:p>
            <a:pPr marL="400050" lvl="1" indent="0">
              <a:buNone/>
            </a:pP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FB6E22-1F03-4C80-9F85-064E18B2B02D}" type="slidenum">
              <a:rPr lang="en-US"/>
              <a:pPr>
                <a:defRPr/>
              </a:pPr>
              <a:t>28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</p:spTree>
    <p:extLst>
      <p:ext uri="{BB962C8B-B14F-4D97-AF65-F5344CB8AC3E}">
        <p14:creationId xmlns:p14="http://schemas.microsoft.com/office/powerpoint/2010/main" val="2808830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 smtClean="0"/>
              <a:t>Analyzing a Built-in Method</a:t>
            </a:r>
          </a:p>
        </p:txBody>
      </p:sp>
      <p:sp>
        <p:nvSpPr>
          <p:cNvPr id="2765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400050" lvl="1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double result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Math.Pow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(2.0, 3.0);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is static because it is used with its class name and a dot, without any </a:t>
            </a:r>
            <a:r>
              <a:rPr lang="en-US" dirty="0" smtClean="0"/>
              <a:t>object</a:t>
            </a:r>
            <a:endParaRPr lang="en-US" dirty="0"/>
          </a:p>
          <a:p>
            <a:pPr lvl="1"/>
            <a:r>
              <a:rPr lang="en-US" dirty="0" smtClean="0"/>
              <a:t>It </a:t>
            </a:r>
            <a:r>
              <a:rPr lang="en-US" dirty="0"/>
              <a:t>accepts two double </a:t>
            </a:r>
            <a:r>
              <a:rPr lang="en-US" dirty="0" smtClean="0"/>
              <a:t>parameters</a:t>
            </a:r>
            <a:endParaRPr lang="en-US" dirty="0"/>
          </a:p>
          <a:p>
            <a:pPr lvl="1"/>
            <a:r>
              <a:rPr lang="en-US" dirty="0" smtClean="0"/>
              <a:t>It </a:t>
            </a:r>
            <a:r>
              <a:rPr lang="en-US" dirty="0"/>
              <a:t>returns a double or a type that can be promoted automatically to a double (such as </a:t>
            </a:r>
            <a:r>
              <a:rPr lang="en-US" dirty="0" smtClean="0"/>
              <a:t>an </a:t>
            </a:r>
            <a:r>
              <a:rPr lang="en-US" dirty="0" err="1" smtClean="0"/>
              <a:t>int</a:t>
            </a:r>
            <a:r>
              <a:rPr lang="en-US" dirty="0"/>
              <a:t>) because its answer is stored in a </a:t>
            </a:r>
            <a:r>
              <a:rPr lang="en-US" dirty="0" smtClean="0"/>
              <a:t>double</a:t>
            </a:r>
            <a:endParaRPr lang="en-US" dirty="0"/>
          </a:p>
          <a:p>
            <a:pPr lvl="1"/>
            <a:r>
              <a:rPr lang="en-US" dirty="0"/>
              <a:t>Although you know many facts about the Pow() method, you do not know how its </a:t>
            </a:r>
            <a:r>
              <a:rPr lang="en-US" dirty="0" smtClean="0"/>
              <a:t>instructions are </a:t>
            </a:r>
            <a:r>
              <a:rPr lang="en-US" dirty="0"/>
              <a:t>carried out internally. In good object-oriented style, its implementation is </a:t>
            </a:r>
            <a:r>
              <a:rPr lang="en-US" dirty="0" smtClean="0"/>
              <a:t>hidden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FB6E22-1F03-4C80-9F85-064E18B2B02D}" type="slidenum">
              <a:rPr lang="en-US"/>
              <a:pPr>
                <a:defRPr/>
              </a:pPr>
              <a:t>29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</p:spTree>
    <p:extLst>
      <p:ext uri="{BB962C8B-B14F-4D97-AF65-F5344CB8AC3E}">
        <p14:creationId xmlns:p14="http://schemas.microsoft.com/office/powerpoint/2010/main" val="3707081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 smtClean="0"/>
              <a:t>Passing Array Values to a Method</a:t>
            </a:r>
          </a:p>
        </p:txBody>
      </p:sp>
      <p:sp>
        <p:nvSpPr>
          <p:cNvPr id="2765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Passing a Single Array Element to a Method</a:t>
            </a:r>
          </a:p>
          <a:p>
            <a:pPr lvl="1"/>
            <a:r>
              <a:rPr lang="en-US" dirty="0" smtClean="0"/>
              <a:t>You can pass a single array element to a method in the same manner as you would pass a variable</a:t>
            </a:r>
          </a:p>
          <a:p>
            <a:pPr lvl="1"/>
            <a:r>
              <a:rPr lang="en-US" dirty="0" smtClean="0"/>
              <a:t>Variables are passed by value</a:t>
            </a:r>
          </a:p>
          <a:p>
            <a:pPr lvl="2"/>
            <a:r>
              <a:rPr lang="en-US" sz="2400" dirty="0" smtClean="0"/>
              <a:t>Local variables store a local copy of the value</a:t>
            </a:r>
          </a:p>
          <a:p>
            <a:pPr eaLnBrk="1" hangingPunct="1"/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FB6E22-1F03-4C80-9F85-064E18B2B02D}" type="slidenum">
              <a:rPr lang="en-US"/>
              <a:pPr>
                <a:defRPr/>
              </a:pPr>
              <a:t>30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</p:spTree>
    <p:extLst>
      <p:ext uri="{BB962C8B-B14F-4D97-AF65-F5344CB8AC3E}">
        <p14:creationId xmlns:p14="http://schemas.microsoft.com/office/powerpoint/2010/main" val="1752055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5628A68-AEC9-4D80-A759-EEEA55E48C30}" type="slidenum">
              <a:rPr lang="en-US"/>
              <a:pPr>
                <a:defRPr/>
              </a:pPr>
              <a:t>31</a:t>
            </a:fld>
            <a:endParaRPr lang="en-US" dirty="0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4525" y="1667554"/>
            <a:ext cx="5019675" cy="4688796"/>
          </a:xfrm>
          <a:prstGeom prst="rect">
            <a:avLst/>
          </a:prstGeom>
        </p:spPr>
      </p:pic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pPr eaLnBrk="1" hangingPunct="1"/>
            <a:r>
              <a:rPr lang="en-US" sz="4000" spc="-200" dirty="0" smtClean="0"/>
              <a:t>Passing Array Values to a Method </a:t>
            </a:r>
            <a:r>
              <a:rPr lang="en-US" sz="12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(Cont’d.)</a:t>
            </a:r>
            <a:endParaRPr lang="en-US" sz="4000" spc="-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/>
          <a:lstStyle/>
          <a:p>
            <a:r>
              <a:rPr lang="en-US" sz="4000" spc="-200" dirty="0"/>
              <a:t>Passing a Single Array Element to a Method </a:t>
            </a:r>
            <a:r>
              <a:rPr lang="en-US" sz="12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(cont’d.)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941F2DD-06D8-4D19-B6F1-41E5E2CFEA6A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870" y="1905000"/>
            <a:ext cx="860373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0695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100" dirty="0" smtClean="0"/>
              <a:t>Passing an Array to a Method</a:t>
            </a:r>
            <a:endParaRPr lang="en-US" sz="4000" spc="-1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can pass an entire array as a parameter</a:t>
            </a:r>
          </a:p>
          <a:p>
            <a:r>
              <a:rPr lang="en-US" dirty="0"/>
              <a:t>Arrays, like all objects but unlike built-in types, are </a:t>
            </a:r>
            <a:r>
              <a:rPr lang="en-US" b="1" dirty="0"/>
              <a:t>passed by reference</a:t>
            </a:r>
            <a:endParaRPr lang="en-US" dirty="0"/>
          </a:p>
          <a:p>
            <a:pPr lvl="1"/>
            <a:r>
              <a:rPr lang="en-US" dirty="0" smtClean="0"/>
              <a:t>The method </a:t>
            </a:r>
            <a:r>
              <a:rPr lang="en-US" dirty="0"/>
              <a:t>receives </a:t>
            </a:r>
            <a:r>
              <a:rPr lang="en-US" dirty="0" smtClean="0"/>
              <a:t>the actual </a:t>
            </a:r>
            <a:r>
              <a:rPr lang="en-US" dirty="0"/>
              <a:t>memory address of the array</a:t>
            </a:r>
          </a:p>
          <a:p>
            <a:pPr lvl="2"/>
            <a:r>
              <a:rPr lang="en-US" dirty="0"/>
              <a:t>Has access to the actual values in the array elements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E330BF-17E3-4B2D-B91F-3E7B343F8AD3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025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854B899-3F43-4BBE-B8CB-C643FD0DE6BE}" type="slidenum">
              <a:rPr lang="en-US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2238" y="-26377"/>
            <a:ext cx="5719762" cy="68843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100" dirty="0"/>
              <a:t>Passing an Array to a Method </a:t>
            </a:r>
            <a:r>
              <a:rPr lang="en-US" sz="1200" spc="-100" dirty="0">
                <a:latin typeface="Courier New" panose="02070309020205020404" pitchFamily="49" charset="0"/>
                <a:cs typeface="Courier New" panose="02070309020205020404" pitchFamily="49" charset="0"/>
              </a:rPr>
              <a:t>(cont’d.)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941F2DD-06D8-4D19-B6F1-41E5E2CFEA6A}" type="slidenum">
              <a:rPr lang="en-US" smtClean="0"/>
              <a:pPr>
                <a:defRPr/>
              </a:pPr>
              <a:t>35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730" y="1981200"/>
            <a:ext cx="818407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7175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 smtClean="0"/>
              <a:t>Passing an Array to a Method </a:t>
            </a:r>
            <a:r>
              <a:rPr lang="en-US" sz="12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(cont’d.)</a:t>
            </a:r>
          </a:p>
        </p:txBody>
      </p:sp>
      <p:sp>
        <p:nvSpPr>
          <p:cNvPr id="3072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458200" cy="4525963"/>
          </a:xfrm>
        </p:spPr>
        <p:txBody>
          <a:bodyPr/>
          <a:lstStyle/>
          <a:p>
            <a:pPr eaLnBrk="1" hangingPunct="1"/>
            <a:r>
              <a:rPr lang="en-US" dirty="0" smtClean="0"/>
              <a:t>You can pass a multidimensional array to a method by indicating the appropriate number of dimensions after the data type in the method header</a:t>
            </a:r>
          </a:p>
          <a:p>
            <a:pPr lvl="1" eaLnBrk="1" hangingPunct="1"/>
            <a:r>
              <a:rPr lang="en-US" dirty="0" smtClean="0"/>
              <a:t>Example</a:t>
            </a:r>
          </a:p>
          <a:p>
            <a:pPr lvl="1" eaLnBrk="1" hangingPunct="1">
              <a:buFontTx/>
              <a:buNone/>
            </a:pPr>
            <a:r>
              <a:rPr lang="en-US" sz="1800" dirty="0" smtClean="0">
                <a:latin typeface="Courier New" pitchFamily="1" charset="0"/>
              </a:rPr>
              <a:t>     public static void displayScores(int[,] scoresArray)</a:t>
            </a:r>
          </a:p>
          <a:p>
            <a:pPr eaLnBrk="1" hangingPunct="1"/>
            <a:r>
              <a:rPr lang="en-US" dirty="0" smtClean="0"/>
              <a:t>Jagged arrays insert the appropriate number of square brackets after the data type in the method header</a:t>
            </a:r>
          </a:p>
          <a:p>
            <a:pPr lvl="1" eaLnBrk="1" hangingPunct="1"/>
            <a:r>
              <a:rPr lang="en-US" dirty="0" smtClean="0"/>
              <a:t>Example</a:t>
            </a:r>
          </a:p>
          <a:p>
            <a:pPr lvl="1" eaLnBrk="1" hangingPunct="1">
              <a:buFontTx/>
              <a:buNone/>
            </a:pPr>
            <a:r>
              <a:rPr lang="en-US" sz="1800" dirty="0" smtClean="0">
                <a:latin typeface="Courier New" pitchFamily="1" charset="0"/>
              </a:rPr>
              <a:t>     public static void displayIDs(int[][] idArray)</a:t>
            </a:r>
          </a:p>
          <a:p>
            <a:pPr eaLnBrk="1" hangingPunct="1"/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DEF15B5-A3D9-4544-9079-D4F539EB7074}" type="slidenum">
              <a:rPr lang="en-US"/>
              <a:pPr>
                <a:defRPr/>
              </a:pPr>
              <a:t>36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91600" cy="1143000"/>
          </a:xfrm>
        </p:spPr>
        <p:txBody>
          <a:bodyPr/>
          <a:lstStyle/>
          <a:p>
            <a:r>
              <a:rPr lang="en-US" sz="4000" spc="-200" dirty="0" smtClean="0"/>
              <a:t>Alternate Ways to Write a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Main()</a:t>
            </a:r>
            <a:r>
              <a:rPr lang="en-US" sz="4000" spc="-200" dirty="0"/>
              <a:t> Method </a:t>
            </a:r>
            <a:r>
              <a:rPr lang="en-US" sz="4000" spc="-200" dirty="0" smtClean="0"/>
              <a:t>Header</a:t>
            </a:r>
          </a:p>
        </p:txBody>
      </p:sp>
      <p:sp>
        <p:nvSpPr>
          <p:cNvPr id="3174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Writing a  </a:t>
            </a:r>
            <a:r>
              <a:rPr lang="en-US" sz="2000" b="1" dirty="0">
                <a:latin typeface="Courier New" pitchFamily="1" charset="0"/>
                <a:cs typeface="Courier New" pitchFamily="1" charset="0"/>
              </a:rPr>
              <a:t>Main() </a:t>
            </a:r>
            <a:r>
              <a:rPr lang="en-US" sz="2400" b="1" dirty="0"/>
              <a:t>Method with a Parameter List</a:t>
            </a:r>
          </a:p>
          <a:p>
            <a:pPr lvl="1"/>
            <a:r>
              <a:rPr lang="en-US" dirty="0" smtClean="0"/>
              <a:t>Conventional way:</a:t>
            </a:r>
          </a:p>
          <a:p>
            <a:pPr lvl="2">
              <a:buFontTx/>
              <a:buNone/>
            </a:pPr>
            <a:r>
              <a:rPr lang="en-US" dirty="0" smtClean="0">
                <a:latin typeface="Courier New" pitchFamily="1" charset="0"/>
                <a:cs typeface="Courier New" pitchFamily="1" charset="0"/>
              </a:rPr>
              <a:t>	public static void Main()</a:t>
            </a:r>
            <a:r>
              <a:rPr lang="en-US" dirty="0" smtClean="0"/>
              <a:t> </a:t>
            </a:r>
          </a:p>
          <a:p>
            <a:pPr lvl="1"/>
            <a:r>
              <a:rPr lang="en-US" dirty="0" smtClean="0"/>
              <a:t>Passing command-line arguments:</a:t>
            </a:r>
          </a:p>
          <a:p>
            <a:pPr lvl="2">
              <a:buFontTx/>
              <a:buNone/>
            </a:pPr>
            <a:r>
              <a:rPr lang="en-US" dirty="0" smtClean="0">
                <a:latin typeface="Courier New" pitchFamily="1" charset="0"/>
                <a:cs typeface="Courier New" pitchFamily="1" charset="0"/>
              </a:rPr>
              <a:t>	static void Main(string[] args)</a:t>
            </a:r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B0C17B8-7005-4F29-BACD-E6044AE8F86E}" type="slidenum">
              <a:rPr lang="en-US" smtClean="0"/>
              <a:pPr>
                <a:defRPr/>
              </a:pPr>
              <a:t>37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/>
          <a:lstStyle/>
          <a:p>
            <a:r>
              <a:rPr lang="en-US" sz="4000" spc="-200" dirty="0"/>
              <a:t>Writing a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Main()</a:t>
            </a:r>
            <a:r>
              <a:rPr lang="en-US" sz="4000" spc="-200" dirty="0"/>
              <a:t> Method with a Parameter </a:t>
            </a:r>
            <a:r>
              <a:rPr lang="en-US" sz="4000" spc="-200" dirty="0" smtClean="0"/>
              <a:t>List </a:t>
            </a:r>
            <a:r>
              <a:rPr lang="en-US" sz="12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(cont’d.)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941F2DD-06D8-4D19-B6F1-41E5E2CFEA6A}" type="slidenum">
              <a:rPr lang="en-US" smtClean="0"/>
              <a:pPr>
                <a:defRPr/>
              </a:pPr>
              <a:t>38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29360"/>
            <a:ext cx="6858000" cy="273478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7592" y="4175867"/>
            <a:ext cx="6858000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0096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/>
              <a:t>Writing a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Main()</a:t>
            </a:r>
            <a:r>
              <a:rPr lang="en-US" sz="4000" spc="-200" dirty="0"/>
              <a:t> Method with an Integer Return 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programmers prefer to write </a:t>
            </a:r>
            <a:r>
              <a:rPr lang="en-US" dirty="0">
                <a:latin typeface="Courier New" pitchFamily="1" charset="0"/>
                <a:cs typeface="Courier New" pitchFamily="1" charset="0"/>
              </a:rPr>
              <a:t>Main()</a:t>
            </a:r>
            <a:r>
              <a:rPr lang="en-US" dirty="0"/>
              <a:t> method headers with a return type of </a:t>
            </a:r>
            <a:r>
              <a:rPr lang="en-US" dirty="0">
                <a:latin typeface="Courier New" pitchFamily="1" charset="0"/>
                <a:cs typeface="Courier New" pitchFamily="1" charset="0"/>
              </a:rPr>
              <a:t>int</a:t>
            </a:r>
            <a:r>
              <a:rPr lang="en-US" dirty="0"/>
              <a:t> instead of </a:t>
            </a:r>
            <a:r>
              <a:rPr lang="en-US" dirty="0">
                <a:latin typeface="Courier New" pitchFamily="1" charset="0"/>
                <a:cs typeface="Courier New" pitchFamily="1" charset="0"/>
              </a:rPr>
              <a:t>void</a:t>
            </a:r>
          </a:p>
          <a:p>
            <a:pPr lvl="1"/>
            <a:r>
              <a:rPr lang="en-US" dirty="0" smtClean="0"/>
              <a:t>The last </a:t>
            </a:r>
            <a:r>
              <a:rPr lang="en-US" dirty="0"/>
              <a:t>statement in the </a:t>
            </a:r>
            <a:r>
              <a:rPr lang="en-US" dirty="0">
                <a:latin typeface="Courier New" pitchFamily="1" charset="0"/>
                <a:cs typeface="Courier New" pitchFamily="1" charset="0"/>
              </a:rPr>
              <a:t>Main()</a:t>
            </a:r>
            <a:r>
              <a:rPr lang="en-US" dirty="0"/>
              <a:t> method must be a return statement</a:t>
            </a:r>
          </a:p>
          <a:p>
            <a:pPr lvl="1"/>
            <a:r>
              <a:rPr lang="en-US" dirty="0"/>
              <a:t>A return code of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0</a:t>
            </a:r>
            <a:r>
              <a:rPr lang="en-US" dirty="0"/>
              <a:t> indicates a successful execution</a:t>
            </a:r>
          </a:p>
          <a:p>
            <a:pPr lvl="1"/>
            <a:r>
              <a:rPr lang="en-US" dirty="0"/>
              <a:t>Any other value can be interpreted as an error code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E330BF-17E3-4B2D-B91F-3E7B343F8AD3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6578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274638"/>
            <a:ext cx="8839200" cy="1143000"/>
          </a:xfrm>
        </p:spPr>
        <p:txBody>
          <a:bodyPr/>
          <a:lstStyle/>
          <a:p>
            <a:r>
              <a:rPr lang="en-US" sz="4000" spc="-200" dirty="0"/>
              <a:t>Writing a </a:t>
            </a:r>
            <a:r>
              <a:rPr lang="en-US" sz="4000" spc="-200" dirty="0">
                <a:latin typeface="Courier New" pitchFamily="49" charset="0"/>
                <a:cs typeface="Courier New" pitchFamily="49" charset="0"/>
              </a:rPr>
              <a:t>Main()</a:t>
            </a:r>
            <a:r>
              <a:rPr lang="en-US" sz="4000" spc="-200" dirty="0"/>
              <a:t> Method with </a:t>
            </a:r>
            <a:r>
              <a:rPr lang="en-US" sz="4000" spc="-200" dirty="0" smtClean="0"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sz="4000" spc="-200" dirty="0" smtClean="0"/>
              <a:t> access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programmers prefer to write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Main()</a:t>
            </a:r>
            <a:r>
              <a:rPr lang="en-US" dirty="0"/>
              <a:t> method headers with 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dirty="0"/>
              <a:t> </a:t>
            </a:r>
            <a:r>
              <a:rPr lang="en-US" dirty="0" smtClean="0"/>
              <a:t>access</a:t>
            </a:r>
          </a:p>
          <a:p>
            <a:pPr lvl="1"/>
            <a:r>
              <a:rPr lang="en-US" dirty="0" smtClean="0"/>
              <a:t>The default is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dirty="0" smtClean="0"/>
              <a:t> access</a:t>
            </a:r>
          </a:p>
          <a:p>
            <a:r>
              <a:rPr lang="en-US" dirty="0" smtClean="0"/>
              <a:t>A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public Main()</a:t>
            </a:r>
            <a:r>
              <a:rPr lang="en-US" dirty="0" smtClean="0"/>
              <a:t> method can be called by another class</a:t>
            </a:r>
          </a:p>
          <a:p>
            <a:pPr lvl="1"/>
            <a:r>
              <a:rPr lang="en-US" dirty="0" smtClean="0"/>
              <a:t>The call must be made using the fully qualified name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6E330BF-17E3-4B2D-B91F-3E7B343F8AD3}" type="slidenum">
              <a:rPr lang="en-US" smtClean="0"/>
              <a:pPr>
                <a:defRPr/>
              </a:pPr>
              <a:t>40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1107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spc="-200" dirty="0" smtClean="0"/>
              <a:t>Issues Using Methods in GUI Programs</a:t>
            </a:r>
          </a:p>
        </p:txBody>
      </p:sp>
      <p:sp>
        <p:nvSpPr>
          <p:cNvPr id="3277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Some special considerations are necessary when creating GUI applications</a:t>
            </a:r>
          </a:p>
          <a:p>
            <a:pPr lvl="1"/>
            <a:r>
              <a:rPr lang="en-US" dirty="0" smtClean="0"/>
              <a:t>Understanding methods that are automatically generated in the visual environment</a:t>
            </a:r>
          </a:p>
          <a:p>
            <a:pPr lvl="1"/>
            <a:r>
              <a:rPr lang="en-US" dirty="0" smtClean="0"/>
              <a:t>Appreciating scope in a GUI program</a:t>
            </a:r>
          </a:p>
          <a:p>
            <a:pPr lvl="1"/>
            <a:r>
              <a:rPr lang="en-US" dirty="0" smtClean="0"/>
              <a:t>Creating methods to be nonstatic when associated with a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Form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82DC0E3-B320-469B-BFFF-B0F6000FF1FD}" type="slidenum">
              <a:rPr lang="en-US" smtClean="0"/>
              <a:pPr>
                <a:defRPr/>
              </a:pPr>
              <a:t>41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274638"/>
            <a:ext cx="8991600" cy="1143000"/>
          </a:xfrm>
        </p:spPr>
        <p:txBody>
          <a:bodyPr/>
          <a:lstStyle/>
          <a:p>
            <a:pPr eaLnBrk="1" hangingPunct="1">
              <a:lnSpc>
                <a:spcPts val="4000"/>
              </a:lnSpc>
            </a:pPr>
            <a:r>
              <a:rPr lang="en-US" sz="4000" spc="-200" dirty="0" smtClean="0"/>
              <a:t>Understanding Methods That Are Automatically Generated in the Visual Environment</a:t>
            </a:r>
          </a:p>
        </p:txBody>
      </p:sp>
      <p:sp>
        <p:nvSpPr>
          <p:cNvPr id="3379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you create GUI applications using the IDE, many methods are generated automatically</a:t>
            </a:r>
          </a:p>
          <a:p>
            <a:pPr lvl="1"/>
            <a:r>
              <a:rPr lang="en-US" dirty="0" smtClean="0"/>
              <a:t>To create the method, double-click on the object</a:t>
            </a:r>
          </a:p>
          <a:p>
            <a:endParaRPr lang="en-US" dirty="0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E06A2B6-7E85-4EC6-8A5C-C548422C88EA}" type="slidenum">
              <a:rPr lang="en-US"/>
              <a:pPr>
                <a:defRPr/>
              </a:pPr>
              <a:t>42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135" y="3200400"/>
            <a:ext cx="8649730" cy="2133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274638"/>
            <a:ext cx="8991600" cy="1143000"/>
          </a:xfrm>
        </p:spPr>
        <p:txBody>
          <a:bodyPr/>
          <a:lstStyle/>
          <a:p>
            <a:r>
              <a:rPr lang="en-US" sz="4000" spc="-200" dirty="0"/>
              <a:t>Understanding Methods </a:t>
            </a:r>
            <a:r>
              <a:rPr lang="en-US" sz="4000" spc="-200" dirty="0" smtClean="0"/>
              <a:t>That Are </a:t>
            </a:r>
            <a:r>
              <a:rPr lang="en-US" sz="4000" spc="-200" dirty="0"/>
              <a:t>Automatically Generated in the Visual </a:t>
            </a:r>
            <a:r>
              <a:rPr lang="en-US" sz="4000" spc="-200" dirty="0" smtClean="0"/>
              <a:t>Environment </a:t>
            </a:r>
            <a:r>
              <a:rPr lang="en-US" sz="12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(cont’d.)</a:t>
            </a: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941F2DD-06D8-4D19-B6F1-41E5E2CFEA6A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Microsoft Visual C#, Sixth Edition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530" y="2114550"/>
            <a:ext cx="530087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68804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 smtClean="0"/>
              <a:t>Appreciating Scope in a GUI Program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you declare a variable or constant within a method, it is local to that method</a:t>
            </a:r>
          </a:p>
          <a:p>
            <a:r>
              <a:rPr lang="en-US" dirty="0" smtClean="0"/>
              <a:t>If a variable or constant is needed by multiple event-handling methods, the variables or constants in question must be defined outside the methods (but within the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Form</a:t>
            </a:r>
            <a:r>
              <a:rPr lang="en-US" dirty="0" smtClean="0"/>
              <a:t> class)</a:t>
            </a:r>
          </a:p>
          <a:p>
            <a:r>
              <a:rPr lang="en-US" dirty="0" smtClean="0"/>
              <a:t>Automatically generated event-handling methods have predefined sets of parameters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C82CBF0-ABEC-4DD5-87AB-7A480864449F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 smtClean="0"/>
              <a:t>Creating Methods to Be Nonstatic When Associated with a </a:t>
            </a:r>
            <a:r>
              <a:rPr lang="en-US" sz="4000" spc="-200" dirty="0" smtClean="0">
                <a:latin typeface="Courier New" pitchFamily="49" charset="0"/>
                <a:cs typeface="Courier New" pitchFamily="49" charset="0"/>
              </a:rPr>
              <a:t>Form</a:t>
            </a:r>
          </a:p>
        </p:txBody>
      </p:sp>
      <p:sp>
        <p:nvSpPr>
          <p:cNvPr id="3584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you create a GUI application and generate a method, the keyword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static</a:t>
            </a:r>
            <a:r>
              <a:rPr lang="en-US" dirty="0" smtClean="0"/>
              <a:t> does not appear in the method header </a:t>
            </a:r>
          </a:p>
          <a:p>
            <a:pPr lvl="1"/>
            <a:r>
              <a:rPr lang="en-US" dirty="0" smtClean="0"/>
              <a:t>The method is associated with an object from which the method-invoking events are sent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0495C-C498-4B15-A439-F37E70C8C163}" type="slidenum">
              <a:rPr lang="en-US"/>
              <a:pPr>
                <a:defRPr/>
              </a:pPr>
              <a:t>45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 smtClean="0"/>
              <a:t>Summary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method is a series of statements that perform a task</a:t>
            </a:r>
          </a:p>
          <a:p>
            <a:r>
              <a:rPr lang="en-US" dirty="0" smtClean="0"/>
              <a:t>Some methods require passed-in information called arguments or parameters</a:t>
            </a:r>
          </a:p>
          <a:p>
            <a:r>
              <a:rPr lang="en-US" dirty="0" smtClean="0"/>
              <a:t>You write methods to make programs easier to understand, and so that you can easily reuse them</a:t>
            </a:r>
          </a:p>
          <a:p>
            <a:r>
              <a:rPr lang="en-US" dirty="0" smtClean="0"/>
              <a:t>Object-oriented programs hide their methods’ implementation</a:t>
            </a:r>
          </a:p>
          <a:p>
            <a:r>
              <a:rPr lang="en-US" dirty="0" smtClean="0"/>
              <a:t>You can pass multiple arguments to a method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7FAD1F3-1F86-4B0F-90D0-4BCCAE68FDDE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200" dirty="0" smtClean="0"/>
              <a:t>Summary </a:t>
            </a:r>
            <a:r>
              <a:rPr lang="en-US" sz="1200" spc="-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(cont’d.)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return type for a method can be any type used in the C# programming language</a:t>
            </a:r>
          </a:p>
          <a:p>
            <a:r>
              <a:rPr lang="en-US" dirty="0" smtClean="0"/>
              <a:t>You can pass an array as a parameter to a method</a:t>
            </a:r>
          </a:p>
          <a:p>
            <a:r>
              <a:rPr lang="en-US" dirty="0" smtClean="0"/>
              <a:t>You might see different </a:t>
            </a:r>
            <a:r>
              <a:rPr lang="en-US" dirty="0" smtClean="0">
                <a:latin typeface="Courier New" pitchFamily="1" charset="0"/>
                <a:cs typeface="Courier New" pitchFamily="1" charset="0"/>
              </a:rPr>
              <a:t>Main()</a:t>
            </a:r>
            <a:r>
              <a:rPr lang="en-US" dirty="0" smtClean="0"/>
              <a:t> method headers in other books or in programs written by others</a:t>
            </a:r>
          </a:p>
          <a:p>
            <a:r>
              <a:rPr lang="en-US" dirty="0" smtClean="0"/>
              <a:t>Special considerations exist for methods when you create GUI applications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59642B-8F17-4835-9E34-CBC43E78C024}" type="slidenum">
              <a:rPr lang="en-US" smtClean="0"/>
              <a:pPr>
                <a:defRPr/>
              </a:pPr>
              <a:t>47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Microsoft Visual </a:t>
            </a:r>
            <a:r>
              <a:rPr lang="en-US" dirty="0" smtClean="0"/>
              <a:t>C#, Sixth </a:t>
            </a:r>
            <a:r>
              <a:rPr lang="en-US" dirty="0"/>
              <a:t>Edition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3_Default Design">
  <a:themeElements>
    <a:clrScheme name="3_Default Design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FFFF"/>
      </a:accent1>
      <a:accent2>
        <a:srgbClr val="3333CC"/>
      </a:accent2>
      <a:accent3>
        <a:srgbClr val="FFFFFF"/>
      </a:accent3>
      <a:accent4>
        <a:srgbClr val="000000"/>
      </a:accent4>
      <a:accent5>
        <a:srgbClr val="FFFFFF"/>
      </a:accent5>
      <a:accent6>
        <a:srgbClr val="2D2DB9"/>
      </a:accent6>
      <a:hlink>
        <a:srgbClr val="FFFFFF"/>
      </a:hlink>
      <a:folHlink>
        <a:srgbClr val="B2B2B2"/>
      </a:folHlink>
    </a:clrScheme>
    <a:fontScheme name="3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3_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Farrell_PL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2201</Words>
  <Application>Microsoft Office PowerPoint</Application>
  <PresentationFormat>On-screen Show (4:3)</PresentationFormat>
  <Paragraphs>358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Arial</vt:lpstr>
      <vt:lpstr>Calibri</vt:lpstr>
      <vt:lpstr>Courier New</vt:lpstr>
      <vt:lpstr>Times New Roman</vt:lpstr>
      <vt:lpstr>3_Default Design</vt:lpstr>
      <vt:lpstr>1_Farrell_PLD</vt:lpstr>
      <vt:lpstr>PowerPoint Presentation</vt:lpstr>
      <vt:lpstr>Objectives</vt:lpstr>
      <vt:lpstr>Understanding Methods and Implementation Hiding</vt:lpstr>
      <vt:lpstr>Understanding Methods and Implementation Hiding (cont’d.)</vt:lpstr>
      <vt:lpstr>Understanding Implementation Hiding</vt:lpstr>
      <vt:lpstr>Writing Methods with No Parameters and No Return Value</vt:lpstr>
      <vt:lpstr>Writing Methods with No Parameters and No Return Value (cont’d.)</vt:lpstr>
      <vt:lpstr>Writing Methods with No Parameters and No Return Value (cont’d.)</vt:lpstr>
      <vt:lpstr>An Introduction to Accessibility</vt:lpstr>
      <vt:lpstr>An Introduction to Accessibility (cont’d.)</vt:lpstr>
      <vt:lpstr>An Introduction to the Optional static Modifier</vt:lpstr>
      <vt:lpstr>An Introduction to Return Types</vt:lpstr>
      <vt:lpstr>Understanding the Method Identifier</vt:lpstr>
      <vt:lpstr>Placing a Method in a Class</vt:lpstr>
      <vt:lpstr>Placing a Method in a Class (cont’d.)</vt:lpstr>
      <vt:lpstr>Declaring Variables and Constants in a Method</vt:lpstr>
      <vt:lpstr>Declaring Variables and Constants in a Method (cont’d.)</vt:lpstr>
      <vt:lpstr>Writing Methods That Require a Single Argument</vt:lpstr>
      <vt:lpstr>Writing Methods That Require a Single Argument (cont’d.)</vt:lpstr>
      <vt:lpstr>Writing Methods That Require a Single Argument (cont’d.)</vt:lpstr>
      <vt:lpstr>Writing Methods That Require Multiple Arguments</vt:lpstr>
      <vt:lpstr>Writing Methods That Require Multiple Arguments (cont’d.)</vt:lpstr>
      <vt:lpstr>Writing a Method That Returns a Value</vt:lpstr>
      <vt:lpstr>Writing a Method That Returns a Value (cont’d.)</vt:lpstr>
      <vt:lpstr>Writing a Method That Returns a Value (cont’d.)</vt:lpstr>
      <vt:lpstr>Writing a Method That Returns a Value (cont’d.)</vt:lpstr>
      <vt:lpstr>Writing a Method That Returns a Boolean Value</vt:lpstr>
      <vt:lpstr>Analyzing a Built-in Method</vt:lpstr>
      <vt:lpstr>Analyzing a Built-in Method</vt:lpstr>
      <vt:lpstr>Passing Array Values to a Method</vt:lpstr>
      <vt:lpstr>Passing Array Values to a Method (Cont’d.)</vt:lpstr>
      <vt:lpstr>Passing a Single Array Element to a Method (cont’d.)</vt:lpstr>
      <vt:lpstr>Passing an Array to a Method</vt:lpstr>
      <vt:lpstr>PowerPoint Presentation</vt:lpstr>
      <vt:lpstr>Passing an Array to a Method (cont’d.)</vt:lpstr>
      <vt:lpstr>Passing an Array to a Method (cont’d.)</vt:lpstr>
      <vt:lpstr>Alternate Ways to Write a Main() Method Header</vt:lpstr>
      <vt:lpstr>Writing a Main() Method with a Parameter List (cont’d.)</vt:lpstr>
      <vt:lpstr>Writing a Main() Method with an Integer Return Type</vt:lpstr>
      <vt:lpstr>Writing a Main() Method with public access</vt:lpstr>
      <vt:lpstr>Issues Using Methods in GUI Programs</vt:lpstr>
      <vt:lpstr>Understanding Methods That Are Automatically Generated in the Visual Environment</vt:lpstr>
      <vt:lpstr>Understanding Methods That Are Automatically Generated in the Visual Environment (cont’d.)</vt:lpstr>
      <vt:lpstr>Appreciating Scope in a GUI Program</vt:lpstr>
      <vt:lpstr>Creating Methods to Be Nonstatic When Associated with a Form</vt:lpstr>
      <vt:lpstr>Summary</vt:lpstr>
      <vt:lpstr>Summary (cont’d.)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906</cp:revision>
  <dcterms:created xsi:type="dcterms:W3CDTF">2002-09-27T23:29:22Z</dcterms:created>
  <dcterms:modified xsi:type="dcterms:W3CDTF">2015-06-07T22:12:32Z</dcterms:modified>
</cp:coreProperties>
</file>