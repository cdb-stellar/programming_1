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  <p:sldMasterId id="2147483857" r:id="rId2"/>
  </p:sldMasterIdLst>
  <p:notesMasterIdLst>
    <p:notesMasterId r:id="rId42"/>
  </p:notesMasterIdLst>
  <p:handoutMasterIdLst>
    <p:handoutMasterId r:id="rId43"/>
  </p:handoutMasterIdLst>
  <p:sldIdLst>
    <p:sldId id="700" r:id="rId3"/>
    <p:sldId id="638" r:id="rId4"/>
    <p:sldId id="642" r:id="rId5"/>
    <p:sldId id="655" r:id="rId6"/>
    <p:sldId id="685" r:id="rId7"/>
    <p:sldId id="715" r:id="rId8"/>
    <p:sldId id="629" r:id="rId9"/>
    <p:sldId id="687" r:id="rId10"/>
    <p:sldId id="688" r:id="rId11"/>
    <p:sldId id="718" r:id="rId12"/>
    <p:sldId id="689" r:id="rId13"/>
    <p:sldId id="735" r:id="rId14"/>
    <p:sldId id="606" r:id="rId15"/>
    <p:sldId id="690" r:id="rId16"/>
    <p:sldId id="609" r:id="rId17"/>
    <p:sldId id="691" r:id="rId18"/>
    <p:sldId id="692" r:id="rId19"/>
    <p:sldId id="703" r:id="rId20"/>
    <p:sldId id="587" r:id="rId21"/>
    <p:sldId id="705" r:id="rId22"/>
    <p:sldId id="704" r:id="rId23"/>
    <p:sldId id="724" r:id="rId24"/>
    <p:sldId id="706" r:id="rId25"/>
    <p:sldId id="693" r:id="rId26"/>
    <p:sldId id="707" r:id="rId27"/>
    <p:sldId id="708" r:id="rId28"/>
    <p:sldId id="709" r:id="rId29"/>
    <p:sldId id="710" r:id="rId30"/>
    <p:sldId id="711" r:id="rId31"/>
    <p:sldId id="712" r:id="rId32"/>
    <p:sldId id="713" r:id="rId33"/>
    <p:sldId id="727" r:id="rId34"/>
    <p:sldId id="728" r:id="rId35"/>
    <p:sldId id="729" r:id="rId36"/>
    <p:sldId id="730" r:id="rId37"/>
    <p:sldId id="733" r:id="rId38"/>
    <p:sldId id="714" r:id="rId39"/>
    <p:sldId id="472" r:id="rId40"/>
    <p:sldId id="670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0440" autoAdjust="0"/>
    <p:restoredTop sz="94531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9622C64-DA3C-403F-A512-2FDDA77AFA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08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10ECF52-5D14-49B0-AD68-0A160AEEA6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970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0C29E34-DF32-4924-A900-AD09A936A738}" type="slidenum">
              <a:rPr lang="en-US" sz="1200" smtClean="0">
                <a:solidFill>
                  <a:schemeClr val="tx1"/>
                </a:solidFill>
              </a:rPr>
              <a:pPr eaLnBrk="1" hangingPunct="1"/>
              <a:t>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61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551A476-F21B-4FD0-BBD1-8983F8D4E757}" type="slidenum">
              <a:rPr lang="en-US" sz="120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37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6DA2631-BADD-4D23-AF07-B602E2C957CA}" type="slidenum">
              <a:rPr 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836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AC9E460-E6AC-45C6-B54A-4EEC2F62441D}" type="slidenum">
              <a:rPr 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260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2A92050-1DB4-4C7A-BC15-A52076552455}" type="slidenum">
              <a:rPr 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708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4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A1BDCE6-6782-4FC5-98F6-4DB043688750}" type="slidenum">
              <a:rPr 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065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B70EF7C-47D8-4529-9F48-F7A7C197EC8A}" type="slidenum">
              <a:rPr lang="en-US" sz="120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527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E21C6CB-7DC7-4F22-BD91-D956685CB01B}" type="slidenum">
              <a:rPr lang="en-US" sz="120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973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410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DE54D76-001A-41E6-AFD6-643A906880C3}" type="slidenum">
              <a:rPr lang="en-US" sz="120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12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DE54D76-001A-41E6-AFD6-643A906880C3}" type="slidenum">
              <a:rPr lang="en-US" sz="120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4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C9F9E3C-CDD7-4D44-9247-4079371D04F8}" type="slidenum">
              <a:rPr lang="en-US" sz="120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405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0136C75-9288-4621-869D-B69C527DBB3A}" type="slidenum">
              <a:rPr lang="en-US" sz="120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706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B96184B-70D8-41B3-A258-082C92456BF3}" type="slidenum">
              <a:rPr lang="en-US" sz="1200" smtClean="0">
                <a:solidFill>
                  <a:schemeClr val="tx1"/>
                </a:solidFill>
              </a:rPr>
              <a:pPr eaLnBrk="1" hangingPunct="1"/>
              <a:t>15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719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1F9DBAF-3C06-48BF-BE41-466181945BDF}" type="slidenum">
              <a:rPr lang="en-US" sz="120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1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3A6FA59-B41E-4EC8-BFA1-47A95ACB3DD3}" type="slidenum">
              <a:rPr lang="en-US" sz="120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861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753F210-49FD-4647-989B-6F03AA970794}" type="slidenum">
              <a:rPr lang="en-US" sz="120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7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F20D9F5-E95C-4EA2-9B25-67506BECCEF9}" type="slidenum">
              <a:rPr lang="en-US" sz="120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972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2E06E10-744D-47F5-A061-963ECF43BC0C}" type="slidenum">
              <a:rPr lang="en-US" sz="120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996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A8F09F0-44DF-4028-AEA0-1351A8B0B43B}" type="slidenum">
              <a:rPr lang="en-US" sz="120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253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087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8DD8ABE-18F4-4BC8-9256-AD0EE59470BE}" type="slidenum">
              <a:rPr lang="en-US" sz="1200" smtClean="0">
                <a:solidFill>
                  <a:schemeClr val="tx1"/>
                </a:solidFill>
              </a:rPr>
              <a:pPr eaLnBrk="1" hangingPunct="1"/>
              <a:t>23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180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0C27D7A-A46C-4D98-852B-70F0F60E264C}" type="slidenum">
              <a:rPr lang="en-US" sz="1200" smtClean="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563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43478E4-D87F-447A-9B52-468F97D19E95}" type="slidenum">
              <a:rPr lang="en-US" sz="1200" smtClean="0">
                <a:solidFill>
                  <a:schemeClr val="tx1"/>
                </a:solidFill>
              </a:rPr>
              <a:pPr eaLnBrk="1" hangingPunct="1"/>
              <a:t>25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285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21FBFE4-5189-46CF-BC92-7D75B283073E}" type="slidenum">
              <a:rPr lang="en-US" sz="120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596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42928E7-ABCF-437C-94E3-DB8FA167052B}" type="slidenum">
              <a:rPr lang="en-US" sz="120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1717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239E38B-6E54-4C02-8694-570D9CDB6A45}" type="slidenum">
              <a:rPr lang="en-US" sz="120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10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618EC5E-7427-4D8F-BBDE-438D39D8DB5B}" type="slidenum">
              <a:rPr lang="en-US" sz="120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805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6B374A4-1E81-46C5-BE77-ED53C0E6E489}" type="slidenum">
              <a:rPr lang="en-US" sz="120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4948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43F877E-877F-4941-96E3-B62F80AD6E32}" type="slidenum">
              <a:rPr lang="en-US" sz="120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0931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4366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33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3833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736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ECF52-5D14-49B0-AD68-0A160AEEA67C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699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D21FE0F-7B17-4F45-A017-140516D29946}" type="slidenum">
              <a:rPr lang="en-US" sz="1200" smtClean="0">
                <a:solidFill>
                  <a:schemeClr val="tx1"/>
                </a:solidFill>
              </a:rPr>
              <a:pPr eaLnBrk="1" hangingPunct="1"/>
              <a:t>37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22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0485C4B-7A50-405D-A7DB-DC27C505C5E5}" type="slidenum">
              <a:rPr lang="en-US" sz="1200" smtClean="0">
                <a:solidFill>
                  <a:schemeClr val="tx1"/>
                </a:solidFill>
              </a:rPr>
              <a:pPr eaLnBrk="1" hangingPunct="1"/>
              <a:t>38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4240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44D4926-1B9D-4834-AB83-A65B4894F739}" type="slidenum">
              <a:rPr lang="en-US" sz="1200" smtClean="0">
                <a:solidFill>
                  <a:schemeClr val="tx1"/>
                </a:solidFill>
              </a:rPr>
              <a:pPr eaLnBrk="1" hangingPunct="1"/>
              <a:t>39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11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62695-7BDA-4083-9FAA-11A054328B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1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9F4CF-234E-47AC-804E-4CE2D05FD3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98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900D2-BF67-4264-AC19-5E9EDF5491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3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374E2-E507-470B-89E0-0C2C915584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98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DD1B9-C1C9-486A-A426-71C6F575EA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829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CC3FD-213F-4C86-8BE2-8AD6B0CACC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84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6E7AE-13AC-4749-8780-E250A3A7F6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52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8736A-FB3F-4CB7-9C95-353A6EA0EA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3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09E7F-F4B8-404B-B046-650E9F8B0F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7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BABA6-C9F1-47D1-A6E5-3FE858572B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476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1374B-8370-454D-A34D-1A2FF0EA5C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941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492309"/>
            <a:ext cx="5435600" cy="6365691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9F4CF-234E-47AC-804E-4CE2D05FD3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A900D2-BF67-4264-AC19-5E9EDF5491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374E2-E507-470B-89E0-0C2C915584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DD1B9-C1C9-486A-A426-71C6F575EA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CC3FD-213F-4C86-8BE2-8AD6B0CACCB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6E7AE-13AC-4749-8780-E250A3A7F6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8736A-FB3F-4CB7-9C95-353A6EA0EA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09E7F-F4B8-404B-B046-650E9F8B0F6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BABA6-C9F1-47D1-A6E5-3FE858572BC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1374B-8370-454D-A34D-1A2FF0EA5C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850E7-45A4-4E67-9EA2-A67E1A7778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74850E7-45A4-4E67-9EA2-A67E1A77785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3ACF0E6F-FD87-42E4-ADFB-1C4DACC1AA4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343400" y="6356350"/>
            <a:ext cx="3505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8: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Advanced Method Concepts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Objectives</a:t>
            </a:r>
            <a:endParaRPr lang="en-US" spc="-2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 about parameter types and review mandatory value parameters</a:t>
            </a:r>
          </a:p>
          <a:p>
            <a:r>
              <a:rPr lang="en-US" dirty="0" smtClean="0"/>
              <a:t>Use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ref</a:t>
            </a:r>
            <a:r>
              <a:rPr lang="en-US" dirty="0" smtClean="0"/>
              <a:t> parameters,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dirty="0" smtClean="0"/>
              <a:t> parameters, and parameter arrays</a:t>
            </a:r>
          </a:p>
          <a:p>
            <a:r>
              <a:rPr lang="en-US" dirty="0" smtClean="0"/>
              <a:t>Overload methods</a:t>
            </a:r>
          </a:p>
          <a:p>
            <a:r>
              <a:rPr lang="en-US" dirty="0" smtClean="0"/>
              <a:t>Learn how to avoid ambiguous methods </a:t>
            </a:r>
          </a:p>
          <a:p>
            <a:r>
              <a:rPr lang="en-US" dirty="0" smtClean="0"/>
              <a:t>Use optional parameters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9BE829-4990-4502-85AC-BFD0806CEB2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Understanding Parameter Types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Mandatory Parameter</a:t>
            </a:r>
          </a:p>
          <a:p>
            <a:pPr lvl="1"/>
            <a:r>
              <a:rPr lang="en-US" dirty="0" smtClean="0"/>
              <a:t>An argument for it is required in every method call</a:t>
            </a:r>
          </a:p>
          <a:p>
            <a:pPr eaLnBrk="1" hangingPunct="1"/>
            <a:r>
              <a:rPr lang="en-US" dirty="0" smtClean="0"/>
              <a:t>Types of mandatory parameters:</a:t>
            </a:r>
          </a:p>
          <a:p>
            <a:pPr lvl="1" eaLnBrk="1" hangingPunct="1"/>
            <a:r>
              <a:rPr lang="en-US" dirty="0" smtClean="0"/>
              <a:t>Reference parameters</a:t>
            </a:r>
          </a:p>
          <a:p>
            <a:pPr lvl="2" eaLnBrk="1" hangingPunct="1"/>
            <a:r>
              <a:rPr lang="en-US" dirty="0" smtClean="0"/>
              <a:t>Declared with the </a:t>
            </a:r>
            <a:r>
              <a:rPr lang="en-US" dirty="0" smtClean="0">
                <a:latin typeface="Courier New" pitchFamily="1" charset="0"/>
              </a:rPr>
              <a:t>ref</a:t>
            </a:r>
            <a:r>
              <a:rPr lang="en-US" dirty="0" smtClean="0"/>
              <a:t> modifier</a:t>
            </a:r>
          </a:p>
          <a:p>
            <a:pPr lvl="1" eaLnBrk="1" hangingPunct="1"/>
            <a:r>
              <a:rPr lang="en-US" dirty="0" smtClean="0"/>
              <a:t>Output parameters</a:t>
            </a:r>
          </a:p>
          <a:p>
            <a:pPr lvl="2" eaLnBrk="1" hangingPunct="1"/>
            <a:r>
              <a:rPr lang="en-US" dirty="0" smtClean="0"/>
              <a:t>Declared with the </a:t>
            </a:r>
            <a:r>
              <a:rPr lang="en-US" dirty="0" smtClean="0">
                <a:latin typeface="Courier New" pitchFamily="1" charset="0"/>
              </a:rPr>
              <a:t>out</a:t>
            </a:r>
            <a:r>
              <a:rPr lang="en-US" dirty="0" smtClean="0"/>
              <a:t> modifier</a:t>
            </a:r>
          </a:p>
          <a:p>
            <a:pPr lvl="1" eaLnBrk="1" hangingPunct="1"/>
            <a:r>
              <a:rPr lang="en-US" dirty="0" smtClean="0"/>
              <a:t>Parameter arrays</a:t>
            </a:r>
          </a:p>
          <a:p>
            <a:pPr lvl="2" eaLnBrk="1" hangingPunct="1"/>
            <a:r>
              <a:rPr lang="en-US" dirty="0" smtClean="0"/>
              <a:t>Declared with the </a:t>
            </a:r>
            <a:r>
              <a:rPr lang="en-US" dirty="0" err="1" smtClean="0">
                <a:latin typeface="Courier New" pitchFamily="1" charset="0"/>
              </a:rPr>
              <a:t>params</a:t>
            </a:r>
            <a:r>
              <a:rPr lang="en-US" dirty="0" smtClean="0"/>
              <a:t> modifier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E10A4E-B651-4856-BD8E-6FFB9877417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Mandatory Value Parameters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Optional Parameter</a:t>
            </a:r>
          </a:p>
          <a:p>
            <a:pPr lvl="1"/>
            <a:r>
              <a:rPr lang="en-US" dirty="0"/>
              <a:t>Value </a:t>
            </a:r>
            <a:r>
              <a:rPr lang="en-US" dirty="0" smtClean="0"/>
              <a:t>parameters - declared with default values </a:t>
            </a:r>
            <a:endParaRPr lang="en-US" b="1" dirty="0" smtClean="0"/>
          </a:p>
          <a:p>
            <a:r>
              <a:rPr lang="en-US" b="1" dirty="0" smtClean="0"/>
              <a:t>Value Parameter</a:t>
            </a:r>
          </a:p>
          <a:p>
            <a:pPr lvl="1"/>
            <a:r>
              <a:rPr lang="en-US" dirty="0" smtClean="0"/>
              <a:t>The method receives a copy of the value passed to it</a:t>
            </a:r>
          </a:p>
          <a:p>
            <a:pPr lvl="1"/>
            <a:r>
              <a:rPr lang="en-US" dirty="0" smtClean="0"/>
              <a:t>The copy is stored at a different memory address than the actual parameter</a:t>
            </a:r>
          </a:p>
          <a:p>
            <a:r>
              <a:rPr lang="en-US" dirty="0" smtClean="0"/>
              <a:t>Changes to value parameters never affect the original argument in the calling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25A113-A3D2-4B86-B766-ED1B51C7CEC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z="4000" spc="-200" dirty="0"/>
              <a:t>Using </a:t>
            </a:r>
            <a:r>
              <a:rPr lang="en-US" sz="4000" spc="-200" dirty="0" smtClean="0"/>
              <a:t>Mandatory Value </a:t>
            </a:r>
            <a:r>
              <a:rPr lang="en-US" sz="4000" spc="-200" dirty="0"/>
              <a:t>Parameters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400800"/>
            <a:ext cx="2133600" cy="365125"/>
          </a:xfrm>
        </p:spPr>
        <p:txBody>
          <a:bodyPr/>
          <a:lstStyle/>
          <a:p>
            <a:pPr>
              <a:defRPr/>
            </a:pPr>
            <a:fld id="{B3D81955-83D4-4DB6-B85E-48A4CC31EB9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3" y="1524000"/>
            <a:ext cx="8342334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7CC3FD-213F-4C86-8BE2-8AD6B0CACCB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z="4000" spc="-200" dirty="0"/>
              <a:t>Using </a:t>
            </a:r>
            <a:r>
              <a:rPr lang="en-US" sz="4000" spc="-200" dirty="0" smtClean="0"/>
              <a:t>Mandatory Value </a:t>
            </a:r>
            <a:r>
              <a:rPr lang="en-US" sz="4000" spc="-200" dirty="0"/>
              <a:t>Parameters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19" y="1547853"/>
            <a:ext cx="7821681" cy="378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3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</a:t>
            </a:r>
            <a:r>
              <a:rPr lang="en-US" sz="4000" spc="-200" dirty="0" smtClean="0"/>
              <a:t>Reference Parameters, </a:t>
            </a:r>
            <a:r>
              <a:rPr lang="en-US" sz="4000" spc="-200" dirty="0"/>
              <a:t>Output </a:t>
            </a:r>
            <a:r>
              <a:rPr lang="en-US" sz="4000" spc="-200" dirty="0" smtClean="0"/>
              <a:t>Parameters, and Parameter Arrays</a:t>
            </a:r>
            <a:endParaRPr lang="en-US" sz="4000" spc="-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has memory addresses that are passed to a method, allowing the method to alter the original variables</a:t>
            </a:r>
          </a:p>
          <a:p>
            <a:r>
              <a:rPr lang="en-US" dirty="0" smtClean="0"/>
              <a:t>Differences</a:t>
            </a:r>
          </a:p>
          <a:p>
            <a:pPr lvl="1"/>
            <a:r>
              <a:rPr lang="en-US" dirty="0" smtClean="0"/>
              <a:t>Reference parameters need to contain a value before calling the method</a:t>
            </a:r>
          </a:p>
          <a:p>
            <a:pPr lvl="1"/>
            <a:r>
              <a:rPr lang="en-US" dirty="0" smtClean="0"/>
              <a:t>Output parameters </a:t>
            </a:r>
            <a:r>
              <a:rPr lang="en-US" dirty="0"/>
              <a:t>do not need to contain a </a:t>
            </a:r>
            <a:r>
              <a:rPr lang="en-US" dirty="0" smtClean="0"/>
              <a:t>value </a:t>
            </a:r>
          </a:p>
          <a:p>
            <a:pPr lvl="1"/>
            <a:r>
              <a:rPr lang="en-US" sz="2400" dirty="0" smtClean="0"/>
              <a:t>Parameter arrays arguments </a:t>
            </a:r>
            <a:r>
              <a:rPr lang="en-US" sz="2400" dirty="0"/>
              <a:t>used in the call need not contain </a:t>
            </a:r>
            <a:r>
              <a:rPr lang="en-US" sz="2400" dirty="0" smtClean="0"/>
              <a:t>any original</a:t>
            </a:r>
            <a:r>
              <a:rPr lang="en-US" sz="2400" dirty="0"/>
              <a:t>, assigned values, and the parameter array need not be assigned any values </a:t>
            </a:r>
            <a:r>
              <a:rPr lang="en-US" sz="2400" dirty="0" smtClean="0"/>
              <a:t>within the method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496913-5165-4461-98FF-81B2A589DA8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1143000"/>
          </a:xfrm>
        </p:spPr>
        <p:txBody>
          <a:bodyPr/>
          <a:lstStyle/>
          <a:p>
            <a:r>
              <a:rPr lang="en-US" sz="4000" spc="-200" dirty="0"/>
              <a:t>Using </a:t>
            </a:r>
            <a:r>
              <a:rPr lang="en-US" sz="4000" spc="-200" dirty="0" smtClean="0"/>
              <a:t>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ref</a:t>
            </a:r>
            <a:r>
              <a:rPr lang="en-US" sz="4000" spc="-200" dirty="0" smtClean="0"/>
              <a:t> Parameter</a:t>
            </a:r>
            <a:endParaRPr lang="en-US" sz="4000" spc="-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B3F156-C284-4A85-B981-AB8F7DF2A89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6254"/>
            <a:ext cx="6555171" cy="3886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4573776"/>
            <a:ext cx="3886200" cy="179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Using an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sz="4000" spc="-200" dirty="0" smtClean="0"/>
              <a:t> Parameter</a:t>
            </a:r>
            <a:endParaRPr lang="en-US" sz="4000" spc="-200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31B06A-3F21-46A5-A41F-81F754BAB69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391239" cy="45669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1" y="4648200"/>
            <a:ext cx="420624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a Built-in Method </a:t>
            </a:r>
            <a:br>
              <a:rPr lang="en-US" sz="4000" spc="-200" dirty="0"/>
            </a:br>
            <a:r>
              <a:rPr lang="en-US" sz="4000" spc="-200" dirty="0"/>
              <a:t>That Has an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sz="4000" spc="-200" dirty="0"/>
              <a:t>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TryParse()</a:t>
            </a:r>
            <a:r>
              <a:rPr lang="en-US" dirty="0" smtClean="0"/>
              <a:t> methods are an alternative to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Convert()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Parse()</a:t>
            </a:r>
            <a:r>
              <a:rPr lang="en-US" dirty="0" smtClean="0"/>
              <a:t> methods from Chapter 2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TryParse()</a:t>
            </a:r>
            <a:r>
              <a:rPr lang="en-US" dirty="0" smtClean="0"/>
              <a:t> requires two parameters:</a:t>
            </a:r>
          </a:p>
          <a:p>
            <a:pPr lvl="1"/>
            <a:r>
              <a:rPr lang="en-US" dirty="0" smtClean="0"/>
              <a:t>The value to be converted</a:t>
            </a:r>
          </a:p>
          <a:p>
            <a:pPr lvl="1"/>
            <a:r>
              <a:rPr lang="en-US" dirty="0" smtClean="0"/>
              <a:t>An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dirty="0" smtClean="0"/>
              <a:t> parameter to hold the result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TryParse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cs typeface="Courier New" pitchFamily="49" charset="0"/>
              </a:rPr>
              <a:t> returns a Boolean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F9F4CF-234E-47AC-804E-4CE2D05FD3F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7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a Built-in Method </a:t>
            </a:r>
            <a:br>
              <a:rPr lang="en-US" sz="4000" spc="-200" dirty="0"/>
            </a:br>
            <a:r>
              <a:rPr lang="en-US" sz="4000" spc="-200" dirty="0"/>
              <a:t>That Has an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sz="4000" spc="-200" dirty="0"/>
              <a:t> Parameter </a:t>
            </a:r>
            <a:r>
              <a:rPr lang="en-US" sz="1200" spc="-200" dirty="0">
                <a:latin typeface="Century Gothic" panose="020B0502020202020204" pitchFamily="34" charset="0"/>
              </a:rPr>
              <a:t>(cont’d.)</a:t>
            </a:r>
            <a:endParaRPr lang="en-US" sz="4000" spc="-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4EA1B0-4329-433E-A953-6F7FC898767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200400"/>
            <a:ext cx="4413674" cy="2971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201" y="1527799"/>
            <a:ext cx="6228799" cy="2815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</a:t>
            </a:r>
            <a:r>
              <a:rPr lang="en-US" sz="4000" spc="-200" dirty="0" smtClean="0"/>
              <a:t>a Built-in Method </a:t>
            </a:r>
            <a:br>
              <a:rPr lang="en-US" sz="4000" spc="-200" dirty="0" smtClean="0"/>
            </a:br>
            <a:r>
              <a:rPr lang="en-US" sz="4000" spc="-200" dirty="0" smtClean="0"/>
              <a:t>That Has an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out</a:t>
            </a:r>
            <a:r>
              <a:rPr lang="en-US" sz="4000" spc="-200" dirty="0"/>
              <a:t> </a:t>
            </a:r>
            <a:r>
              <a:rPr lang="en-US" sz="4000" spc="-200" dirty="0" smtClean="0"/>
              <a:t>Parameter </a:t>
            </a:r>
            <a:r>
              <a:rPr lang="en-US" sz="1200" spc="-200" dirty="0" smtClean="0">
                <a:latin typeface="Century Gothic" panose="020B0502020202020204" pitchFamily="34" charset="0"/>
              </a:rPr>
              <a:t>(cont’d.)</a:t>
            </a:r>
            <a:endParaRPr lang="en-US" sz="1200" spc="-200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4EA1B0-4329-433E-A953-6F7FC898767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47800"/>
            <a:ext cx="4124960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4154460"/>
            <a:ext cx="5796329" cy="220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8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Parameter Arrays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Parameter array </a:t>
            </a:r>
          </a:p>
          <a:p>
            <a:pPr lvl="1" eaLnBrk="1" hangingPunct="1"/>
            <a:r>
              <a:rPr lang="en-US" dirty="0" smtClean="0"/>
              <a:t>A local array declared within the method header by using the keyword </a:t>
            </a:r>
            <a:r>
              <a:rPr lang="en-US" dirty="0" smtClean="0">
                <a:latin typeface="Courier New" pitchFamily="1" charset="0"/>
              </a:rPr>
              <a:t>params</a:t>
            </a:r>
          </a:p>
          <a:p>
            <a:pPr lvl="1" eaLnBrk="1" hangingPunct="1"/>
            <a:r>
              <a:rPr lang="en-US" dirty="0" smtClean="0"/>
              <a:t>Used when you don’t know how many arguments of the same type you might eventually send to a method</a:t>
            </a:r>
          </a:p>
          <a:p>
            <a:pPr eaLnBrk="1" hangingPunct="1"/>
            <a:r>
              <a:rPr lang="en-US" dirty="0" smtClean="0"/>
              <a:t>No additional parameters are permitted after the </a:t>
            </a:r>
            <a:r>
              <a:rPr lang="en-US" dirty="0" smtClean="0">
                <a:latin typeface="Courier New" pitchFamily="1" charset="0"/>
              </a:rPr>
              <a:t>params</a:t>
            </a:r>
            <a:r>
              <a:rPr lang="en-US" dirty="0" smtClean="0"/>
              <a:t> keyword</a:t>
            </a:r>
          </a:p>
          <a:p>
            <a:pPr eaLnBrk="1" hangingPunct="1"/>
            <a:r>
              <a:rPr lang="en-US" dirty="0" smtClean="0"/>
              <a:t>Only one </a:t>
            </a:r>
            <a:r>
              <a:rPr lang="en-US" dirty="0" smtClean="0">
                <a:latin typeface="Courier New" pitchFamily="1" charset="0"/>
              </a:rPr>
              <a:t>params</a:t>
            </a:r>
            <a:r>
              <a:rPr lang="en-US" dirty="0" smtClean="0"/>
              <a:t> keyword is permitted in a method declaration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CC57FF-3B4C-4D63-A327-AB4CB22DC2BB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Parameter Arrays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1C062B-1293-40FE-9960-CD8880221CDB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6946"/>
            <a:ext cx="6560876" cy="38870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912" y="4191000"/>
            <a:ext cx="4304611" cy="216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Overloading Methods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Overloading</a:t>
            </a:r>
          </a:p>
          <a:p>
            <a:pPr lvl="1"/>
            <a:r>
              <a:rPr lang="en-US" dirty="0" smtClean="0"/>
              <a:t>Involves the ability </a:t>
            </a:r>
            <a:r>
              <a:rPr lang="en-US" dirty="0"/>
              <a:t>to write multiple versions of a method using the same </a:t>
            </a:r>
            <a:r>
              <a:rPr lang="en-US" dirty="0" smtClean="0"/>
              <a:t>method name</a:t>
            </a:r>
          </a:p>
          <a:p>
            <a:pPr eaLnBrk="1" hangingPunct="1"/>
            <a:r>
              <a:rPr lang="en-US" dirty="0" smtClean="0"/>
              <a:t>When you overload a C# method:</a:t>
            </a:r>
          </a:p>
          <a:p>
            <a:pPr lvl="1" eaLnBrk="1" hangingPunct="1"/>
            <a:r>
              <a:rPr lang="en-US" dirty="0" smtClean="0"/>
              <a:t>You write multiple methods with the same name but different parameter lists</a:t>
            </a:r>
          </a:p>
          <a:p>
            <a:pPr lvl="1"/>
            <a:r>
              <a:rPr lang="en-US" dirty="0" smtClean="0"/>
              <a:t>The method’s name and parameter list is called the method’s </a:t>
            </a:r>
            <a:r>
              <a:rPr lang="en-US" b="1" dirty="0"/>
              <a:t>signature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Methods are overloaded correctly when they have the same identifier but different parameter lists</a:t>
            </a:r>
          </a:p>
          <a:p>
            <a:pPr eaLnBrk="1" hangingPunct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EC111-9DD0-4D87-B67D-E86B9C66CBD2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Overloading Methods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27C382-FE3D-41DB-84C4-A103F417FC4E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71600"/>
            <a:ext cx="5532452" cy="5070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207942"/>
            <a:ext cx="3276600" cy="3666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Overloading Methods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A710FC-34F1-4B84-8D3E-1BF041E6C4D6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383670"/>
            <a:ext cx="6553200" cy="49609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9FF8E8-9480-4A18-A5C9-F01AD211DF17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5860"/>
            <a:ext cx="4264846" cy="68151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980240"/>
            <a:ext cx="3076575" cy="48966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Understanding Overload Resolution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Overload resolution</a:t>
            </a:r>
          </a:p>
          <a:p>
            <a:pPr lvl="1"/>
            <a:r>
              <a:rPr lang="en-US" dirty="0" smtClean="0"/>
              <a:t>Used by C# to determine which method to execute when a method call could execute multiple overloaded methods</a:t>
            </a:r>
          </a:p>
          <a:p>
            <a:r>
              <a:rPr lang="en-US" b="1" dirty="0" smtClean="0"/>
              <a:t>Applicable methods</a:t>
            </a:r>
            <a:endParaRPr lang="en-US" dirty="0" smtClean="0"/>
          </a:p>
          <a:p>
            <a:pPr lvl="1"/>
            <a:r>
              <a:rPr lang="en-US" dirty="0" smtClean="0"/>
              <a:t>A set of methods that can accept a call with a specific list of arguments</a:t>
            </a:r>
          </a:p>
          <a:p>
            <a:r>
              <a:rPr lang="en-US" b="1" dirty="0" smtClean="0"/>
              <a:t>Betterness rules</a:t>
            </a:r>
            <a:endParaRPr lang="en-US" dirty="0" smtClean="0"/>
          </a:p>
          <a:p>
            <a:pPr lvl="1"/>
            <a:r>
              <a:rPr lang="en-US" dirty="0" smtClean="0"/>
              <a:t>Rules that determine which method version to call</a:t>
            </a:r>
          </a:p>
          <a:p>
            <a:pPr lvl="1"/>
            <a:r>
              <a:rPr lang="en-US" dirty="0" smtClean="0"/>
              <a:t>Similar to the implicit data type conversion rules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A76763-58F9-4554-A226-B0EDD6B2BF9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Understanding Overload Resolution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BE8BDE-6E82-4AB8-8DDB-E374CAFC43AE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5" y="1981200"/>
            <a:ext cx="8726655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 smtClean="0"/>
              <a:t>Discovering </a:t>
            </a:r>
            <a:r>
              <a:rPr lang="en-US" sz="4000" spc="-200" dirty="0"/>
              <a:t>Built-In Overloaded Methods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use the IDE to create programs, Visual Studio’s IntelliSense features provide information about methods you are using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EAB0A7-48C9-462D-8237-5B431AFC97D8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7CC3FD-213F-4C86-8BE2-8AD6B0CACCB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17" y="1417638"/>
            <a:ext cx="8352366" cy="4956349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 smtClean="0"/>
              <a:t>Discovering </a:t>
            </a:r>
            <a:r>
              <a:rPr lang="en-US" sz="4000" spc="-200" dirty="0"/>
              <a:t>Built-In Overloaded </a:t>
            </a:r>
            <a:r>
              <a:rPr lang="en-US" sz="4000" spc="-200" dirty="0" smtClean="0"/>
              <a:t>Methods </a:t>
            </a:r>
            <a:r>
              <a:rPr lang="en-US" sz="1200" spc="-200" dirty="0" smtClean="0">
                <a:latin typeface="Century Gothic" panose="020B0502020202020204" pitchFamily="34" charset="0"/>
              </a:rPr>
              <a:t>(cont’d</a:t>
            </a:r>
            <a:r>
              <a:rPr lang="en-US" sz="1200" spc="-200" dirty="0" smtClean="0">
                <a:latin typeface="Century Gothic" panose="020B0502020202020204" pitchFamily="34" charset="0"/>
              </a:rPr>
              <a:t>.)</a:t>
            </a:r>
            <a:endParaRPr lang="en-US" sz="1200" spc="-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647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Avoiding Ambiguous Methods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Ambiguous</a:t>
            </a:r>
            <a:r>
              <a:rPr lang="en-US" dirty="0" smtClean="0"/>
              <a:t> method</a:t>
            </a:r>
          </a:p>
          <a:p>
            <a:pPr lvl="1"/>
            <a:r>
              <a:rPr lang="en-US" dirty="0" smtClean="0"/>
              <a:t>A situation in which the compiler cannot determine which method to use</a:t>
            </a:r>
          </a:p>
          <a:p>
            <a:pPr lvl="1"/>
            <a:r>
              <a:rPr lang="en-US" dirty="0" smtClean="0"/>
              <a:t>Occurs when you overload methods</a:t>
            </a:r>
          </a:p>
          <a:p>
            <a:r>
              <a:rPr lang="en-US" dirty="0" smtClean="0"/>
              <a:t>Methods with identical names that have identical parameter lists but different return types are not overloaded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69112-92DF-4AC3-A2D9-B19DCC76A18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Avoiding Ambiguous Methods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80287A-AED7-42F3-BC9C-54F29A2EFC9B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7" y="2023359"/>
            <a:ext cx="6368011" cy="43329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524000"/>
            <a:ext cx="5553808" cy="1793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Optional Parameters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Optional parameter</a:t>
            </a:r>
          </a:p>
          <a:p>
            <a:pPr lvl="1"/>
            <a:r>
              <a:rPr lang="en-US" dirty="0" smtClean="0"/>
              <a:t>One for which a default value is automatically supplied</a:t>
            </a:r>
          </a:p>
          <a:p>
            <a:r>
              <a:rPr lang="en-US" dirty="0" smtClean="0"/>
              <a:t>Make a parameter optional by providing a value for it in the method declaration</a:t>
            </a:r>
          </a:p>
          <a:p>
            <a:pPr lvl="1"/>
            <a:r>
              <a:rPr lang="en-US" dirty="0" smtClean="0"/>
              <a:t>Only value parameters can be given default values</a:t>
            </a:r>
          </a:p>
          <a:p>
            <a:r>
              <a:rPr lang="en-US" dirty="0" smtClean="0"/>
              <a:t>Any optional parameters in a parameter list must follow all mandatory parameters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9364D11-3E28-41CE-BC57-7E0445EB1EF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Optional Parameters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06E486-0E61-4EDC-BF91-2636D1BE53D5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362200"/>
            <a:ext cx="8146365" cy="39589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132" y="1676400"/>
            <a:ext cx="5142254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Optional Parameters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6A0BEF-F20B-41DC-9D2F-06C6613EC33F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29361"/>
            <a:ext cx="7880700" cy="4926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Leaving Out Unnamed Arguments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calling a method with optional parameters and you are using unnamed arguments, leave out any arguments to the right of the last one you use</a:t>
            </a:r>
          </a:p>
          <a:p>
            <a:r>
              <a:rPr lang="en-US" dirty="0" smtClean="0"/>
              <a:t>Example method: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E94B84-24C9-4080-935B-A8DED795464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114800"/>
            <a:ext cx="8839200" cy="5190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5D1546-5851-43FE-8245-2A16A89B3B85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82616"/>
            <a:ext cx="6815847" cy="4803042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/>
              <a:t>Leaving Out Unnamed </a:t>
            </a:r>
            <a:r>
              <a:rPr lang="en-US" sz="4000" spc="-200" dirty="0" smtClean="0"/>
              <a:t>Arguments </a:t>
            </a:r>
            <a:r>
              <a:rPr lang="en-US" sz="1200" spc="-200" dirty="0" smtClean="0">
                <a:latin typeface="Century Gothic" panose="020B0502020202020204" pitchFamily="34" charset="0"/>
              </a:rPr>
              <a:t>(cont’d</a:t>
            </a:r>
            <a:r>
              <a:rPr lang="en-US" sz="1200" spc="-200" dirty="0" smtClean="0">
                <a:latin typeface="Century Gothic" panose="020B0502020202020204" pitchFamily="34" charset="0"/>
              </a:rPr>
              <a:t>.)</a:t>
            </a:r>
            <a:endParaRPr lang="en-US" sz="1200" spc="-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Named Arguments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Named arguments </a:t>
            </a:r>
            <a:r>
              <a:rPr lang="en-US" dirty="0" smtClean="0"/>
              <a:t>are </a:t>
            </a:r>
            <a:r>
              <a:rPr lang="en-US" dirty="0"/>
              <a:t>method </a:t>
            </a:r>
            <a:r>
              <a:rPr lang="en-US" dirty="0" smtClean="0"/>
              <a:t>arguments </a:t>
            </a:r>
            <a:r>
              <a:rPr lang="en-US" dirty="0"/>
              <a:t>that </a:t>
            </a:r>
            <a:r>
              <a:rPr lang="en-US" dirty="0" smtClean="0"/>
              <a:t>are preceded </a:t>
            </a:r>
            <a:r>
              <a:rPr lang="en-US" dirty="0"/>
              <a:t>with the name of </a:t>
            </a:r>
            <a:r>
              <a:rPr lang="en-US" dirty="0" smtClean="0"/>
              <a:t>the called </a:t>
            </a:r>
            <a:r>
              <a:rPr lang="en-US" dirty="0"/>
              <a:t>method’s parameter to which it will be </a:t>
            </a:r>
            <a:r>
              <a:rPr lang="en-US" dirty="0" smtClean="0"/>
              <a:t>assigned</a:t>
            </a:r>
          </a:p>
          <a:p>
            <a:pPr lvl="1"/>
            <a:r>
              <a:rPr lang="en-US" dirty="0" smtClean="0"/>
              <a:t>Must appear after all the unnamed arguments have been listed</a:t>
            </a:r>
          </a:p>
          <a:p>
            <a:r>
              <a:rPr lang="en-US" dirty="0"/>
              <a:t>Each </a:t>
            </a:r>
            <a:r>
              <a:rPr lang="en-US" dirty="0" smtClean="0"/>
              <a:t>unnamed argument </a:t>
            </a:r>
            <a:r>
              <a:rPr lang="en-US" dirty="0"/>
              <a:t>is also known as a </a:t>
            </a:r>
            <a:r>
              <a:rPr lang="en-US" b="1" dirty="0"/>
              <a:t>positional </a:t>
            </a:r>
            <a:r>
              <a:rPr lang="en-US" b="1" dirty="0" smtClean="0"/>
              <a:t>argument</a:t>
            </a:r>
            <a:endParaRPr lang="en-US" dirty="0" smtClean="0"/>
          </a:p>
          <a:p>
            <a:pPr lvl="1"/>
            <a:r>
              <a:rPr lang="en-US" dirty="0" smtClean="0"/>
              <a:t>Example method:</a:t>
            </a:r>
            <a:endParaRPr lang="en-US" dirty="0"/>
          </a:p>
          <a:p>
            <a:pPr marL="457200" lvl="1" indent="0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Method1(int a, char b,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c = 22, double d = 33.2)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562CAE-B2D5-4B52-BCBF-CB260E6912E0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93C03A-C275-4D1D-9080-9706ECD045A7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/>
              <a:t>Using Named </a:t>
            </a:r>
            <a:r>
              <a:rPr lang="en-US" sz="4000" spc="-200" dirty="0" smtClean="0"/>
              <a:t>Arguments </a:t>
            </a:r>
            <a:r>
              <a:rPr lang="en-US" sz="1200" spc="-200" dirty="0" smtClean="0">
                <a:latin typeface="Century Gothic" panose="020B0502020202020204" pitchFamily="34" charset="0"/>
              </a:rPr>
              <a:t>(cont’d</a:t>
            </a:r>
            <a:r>
              <a:rPr lang="en-US" sz="1200" spc="-200" dirty="0" smtClean="0">
                <a:latin typeface="Century Gothic" panose="020B0502020202020204" pitchFamily="34" charset="0"/>
              </a:rPr>
              <a:t>.)</a:t>
            </a:r>
            <a:endParaRPr lang="en-US" sz="1200" spc="-200" dirty="0">
              <a:latin typeface="Century Gothic" panose="020B0502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13034"/>
            <a:ext cx="5729287" cy="5052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Advantages to Using Named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Added flexibility with method calls</a:t>
            </a:r>
          </a:p>
          <a:p>
            <a:pPr lvl="1"/>
            <a:r>
              <a:rPr lang="en-US" dirty="0" smtClean="0"/>
              <a:t>Named arguments can be coded in any order as long as they follow all the unnamed arguments</a:t>
            </a:r>
          </a:p>
          <a:p>
            <a:r>
              <a:rPr lang="en-US" dirty="0" smtClean="0"/>
              <a:t>Can result in fewer overloaded methods</a:t>
            </a:r>
          </a:p>
          <a:p>
            <a:r>
              <a:rPr lang="en-US" b="1" dirty="0"/>
              <a:t>S</a:t>
            </a:r>
            <a:r>
              <a:rPr lang="en-US" b="1" dirty="0" smtClean="0"/>
              <a:t>elf-documenting </a:t>
            </a:r>
            <a:r>
              <a:rPr lang="en-US" dirty="0" smtClean="0"/>
              <a:t>programs provide </a:t>
            </a:r>
            <a:r>
              <a:rPr lang="en-US" dirty="0"/>
              <a:t>built-in explanations that </a:t>
            </a:r>
            <a:r>
              <a:rPr lang="en-US" dirty="0" smtClean="0"/>
              <a:t>make the </a:t>
            </a:r>
            <a:r>
              <a:rPr lang="en-US" dirty="0"/>
              <a:t>code clearer to readers </a:t>
            </a:r>
            <a:endParaRPr lang="en-US" dirty="0" smtClean="0"/>
          </a:p>
          <a:p>
            <a:pPr marL="400050" lvl="1" indent="0" algn="ctr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DisplayEmployeeData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empNumber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shouldHideSalary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: true);</a:t>
            </a:r>
          </a:p>
          <a:p>
            <a:pPr marL="400050" lvl="1" indent="0" algn="ctr">
              <a:buNone/>
            </a:pPr>
            <a:r>
              <a:rPr lang="en-US" dirty="0" smtClean="0"/>
              <a:t>  --  Is better than  --   </a:t>
            </a:r>
          </a:p>
          <a:p>
            <a:pPr marL="400050" lvl="1" indent="0" algn="ctr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DisplayEmployeeData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empNumber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true);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 </a:t>
            </a:r>
            <a:fld id="{D5F9F4CF-234E-47AC-804E-4CE2D05FD3F1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876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Advantages to Using Named </a:t>
            </a:r>
            <a:r>
              <a:rPr lang="en-US" sz="4000" spc="-200" dirty="0" smtClean="0"/>
              <a:t>Arguments </a:t>
            </a:r>
            <a:r>
              <a:rPr lang="en-US" sz="1200" spc="-200" dirty="0" smtClean="0">
                <a:latin typeface="Century Gothic" panose="020B0502020202020204" pitchFamily="34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7CC3FD-213F-4C86-8BE2-8AD6B0CACCB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6399"/>
            <a:ext cx="7543800" cy="476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55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Disadvantages </a:t>
            </a:r>
            <a:r>
              <a:rPr lang="en-US" sz="4000" spc="-200" dirty="0"/>
              <a:t>to Using Named Arguments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Implementation hiding is compromised</a:t>
            </a:r>
          </a:p>
          <a:p>
            <a:r>
              <a:rPr lang="en-US" dirty="0" smtClean="0"/>
              <a:t>Changes to the called method could cause problems and require changes to the calling method or program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F9F4CF-234E-47AC-804E-4CE2D05FD3F1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573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Disadvantages to Using Named </a:t>
            </a:r>
            <a:r>
              <a:rPr lang="en-US" sz="4000" spc="-200" dirty="0" smtClean="0"/>
              <a:t>Arguments </a:t>
            </a:r>
            <a:r>
              <a:rPr lang="en-US" sz="1200" spc="-200" dirty="0" smtClean="0">
                <a:latin typeface="Century Gothic" panose="020B0502020202020204" pitchFamily="34" charset="0"/>
              </a:rPr>
              <a:t>(cont’d.)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7CC3FD-213F-4C86-8BE2-8AD6B0CACCB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525960"/>
            <a:ext cx="5534025" cy="2847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09762"/>
            <a:ext cx="5734050" cy="2124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838" y="1417638"/>
            <a:ext cx="3091962" cy="15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098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Disadvantages to Using Named </a:t>
            </a:r>
            <a:r>
              <a:rPr lang="en-US" sz="4000" spc="-200" dirty="0" smtClean="0"/>
              <a:t>Arguments </a:t>
            </a:r>
            <a:r>
              <a:rPr lang="en-US" sz="1200" spc="-200" dirty="0" smtClean="0">
                <a:latin typeface="Century Gothic" panose="020B0502020202020204" pitchFamily="34" charset="0"/>
              </a:rPr>
              <a:t>(cont’d.)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7CC3FD-213F-4C86-8BE2-8AD6B0CACCB4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8000"/>
            <a:ext cx="8227196" cy="3105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399" y="1752601"/>
            <a:ext cx="4195763" cy="222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18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1143000"/>
          </a:xfrm>
        </p:spPr>
        <p:txBody>
          <a:bodyPr/>
          <a:lstStyle/>
          <a:p>
            <a:r>
              <a:rPr lang="en-US" sz="4000" spc="-200" dirty="0"/>
              <a:t>Overload Resolution with </a:t>
            </a:r>
            <a:r>
              <a:rPr lang="en-US" sz="4000" spc="-200" dirty="0" smtClean="0"/>
              <a:t>Named and </a:t>
            </a:r>
            <a:r>
              <a:rPr lang="en-US" sz="4000" spc="-200" dirty="0"/>
              <a:t>Optional Arguments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Named and optional arguments affect overload resolution</a:t>
            </a:r>
          </a:p>
          <a:p>
            <a:pPr lvl="1"/>
            <a:r>
              <a:rPr lang="en-US" dirty="0" smtClean="0"/>
              <a:t>Rules for betterness on argument conversions are applied only for arguments that are given explicitly</a:t>
            </a:r>
          </a:p>
          <a:p>
            <a:r>
              <a:rPr lang="en-US" dirty="0" smtClean="0"/>
              <a:t>If two signatures are equally good, the signature that does not omit optional parameters is considered better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EEF544-4FB9-410D-AACD-FC1E1554500C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 parameters can be mandatory or optional</a:t>
            </a:r>
          </a:p>
          <a:p>
            <a:r>
              <a:rPr lang="en-US" dirty="0" smtClean="0"/>
              <a:t>Types of mandatory parameters:</a:t>
            </a:r>
          </a:p>
          <a:p>
            <a:pPr lvl="1"/>
            <a:r>
              <a:rPr lang="en-US" dirty="0" smtClean="0"/>
              <a:t>Value parameters without default values</a:t>
            </a:r>
          </a:p>
          <a:p>
            <a:pPr lvl="1"/>
            <a:r>
              <a:rPr lang="en-US" dirty="0" smtClean="0"/>
              <a:t>Reference parameters</a:t>
            </a:r>
          </a:p>
          <a:p>
            <a:pPr lvl="1"/>
            <a:r>
              <a:rPr lang="en-US" dirty="0" smtClean="0"/>
              <a:t>Output parameters</a:t>
            </a:r>
          </a:p>
          <a:p>
            <a:pPr lvl="1"/>
            <a:r>
              <a:rPr lang="en-US" dirty="0" smtClean="0"/>
              <a:t>Parameter arrays</a:t>
            </a:r>
          </a:p>
          <a:p>
            <a:r>
              <a:rPr lang="en-US" dirty="0" smtClean="0"/>
              <a:t>When you overload a C# method, you write multiple methods with a shared name but different argument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40A3ED-2E00-487C-B44D-5B105F0BBE9E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 </a:t>
            </a:r>
            <a:r>
              <a:rPr lang="en-US" sz="1200" spc="-200" dirty="0">
                <a:latin typeface="Century Gothic" panose="020B0502020202020204" pitchFamily="34" charset="0"/>
              </a:rPr>
              <a:t>(</a:t>
            </a:r>
            <a:r>
              <a:rPr lang="en-US" sz="1200" spc="-200" dirty="0" smtClean="0">
                <a:latin typeface="Century Gothic" panose="020B0502020202020204" pitchFamily="34" charset="0"/>
              </a:rPr>
              <a:t>cont’d</a:t>
            </a:r>
            <a:r>
              <a:rPr lang="en-US" sz="1200" spc="-200" dirty="0">
                <a:latin typeface="Century Gothic" panose="020B0502020202020204" pitchFamily="34" charset="0"/>
              </a:rPr>
              <a:t>.)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overload a method, you run the risk of creating an ambiguous situation</a:t>
            </a:r>
          </a:p>
          <a:p>
            <a:r>
              <a:rPr lang="en-US" dirty="0" smtClean="0"/>
              <a:t>An optional parameter to a method is one for which a default value is automatically supplied if you do not explicitly send one as an argument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A3B4B8-9D23-49C4-9FCE-D534FED99A0B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3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9780538479516_PPT_ch08</Template>
  <TotalTime>0</TotalTime>
  <Words>1273</Words>
  <Application>Microsoft Office PowerPoint</Application>
  <PresentationFormat>On-screen Show (4:3)</PresentationFormat>
  <Paragraphs>240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Century Gothic</vt:lpstr>
      <vt:lpstr>Courier New</vt:lpstr>
      <vt:lpstr>Times New Roman</vt:lpstr>
      <vt:lpstr>3_Default Design</vt:lpstr>
      <vt:lpstr>1_Farrell_PLD</vt:lpstr>
      <vt:lpstr>PowerPoint Presentation</vt:lpstr>
      <vt:lpstr>Objectives</vt:lpstr>
      <vt:lpstr>Understanding Parameter Types</vt:lpstr>
      <vt:lpstr>Using Mandatory Value Parameters</vt:lpstr>
      <vt:lpstr>Using Mandatory Value Parameters (cont’d.)</vt:lpstr>
      <vt:lpstr>Using Mandatory Value Parameters (cont’d.)</vt:lpstr>
      <vt:lpstr>Using Reference Parameters, Output Parameters, and Parameter Arrays</vt:lpstr>
      <vt:lpstr>Using a ref Parameter</vt:lpstr>
      <vt:lpstr>Using an out Parameter</vt:lpstr>
      <vt:lpstr>Using a Built-in Method  That Has an out Parameter</vt:lpstr>
      <vt:lpstr>Using a Built-in Method  That Has an out Parameter (cont’d.)</vt:lpstr>
      <vt:lpstr>Using a Built-in Method  That Has an out Parameter (cont’d.)</vt:lpstr>
      <vt:lpstr>Using Parameter Arrays</vt:lpstr>
      <vt:lpstr>Using Parameter Arrays (cont’d.)</vt:lpstr>
      <vt:lpstr>Overloading Methods</vt:lpstr>
      <vt:lpstr>Overloading Methods (cont’d.)</vt:lpstr>
      <vt:lpstr>Overloading Methods (cont’d.)</vt:lpstr>
      <vt:lpstr>PowerPoint Presentation</vt:lpstr>
      <vt:lpstr>Understanding Overload Resolution</vt:lpstr>
      <vt:lpstr>Understanding Overload Resolution (cont’d.)</vt:lpstr>
      <vt:lpstr>Discovering Built-In Overloaded Methods</vt:lpstr>
      <vt:lpstr>Discovering Built-In Overloaded Methods (cont’d.)</vt:lpstr>
      <vt:lpstr>Avoiding Ambiguous Methods</vt:lpstr>
      <vt:lpstr>Avoiding Ambiguous Methods (cont’d.)</vt:lpstr>
      <vt:lpstr>Using Optional Parameters</vt:lpstr>
      <vt:lpstr>Using Optional Parameters (cont’d.)</vt:lpstr>
      <vt:lpstr>Using Optional Parameters (cont’d.)</vt:lpstr>
      <vt:lpstr>Leaving Out Unnamed Arguments</vt:lpstr>
      <vt:lpstr>Leaving Out Unnamed Arguments (cont’d.)</vt:lpstr>
      <vt:lpstr>Using Named Arguments</vt:lpstr>
      <vt:lpstr>Using Named Arguments (cont’d.)</vt:lpstr>
      <vt:lpstr>Advantages to Using Named Arguments</vt:lpstr>
      <vt:lpstr>Advantages to Using Named Arguments (cont’d.)</vt:lpstr>
      <vt:lpstr>Disadvantages to Using Named Arguments</vt:lpstr>
      <vt:lpstr>Disadvantages to Using Named Arguments (cont’d.)</vt:lpstr>
      <vt:lpstr>Disadvantages to Using Named Arguments (cont’d.)</vt:lpstr>
      <vt:lpstr>Overload Resolution with Named and Optional Arguments</vt:lpstr>
      <vt:lpstr>Summary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2012-11-16T01:40:46Z</dcterms:created>
  <dcterms:modified xsi:type="dcterms:W3CDTF">2015-06-07T22:15:06Z</dcterms:modified>
</cp:coreProperties>
</file>